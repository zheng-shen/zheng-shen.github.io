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15" r:id="rId3"/>
    <p:sldId id="272" r:id="rId4"/>
    <p:sldId id="316" r:id="rId5"/>
    <p:sldId id="317" r:id="rId6"/>
    <p:sldId id="319" r:id="rId7"/>
    <p:sldId id="320" r:id="rId8"/>
    <p:sldId id="273" r:id="rId9"/>
    <p:sldId id="274" r:id="rId10"/>
    <p:sldId id="321" r:id="rId11"/>
    <p:sldId id="322" r:id="rId12"/>
    <p:sldId id="323" r:id="rId13"/>
    <p:sldId id="324" r:id="rId14"/>
    <p:sldId id="325" r:id="rId15"/>
    <p:sldId id="3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5"/>
    <p:restoredTop sz="94688"/>
  </p:normalViewPr>
  <p:slideViewPr>
    <p:cSldViewPr snapToGrid="0">
      <p:cViewPr varScale="1">
        <p:scale>
          <a:sx n="124" d="100"/>
          <a:sy n="124" d="100"/>
        </p:scale>
        <p:origin x="4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FF11-BF54-2D4A-A92E-71ECE89BAEA1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7B614-3CD7-A74F-AA2E-D0E9C731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2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6EC4-01EA-62FE-43BE-9841EFF71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4F863-D84E-C1C0-D303-80797FA16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4C801-5907-13CC-D8C9-FA7B4D25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A4B8-9DA4-F047-9987-A71CA7A7D7EC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56B9B-488C-DFE5-9332-4878E1E4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BBD0D-3804-F392-EBEA-09B5DC94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9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18F6-A871-5545-A46C-15D4DE19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52C6-2071-2CE5-3615-1E91535B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F30DB-A7E5-F138-1D19-13E17813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1E9B-8EE7-6A43-A90C-49383CBB77D2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6F68-DC18-709D-74C1-A6EEB7CD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E0F8D-EB52-06B1-4988-C1C4A26C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1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0421-3C8A-C893-2536-06075735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4896C-2C4C-3E7D-37F9-8935F11C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5120-6F1F-0EEF-AF5A-9D51F61B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CA516-07D8-D246-B39A-B554A1F0A8CD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1D98C-E87D-032A-930C-6BB956EF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BF7E4-916F-8F39-DFF0-F6A95F72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477D-7647-712C-F58C-CFB2CD9E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A390-B91B-83C2-722D-11A839B01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F4D7D-ACE6-BA80-8C20-496FC3BE6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5D4F7-EFA4-007B-24AB-A396B86D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7C709-5D61-1843-8227-68EEAEDA0BC3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EC7B8-4009-B710-4F74-88662547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A1633-4871-F0A3-95EA-BBA3D660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5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41C8-EBCD-4A44-4046-4F8AAD5B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9A979-7730-9DEB-F3E9-021BC46AD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391FD-4711-1B54-CD3F-BB4C5A9B1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8424E-FE51-B7CB-4D95-0552A26C1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CB637-3A45-8E81-0C7B-31370C915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5D116-0977-AC1D-6722-FEAA25E2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88E2E-A32F-2C41-ABCE-A8E0C315C40D}" type="datetime1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69DEC-97F5-17B3-7BDD-F0055DC2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8E721-8008-8960-9787-57FDC7B2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2225-72AD-76D0-103E-9FDEE4B9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63633-29B5-32CB-DE89-6BA90A2A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B96E-67A1-9843-887D-0F8EBE042180}" type="datetime1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97486-E58A-71B7-C104-A00F18C7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91268-36B8-7B27-A22D-635147C2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C3417-BB4E-B06E-1609-D2507273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3A268-9899-074D-9840-5014AC2360A5}" type="datetime1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ED02F-FF7D-2340-30E2-7B2B2766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06A57-2AC0-A058-3E18-707F2F84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1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4767-F2BD-AC33-BEEA-8CBDCF64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5BC3-819D-716A-2B29-9D04F508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52F09-FE0F-C81D-FDC3-04D10B885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C6920-15F5-FAAB-7302-0C24EE44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5A401-8075-8041-B11D-CA545565DA40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DA81-A9F4-E5FD-7F67-C5037073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9BA81-AA66-5ACF-D832-18062AE1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8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9F3C-9482-2759-5EF1-663559EE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011D-C845-7212-978F-7C035581D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658D5-72FE-09CC-5D2E-4E821583F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F39D0-39B6-7AC6-0CCA-DEC9FA03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B394-92B2-784B-ADAB-5648BCEC98F8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48C54-73A1-E70B-EEF1-720A67C0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AD00C-4819-FE35-7D0D-B61BF6CD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1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CA3A-1C1E-3C46-57FF-25F8061B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35A60-DA2B-276B-891C-5A657AB76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CD37-5742-90E9-5A4E-92E7AA0F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3C56-1DF9-9340-B1EF-512CD9086489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ED596-F8C9-82CC-5B2E-A723AFF6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07A7-8A2B-9EA7-9D02-A7536914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6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7D491-5DCF-424B-653D-2E62CE1A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FC4AF-CF2E-C6F1-63F5-B03DE4F6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C24A0-CF1B-1FC5-5CFC-6E40D3F9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5CEB-0F38-BF4F-B2DF-504D325DD50F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7F4C6-0A68-3F41-6884-F55BBCAC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5833C-CF1F-AC27-7586-B13A6E53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3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DB075-7344-558D-3698-CBC249D2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496AE-AE73-3E67-A4CC-0D992D4A1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B5C5-F7B1-26FF-07ED-4EDFF230B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9638A-4E99-504F-9316-96C3F83EDABE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142C-6427-75D2-4F2B-08094FE61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B91AB-966C-183C-D1F3-540807BA9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75667-1EB2-474F-9E57-5B388993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F69C-B608-FFC8-CBBA-F3C272EE5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" y="1122363"/>
            <a:ext cx="11904617" cy="2387600"/>
          </a:xfrm>
        </p:spPr>
        <p:txBody>
          <a:bodyPr>
            <a:normAutofit/>
          </a:bodyPr>
          <a:lstStyle/>
          <a:p>
            <a:r>
              <a:rPr lang="en-US" altLang="zh-CN" sz="3800" dirty="0"/>
              <a:t>The</a:t>
            </a:r>
            <a:r>
              <a:rPr lang="zh-CN" altLang="en-US" sz="3800" dirty="0"/>
              <a:t> </a:t>
            </a:r>
            <a:r>
              <a:rPr lang="en-US" altLang="zh-CN" sz="3800" dirty="0"/>
              <a:t>syntactic and semantic effects</a:t>
            </a:r>
            <a:r>
              <a:rPr lang="zh-CN" altLang="en-US" sz="3800" dirty="0"/>
              <a:t> </a:t>
            </a:r>
            <a:r>
              <a:rPr lang="en-US" altLang="zh-CN" sz="3800" dirty="0"/>
              <a:t>on</a:t>
            </a:r>
            <a:r>
              <a:rPr lang="zh-CN" altLang="en-US" sz="3800" dirty="0"/>
              <a:t> </a:t>
            </a:r>
            <a:r>
              <a:rPr lang="en-US" altLang="zh-CN" sz="3800" dirty="0"/>
              <a:t>extraction</a:t>
            </a:r>
            <a:r>
              <a:rPr lang="zh-CN" altLang="en-US" sz="3800" dirty="0"/>
              <a:t> </a:t>
            </a:r>
            <a:r>
              <a:rPr lang="en-US" altLang="zh-CN" sz="3800" dirty="0"/>
              <a:t>out</a:t>
            </a:r>
            <a:r>
              <a:rPr lang="zh-CN" altLang="en-US" sz="3800" dirty="0"/>
              <a:t> </a:t>
            </a:r>
            <a:r>
              <a:rPr lang="en-US" altLang="zh-CN" sz="3800" dirty="0"/>
              <a:t>of</a:t>
            </a:r>
            <a:r>
              <a:rPr lang="zh-CN" altLang="en-US" sz="3800" dirty="0"/>
              <a:t> </a:t>
            </a:r>
            <a:r>
              <a:rPr lang="en-US" altLang="zh-CN" sz="3800" dirty="0"/>
              <a:t>DPs</a:t>
            </a:r>
            <a:br>
              <a:rPr lang="en-US" altLang="zh-CN" sz="3400" dirty="0"/>
            </a:br>
            <a:r>
              <a:rPr lang="en-US" altLang="zh-CN" sz="3000" dirty="0"/>
              <a:t>Evidence</a:t>
            </a:r>
            <a:r>
              <a:rPr lang="zh-CN" altLang="en-US" sz="3000" dirty="0"/>
              <a:t> </a:t>
            </a:r>
            <a:r>
              <a:rPr lang="en-US" altLang="zh-CN" sz="3000" dirty="0"/>
              <a:t>from</a:t>
            </a:r>
            <a:r>
              <a:rPr lang="zh-CN" altLang="en-US" sz="3000" dirty="0"/>
              <a:t> </a:t>
            </a:r>
            <a:r>
              <a:rPr lang="en-US" altLang="zh-CN" sz="3000" dirty="0"/>
              <a:t>Definiteness</a:t>
            </a:r>
            <a:r>
              <a:rPr lang="zh-CN" altLang="en-US" sz="3000" dirty="0"/>
              <a:t> </a:t>
            </a:r>
            <a:r>
              <a:rPr lang="en-US" altLang="zh-CN" sz="3000" dirty="0"/>
              <a:t>Spreading</a:t>
            </a: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B55DB-7187-96B3-84DE-31B694F18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0617"/>
            <a:ext cx="9144000" cy="2598465"/>
          </a:xfrm>
        </p:spPr>
        <p:txBody>
          <a:bodyPr>
            <a:normAutofit/>
          </a:bodyPr>
          <a:lstStyle/>
          <a:p>
            <a:r>
              <a:rPr lang="en-US" dirty="0"/>
              <a:t>Zheng Shen</a:t>
            </a:r>
          </a:p>
          <a:p>
            <a:r>
              <a:rPr lang="en-US" dirty="0"/>
              <a:t>National University of Singapore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2026.7.16 			Singapore Summer Meeting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6ACA5-0FAC-D398-648A-08565875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2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1997-D328-C09B-67D2-67BFC2FB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6F21-4722-C648-C7DD-264994A2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500" dirty="0"/>
              <a:t>Definite</a:t>
            </a:r>
            <a:r>
              <a:rPr lang="zh-CN" altLang="en-US" sz="3500" dirty="0"/>
              <a:t> </a:t>
            </a:r>
            <a:r>
              <a:rPr lang="en-US" altLang="zh-CN" sz="3500" dirty="0"/>
              <a:t>DP</a:t>
            </a:r>
            <a:r>
              <a:rPr lang="zh-CN" altLang="en-US" sz="3500" dirty="0"/>
              <a:t> </a:t>
            </a:r>
            <a:r>
              <a:rPr lang="en-US" altLang="zh-CN" sz="3500" dirty="0"/>
              <a:t>island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A4B0-B36A-65C9-28B7-FACAD5DD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583"/>
            <a:ext cx="10515600" cy="49862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Extraction out of definite DPs (</a:t>
            </a:r>
            <a:r>
              <a:rPr lang="en-US" sz="2600" i="1" dirty="0"/>
              <a:t>the, that, possessive) </a:t>
            </a:r>
            <a:r>
              <a:rPr lang="en-US" sz="2600" dirty="0"/>
              <a:t>is degraded.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sz="2600" dirty="0"/>
              <a:t>What did Charlotte see a photo of?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sz="2600" dirty="0"/>
              <a:t>?What did Charlotte see the photo of?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sz="2600" dirty="0"/>
              <a:t>*What did Charlotte see</a:t>
            </a:r>
            <a:r>
              <a:rPr lang="zh-CN" altLang="en-US" sz="2600" dirty="0"/>
              <a:t> </a:t>
            </a:r>
            <a:r>
              <a:rPr lang="en-US" altLang="zh-CN" sz="2600" dirty="0"/>
              <a:t>Mary’s</a:t>
            </a:r>
            <a:r>
              <a:rPr lang="zh-CN" altLang="en-US" sz="2600" dirty="0"/>
              <a:t> </a:t>
            </a:r>
            <a:r>
              <a:rPr lang="en-US" sz="2600" dirty="0"/>
              <a:t>photo of?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en-US" altLang="zh-CN" sz="2600" dirty="0"/>
              <a:t>*What</a:t>
            </a:r>
            <a:r>
              <a:rPr lang="zh-CN" altLang="en-US" sz="2600" dirty="0"/>
              <a:t> </a:t>
            </a:r>
            <a:r>
              <a:rPr lang="en-US" altLang="zh-CN" sz="2600" dirty="0"/>
              <a:t>did</a:t>
            </a:r>
            <a:r>
              <a:rPr lang="zh-CN" altLang="en-US" sz="2600" dirty="0"/>
              <a:t> </a:t>
            </a:r>
            <a:r>
              <a:rPr lang="en-US" altLang="zh-CN" sz="2600" dirty="0"/>
              <a:t>Charlotte</a:t>
            </a:r>
            <a:r>
              <a:rPr lang="zh-CN" altLang="en-US" sz="2600" dirty="0"/>
              <a:t> </a:t>
            </a:r>
            <a:r>
              <a:rPr lang="en-US" altLang="zh-CN" sz="2600" dirty="0"/>
              <a:t>see</a:t>
            </a:r>
            <a:r>
              <a:rPr lang="zh-CN" altLang="en-US" sz="2600" dirty="0"/>
              <a:t> </a:t>
            </a:r>
            <a:r>
              <a:rPr lang="en-US" altLang="zh-CN" sz="2600" dirty="0"/>
              <a:t>that</a:t>
            </a:r>
            <a:r>
              <a:rPr lang="zh-CN" altLang="en-US" sz="2600" dirty="0"/>
              <a:t> </a:t>
            </a:r>
            <a:r>
              <a:rPr lang="en-US" altLang="zh-CN" sz="2600" dirty="0"/>
              <a:t>photo</a:t>
            </a:r>
            <a:r>
              <a:rPr lang="zh-CN" altLang="en-US" sz="2600" dirty="0"/>
              <a:t> </a:t>
            </a:r>
            <a:r>
              <a:rPr lang="en-US" altLang="zh-CN" sz="2600" dirty="0"/>
              <a:t>of?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E7F5F-27DF-B94A-D9BA-64EFCA8F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1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E2ED-BD8E-5B82-BB5E-3E34CB9E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466B-89B5-6E7B-85FB-2E08C4AC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Previous</a:t>
            </a:r>
            <a:r>
              <a:rPr lang="zh-CN" altLang="en-US" sz="3600" dirty="0"/>
              <a:t> </a:t>
            </a:r>
            <a:r>
              <a:rPr lang="en-US" altLang="zh-CN" sz="3600" dirty="0"/>
              <a:t>studies</a:t>
            </a:r>
            <a:r>
              <a:rPr lang="zh-CN" altLang="en-US" sz="3600" dirty="0"/>
              <a:t>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7E3B5-52E6-FAC7-F5D4-1CA8B792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Phase Impenetrability Condition analysis: Movement out of DPs must go through Spec-DP, definite DPs have their Spec filled:</a:t>
            </a:r>
          </a:p>
          <a:p>
            <a:pPr lvl="1"/>
            <a:r>
              <a:rPr lang="en-US" altLang="zh-CN" sz="2200" i="1" dirty="0"/>
              <a:t>*What … </a:t>
            </a:r>
            <a:r>
              <a:rPr lang="en-US" altLang="zh-CN" sz="2200" dirty="0"/>
              <a:t>[</a:t>
            </a:r>
            <a:r>
              <a:rPr lang="en-US" altLang="zh-CN" sz="2200" baseline="-25000" dirty="0"/>
              <a:t>DP</a:t>
            </a:r>
            <a:r>
              <a:rPr lang="zh-CN" altLang="en-US" sz="2200" dirty="0"/>
              <a:t> </a:t>
            </a:r>
            <a:r>
              <a:rPr lang="en-US" altLang="zh-CN" sz="2200" dirty="0" err="1"/>
              <a:t>indexP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zh-CN" altLang="en-US" sz="2200" dirty="0"/>
              <a:t> </a:t>
            </a:r>
            <a:r>
              <a:rPr lang="en-US" altLang="zh-CN" sz="2200" i="1" dirty="0"/>
              <a:t>that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en-US" altLang="zh-CN" sz="2200" baseline="-25000" dirty="0"/>
              <a:t>NP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zh-CN" altLang="en-US" sz="2200" dirty="0"/>
              <a:t> </a:t>
            </a:r>
            <a:r>
              <a:rPr lang="en-US" altLang="zh-CN" sz="2200" i="1" dirty="0"/>
              <a:t>picture</a:t>
            </a:r>
            <a:r>
              <a:rPr lang="zh-CN" altLang="en-US" sz="2200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dirty="0"/>
              <a:t> </a:t>
            </a:r>
            <a:r>
              <a:rPr lang="en-US" altLang="zh-CN" sz="2200" i="1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]</a:t>
            </a:r>
          </a:p>
          <a:p>
            <a:pPr lvl="1"/>
            <a:r>
              <a:rPr lang="en-US" altLang="zh-CN" sz="2200" dirty="0"/>
              <a:t>*</a:t>
            </a:r>
            <a:r>
              <a:rPr lang="en-US" altLang="zh-CN" sz="2200" i="1" dirty="0"/>
              <a:t>What</a:t>
            </a:r>
            <a:r>
              <a:rPr lang="en-US" altLang="zh-CN" sz="2200" dirty="0"/>
              <a:t> … [</a:t>
            </a:r>
            <a:r>
              <a:rPr lang="en-US" altLang="zh-CN" sz="2200" baseline="-25000" dirty="0"/>
              <a:t>DP</a:t>
            </a:r>
            <a:r>
              <a:rPr lang="zh-CN" altLang="en-US" sz="2200" dirty="0"/>
              <a:t> </a:t>
            </a:r>
            <a:r>
              <a:rPr lang="en-US" altLang="zh-CN" sz="2200" i="1" dirty="0"/>
              <a:t>Mary’s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zh-CN" altLang="en-US" sz="2200" dirty="0"/>
              <a:t> </a:t>
            </a:r>
            <a:r>
              <a:rPr lang="en-US" altLang="zh-CN" sz="2200" dirty="0" err="1"/>
              <a:t>poss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en-US" altLang="zh-CN" sz="2200" baseline="-25000" dirty="0"/>
              <a:t>NP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zh-CN" altLang="en-US" sz="2200" dirty="0"/>
              <a:t> </a:t>
            </a:r>
            <a:r>
              <a:rPr lang="en-US" altLang="zh-CN" sz="2200" i="1" dirty="0"/>
              <a:t>picture</a:t>
            </a:r>
            <a:r>
              <a:rPr lang="zh-CN" altLang="en-US" sz="2200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dirty="0"/>
              <a:t> </a:t>
            </a:r>
            <a:r>
              <a:rPr lang="en-US" altLang="zh-CN" sz="2200" i="1" dirty="0"/>
              <a:t>t</a:t>
            </a:r>
            <a:r>
              <a:rPr lang="zh-CN" altLang="en-US" sz="2200" dirty="0"/>
              <a:t> </a:t>
            </a:r>
            <a:r>
              <a:rPr lang="en-US" altLang="zh-CN" sz="2200" dirty="0"/>
              <a:t>]</a:t>
            </a:r>
          </a:p>
          <a:p>
            <a:pPr lvl="1"/>
            <a:r>
              <a:rPr lang="en-US" altLang="zh-CN" sz="2200" i="1" dirty="0"/>
              <a:t>What</a:t>
            </a:r>
            <a:r>
              <a:rPr lang="en-US" altLang="zh-CN" sz="2200" dirty="0"/>
              <a:t> … [</a:t>
            </a:r>
            <a:r>
              <a:rPr lang="en-US" altLang="zh-CN" sz="2200" baseline="-25000" dirty="0"/>
              <a:t>DP</a:t>
            </a:r>
            <a:r>
              <a:rPr lang="zh-CN" altLang="en-US" sz="2200" dirty="0"/>
              <a:t> </a:t>
            </a:r>
            <a:r>
              <a:rPr lang="en-US" altLang="zh-CN" sz="2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altLang="zh-CN" sz="2200" dirty="0"/>
              <a:t> [</a:t>
            </a:r>
            <a:r>
              <a:rPr lang="zh-CN" altLang="en-US" sz="2200" dirty="0"/>
              <a:t> </a:t>
            </a:r>
            <a:r>
              <a:rPr lang="en-US" altLang="zh-CN" sz="2200" i="1" dirty="0"/>
              <a:t>a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en-US" altLang="zh-CN" sz="2200" baseline="-25000" dirty="0"/>
              <a:t>NP</a:t>
            </a:r>
            <a:r>
              <a:rPr lang="zh-CN" altLang="en-US" sz="2200" dirty="0"/>
              <a:t> </a:t>
            </a:r>
            <a:r>
              <a:rPr lang="en-US" altLang="zh-CN" sz="2200" dirty="0"/>
              <a:t>[</a:t>
            </a:r>
            <a:r>
              <a:rPr lang="zh-CN" altLang="en-US" sz="2200" dirty="0"/>
              <a:t> </a:t>
            </a:r>
            <a:r>
              <a:rPr lang="en-US" altLang="zh-CN" sz="2200" i="1" dirty="0"/>
              <a:t>picture</a:t>
            </a:r>
            <a:r>
              <a:rPr lang="en-US" altLang="zh-CN" sz="2200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dirty="0"/>
              <a:t> </a:t>
            </a:r>
            <a:r>
              <a:rPr lang="en-US" altLang="zh-CN" sz="2200" i="1" dirty="0"/>
              <a:t>t</a:t>
            </a:r>
            <a:r>
              <a:rPr lang="en-US" altLang="zh-CN" sz="2200" dirty="0"/>
              <a:t> ]</a:t>
            </a:r>
          </a:p>
          <a:p>
            <a:r>
              <a:rPr lang="en-US" sz="2600" dirty="0"/>
              <a:t>The Specificity Condition: Operator cannot bind a variable inside a specific DP. </a:t>
            </a:r>
          </a:p>
          <a:p>
            <a:pPr lvl="1"/>
            <a:r>
              <a:rPr lang="en-US" sz="2200" dirty="0"/>
              <a:t>*QOP</a:t>
            </a:r>
            <a:r>
              <a:rPr lang="en-US" sz="2200" baseline="-25000" dirty="0"/>
              <a:t>1</a:t>
            </a:r>
            <a:r>
              <a:rPr lang="en-US" sz="2200" dirty="0"/>
              <a:t> [</a:t>
            </a:r>
            <a:r>
              <a:rPr lang="en-US" sz="2200" baseline="-25000" dirty="0" err="1"/>
              <a:t>specificDP</a:t>
            </a:r>
            <a:r>
              <a:rPr lang="en-US" sz="2200" dirty="0"/>
              <a:t> variable</a:t>
            </a:r>
            <a:r>
              <a:rPr lang="en-US" sz="2200" baseline="-25000" dirty="0"/>
              <a:t>1</a:t>
            </a:r>
            <a:r>
              <a:rPr lang="en-US" sz="2200" dirty="0"/>
              <a:t> ] </a:t>
            </a:r>
          </a:p>
          <a:p>
            <a:pPr lvl="1"/>
            <a:r>
              <a:rPr lang="en-US" sz="2200" dirty="0"/>
              <a:t>QOP</a:t>
            </a:r>
            <a:r>
              <a:rPr lang="en-US" sz="2200" baseline="-25000" dirty="0"/>
              <a:t>1</a:t>
            </a:r>
            <a:r>
              <a:rPr lang="en-US" sz="2200" dirty="0"/>
              <a:t> [</a:t>
            </a:r>
            <a:r>
              <a:rPr lang="en-US" sz="2200" baseline="-25000" dirty="0"/>
              <a:t>non-</a:t>
            </a:r>
            <a:r>
              <a:rPr lang="en-US" sz="2200" baseline="-25000" dirty="0" err="1"/>
              <a:t>specificDP</a:t>
            </a:r>
            <a:r>
              <a:rPr lang="en-US" sz="2200" dirty="0"/>
              <a:t> variable</a:t>
            </a:r>
            <a:r>
              <a:rPr lang="en-US" sz="2200" baseline="-25000" dirty="0"/>
              <a:t>1</a:t>
            </a:r>
            <a:r>
              <a:rPr lang="en-US" sz="2200" dirty="0"/>
              <a:t>]</a:t>
            </a:r>
          </a:p>
          <a:p>
            <a:r>
              <a:rPr lang="en-US" sz="2600" dirty="0" err="1"/>
              <a:t>SpecFilled</a:t>
            </a:r>
            <a:r>
              <a:rPr lang="en-US" sz="2600" dirty="0"/>
              <a:t> DPs are </a:t>
            </a:r>
            <a:r>
              <a:rPr lang="en-US" sz="2600" i="1" dirty="0"/>
              <a:t>usually</a:t>
            </a:r>
            <a:r>
              <a:rPr lang="en-US" sz="2600" dirty="0"/>
              <a:t> also specific DPs: do we really need two constraints?</a:t>
            </a:r>
          </a:p>
          <a:p>
            <a:pPr lvl="1"/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1639D-C742-5CB2-6A0F-FAC0AFC56AD2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E7DFE-8390-0F2F-930D-F7FC2C2D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0FF5-EFDB-60E1-5814-DB3D214E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82A5-3006-E6D5-3A11-5B4B5B98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Previous</a:t>
            </a:r>
            <a:r>
              <a:rPr lang="zh-CN" altLang="en-US" sz="3600" dirty="0"/>
              <a:t> </a:t>
            </a:r>
            <a:r>
              <a:rPr lang="en-US" altLang="zh-CN" sz="3600" dirty="0"/>
              <a:t>studies: Shen and Huang 2026</a:t>
            </a:r>
            <a:r>
              <a:rPr lang="zh-CN" altLang="en-US" sz="3600" dirty="0"/>
              <a:t>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42D1-729A-A384-38B7-52F448F75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200" dirty="0"/>
              <a:t>In English, the use of creation verbs (</a:t>
            </a:r>
            <a:r>
              <a:rPr lang="en-US" sz="2200" b="1" i="1" dirty="0"/>
              <a:t>tell</a:t>
            </a:r>
            <a:r>
              <a:rPr lang="en-US" sz="2200" i="1" dirty="0"/>
              <a:t> a joke</a:t>
            </a:r>
            <a:r>
              <a:rPr lang="en-US" sz="2200" dirty="0"/>
              <a:t>) partially </a:t>
            </a:r>
            <a:r>
              <a:rPr lang="en-US" sz="2200" dirty="0" err="1"/>
              <a:t>amerliorates</a:t>
            </a:r>
            <a:r>
              <a:rPr lang="en-US" sz="2200" dirty="0"/>
              <a:t> the definiteness effect in wh-movement</a:t>
            </a:r>
          </a:p>
          <a:p>
            <a:pPr lvl="1"/>
            <a:r>
              <a:rPr lang="en-US" sz="2200" dirty="0"/>
              <a:t>In Chinese, no such amelioration is observed in </a:t>
            </a:r>
            <a:r>
              <a:rPr lang="en-US" sz="2200" dirty="0" err="1"/>
              <a:t>wh</a:t>
            </a:r>
            <a:r>
              <a:rPr lang="en-US" sz="2200" dirty="0"/>
              <a:t>-in-situ questions. </a:t>
            </a:r>
          </a:p>
          <a:p>
            <a:pPr lvl="1"/>
            <a:r>
              <a:rPr lang="en-US" sz="2200" dirty="0"/>
              <a:t>Proposal: The PIC restricts wh-movement, the Specificity Condition restricts both wh-movement and </a:t>
            </a:r>
            <a:r>
              <a:rPr lang="en-US" sz="2200" dirty="0" err="1"/>
              <a:t>wh</a:t>
            </a:r>
            <a:r>
              <a:rPr lang="en-US" sz="2200" dirty="0"/>
              <a:t>-in-situ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 sz="2200" i="1" dirty="0"/>
              <a:t>*What did you hear that joke about? </a:t>
            </a:r>
            <a:r>
              <a:rPr lang="en-US" sz="2200" dirty="0"/>
              <a:t>(violates both the PIC and the Specificity Condition)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 sz="2200" dirty="0"/>
              <a:t>*What did you tell that joke about? (violates the Specificity Condition only)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 sz="2200" dirty="0"/>
              <a:t>*You heard that joke about what? (violates the Specificity Condition)</a:t>
            </a:r>
          </a:p>
          <a:p>
            <a:pPr marL="1371600" lvl="2" indent="-457200">
              <a:buFont typeface="+mj-lt"/>
              <a:buAutoNum type="arabicParenR"/>
            </a:pPr>
            <a:r>
              <a:rPr lang="en-US" sz="2200" dirty="0"/>
              <a:t>*You told that joke about what?(violates the Specificity Condition)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7E0B8-C1F5-28F7-0BD6-2CF19393B409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951C3-F81D-5B6C-C1B7-AEB9A5FB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6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EE6F-2155-3992-3BC8-86B291A65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7C743-75BC-1B32-32FD-4A378800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Previous</a:t>
            </a:r>
            <a:r>
              <a:rPr lang="zh-CN" altLang="en-US" sz="3600" dirty="0"/>
              <a:t> </a:t>
            </a:r>
            <a:r>
              <a:rPr lang="en-US" altLang="zh-CN" sz="3600" dirty="0"/>
              <a:t>studies: Shen 2026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9969-0292-D83C-C8E4-D26AD698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600" dirty="0"/>
              <a:t>The same conclusion as Shen and Huang 2026 but evidence from Singlish</a:t>
            </a:r>
          </a:p>
          <a:p>
            <a:r>
              <a:rPr lang="en-US" sz="2600" dirty="0"/>
              <a:t>Gil 2003: possessive DPs in Singlish can be indefinite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i="1" dirty="0"/>
              <a:t>Geraint eat Jamil apples.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i="1" dirty="0" err="1"/>
              <a:t>Gerant</a:t>
            </a:r>
            <a:r>
              <a:rPr lang="en-US" i="1" dirty="0"/>
              <a:t> eat Jamil’s apples.</a:t>
            </a:r>
            <a:br>
              <a:rPr lang="en-US" i="1" dirty="0"/>
            </a:br>
            <a:r>
              <a:rPr lang="en-US" dirty="0"/>
              <a:t>Possible interpretation: ‘</a:t>
            </a:r>
            <a:r>
              <a:rPr lang="en-US" dirty="0" err="1"/>
              <a:t>Gerant</a:t>
            </a:r>
            <a:r>
              <a:rPr lang="en-US" dirty="0"/>
              <a:t> ate some of Jamil’s apples.’</a:t>
            </a:r>
          </a:p>
          <a:p>
            <a:r>
              <a:rPr lang="en-US" dirty="0"/>
              <a:t>Empirical evidence (based on 58 speakers): </a:t>
            </a:r>
            <a:r>
              <a:rPr lang="en-US" i="1" dirty="0"/>
              <a:t>there-</a:t>
            </a:r>
            <a:r>
              <a:rPr lang="en-US" dirty="0"/>
              <a:t>existential </a:t>
            </a:r>
          </a:p>
          <a:p>
            <a:pPr lvl="1"/>
            <a:r>
              <a:rPr lang="en-US" i="1" dirty="0"/>
              <a:t>photos</a:t>
            </a:r>
            <a:r>
              <a:rPr lang="en-US" dirty="0"/>
              <a:t>: </a:t>
            </a:r>
            <a:r>
              <a:rPr lang="en-US" i="1" dirty="0"/>
              <a:t>There are photos on the table </a:t>
            </a:r>
            <a:r>
              <a:rPr lang="en-US" i="1" dirty="0" err="1"/>
              <a:t>leh</a:t>
            </a:r>
            <a:r>
              <a:rPr lang="en-US" i="1" dirty="0"/>
              <a:t>.  </a:t>
            </a:r>
            <a:r>
              <a:rPr lang="en-US" dirty="0"/>
              <a:t>(85.3/100, z-score: 0.76)</a:t>
            </a:r>
          </a:p>
          <a:p>
            <a:pPr lvl="1"/>
            <a:r>
              <a:rPr lang="en-US" i="1" dirty="0"/>
              <a:t>your photos</a:t>
            </a:r>
            <a:r>
              <a:rPr lang="en-US" dirty="0"/>
              <a:t>: </a:t>
            </a:r>
            <a:r>
              <a:rPr lang="en-US" i="1" dirty="0"/>
              <a:t>There are your photos on the table </a:t>
            </a:r>
            <a:r>
              <a:rPr lang="en-US" i="1" dirty="0" err="1"/>
              <a:t>leh</a:t>
            </a:r>
            <a:r>
              <a:rPr lang="en-US" i="1" dirty="0"/>
              <a:t>. </a:t>
            </a:r>
            <a:r>
              <a:rPr lang="en-US" dirty="0"/>
              <a:t>(67.7/100, 0.19)</a:t>
            </a:r>
          </a:p>
          <a:p>
            <a:pPr lvl="1"/>
            <a:r>
              <a:rPr lang="en-US" i="1" dirty="0"/>
              <a:t>your that photo</a:t>
            </a:r>
            <a:r>
              <a:rPr lang="en-US" dirty="0"/>
              <a:t>: </a:t>
            </a:r>
            <a:r>
              <a:rPr lang="en-US" i="1" dirty="0"/>
              <a:t>There is your that photo on the table </a:t>
            </a:r>
            <a:r>
              <a:rPr lang="en-US" i="1" dirty="0" err="1"/>
              <a:t>leh</a:t>
            </a:r>
            <a:r>
              <a:rPr lang="en-US" i="1" dirty="0"/>
              <a:t>. </a:t>
            </a:r>
            <a:r>
              <a:rPr lang="en-US" dirty="0"/>
              <a:t>(41.4/100, -0.53)</a:t>
            </a:r>
          </a:p>
          <a:p>
            <a:endParaRPr lang="en-US" sz="2200" dirty="0"/>
          </a:p>
          <a:p>
            <a:pPr lvl="2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ADBED-4517-2521-E27D-8B456D82CF6B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48004-CF9E-A55E-20C2-25F8FD46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0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9812-6052-7D19-2BF4-E5EABBDD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3A00-3054-E8C8-126D-F20AEFB4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Previous</a:t>
            </a:r>
            <a:r>
              <a:rPr lang="zh-CN" altLang="en-US" sz="3600" dirty="0"/>
              <a:t> </a:t>
            </a:r>
            <a:r>
              <a:rPr lang="en-US" altLang="zh-CN" sz="3600" dirty="0"/>
              <a:t>studies: Shen 2026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67454-480B-75C4-CB2B-DDBDFC94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Possessive DPs in Singlish are indefinite but have their Spec-DP filled.</a:t>
            </a:r>
          </a:p>
          <a:p>
            <a:r>
              <a:rPr lang="en-US" sz="2200" dirty="0"/>
              <a:t>a. Which president Kavita always collect anecdotes of? (</a:t>
            </a:r>
            <a:r>
              <a:rPr lang="en-US" sz="2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Indefinite.EmptySpec</a:t>
            </a:r>
            <a:r>
              <a:rPr lang="en-US" sz="2200" dirty="0"/>
              <a:t>)</a:t>
            </a:r>
          </a:p>
          <a:p>
            <a:r>
              <a:rPr lang="en-US" sz="2200" dirty="0"/>
              <a:t>b. Which president Kavita always collect your anecdotes of? </a:t>
            </a:r>
            <a:r>
              <a:rPr lang="en-US" sz="2200" dirty="0">
                <a:solidFill>
                  <a:srgbClr val="FF0000"/>
                </a:solidFill>
              </a:rPr>
              <a:t>(</a:t>
            </a:r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/>
              <a:t>)</a:t>
            </a:r>
          </a:p>
          <a:p>
            <a:r>
              <a:rPr lang="en-US" sz="2200" dirty="0"/>
              <a:t>c. Which president Kavita today read your that anecdote of? (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</a:rPr>
              <a:t>Definite.FilledSpec</a:t>
            </a:r>
            <a:r>
              <a:rPr lang="en-US" sz="2200" dirty="0"/>
              <a:t>)</a:t>
            </a:r>
          </a:p>
          <a:p>
            <a:r>
              <a:rPr lang="en-US" sz="2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Indefinite.EmptySpec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dirty="0"/>
              <a:t>vs. </a:t>
            </a:r>
            <a:r>
              <a:rPr lang="en-US" sz="2200" dirty="0" err="1">
                <a:solidFill>
                  <a:srgbClr val="FF0000"/>
                </a:solidFill>
              </a:rPr>
              <a:t>Indefinite.Filled</a:t>
            </a:r>
            <a:r>
              <a:rPr lang="en-US" sz="2200" dirty="0">
                <a:solidFill>
                  <a:srgbClr val="FF0000"/>
                </a:solidFill>
              </a:rPr>
              <a:t> Spec</a:t>
            </a:r>
            <a:r>
              <a:rPr lang="en-US" sz="2200" dirty="0"/>
              <a:t>: </a:t>
            </a:r>
            <a:br>
              <a:rPr lang="en-US" sz="2200" dirty="0"/>
            </a:br>
            <a:r>
              <a:rPr lang="en-US" sz="2200" dirty="0"/>
              <a:t>the effect of the PIC (confirmed in wh-movement)</a:t>
            </a:r>
          </a:p>
          <a:p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vs.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</a:rPr>
              <a:t>definite.filledSpec</a:t>
            </a:r>
            <a:r>
              <a:rPr lang="en-US" sz="2200" dirty="0"/>
              <a:t>: </a:t>
            </a:r>
            <a:br>
              <a:rPr lang="en-US" sz="2200" dirty="0"/>
            </a:br>
            <a:r>
              <a:rPr lang="en-US" sz="2200" dirty="0"/>
              <a:t>the effect of the Specificity Condition </a:t>
            </a:r>
            <a:br>
              <a:rPr lang="en-US" sz="2200" dirty="0"/>
            </a:br>
            <a:r>
              <a:rPr lang="en-US" sz="2200" dirty="0"/>
              <a:t>(confirmed in wh-movement)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7F2F5-B983-032C-92D7-28EB2FBA738E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79A0C-10AB-AECE-169F-FDFD0FBD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76610-690D-E76D-D5EC-34EF56729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473" y="3429000"/>
            <a:ext cx="3542429" cy="2158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72B2F-5480-0FA5-F624-D39DE97F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39" y="4602083"/>
            <a:ext cx="3787049" cy="22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3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8C7D-6BD3-9828-86F8-3587DEB3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2B6C-B407-BB66-48CB-10881372E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Previous</a:t>
            </a:r>
            <a:r>
              <a:rPr lang="zh-CN" altLang="en-US" sz="3600" dirty="0"/>
              <a:t> </a:t>
            </a:r>
            <a:r>
              <a:rPr lang="en-US" altLang="zh-CN" sz="3600" dirty="0"/>
              <a:t>studies: Shen 2026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5BEE2-BB97-5038-274C-8F03BBCDC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Possessive DPs in Singlish are indefinite but have their Spec-DP filled.</a:t>
            </a:r>
          </a:p>
          <a:p>
            <a:r>
              <a:rPr lang="en-US" sz="2200" dirty="0"/>
              <a:t>a. Kavita always collect anecdotes of which president ? (</a:t>
            </a:r>
            <a:r>
              <a:rPr lang="en-US" sz="2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Indefinite.EmptySpec</a:t>
            </a:r>
            <a:r>
              <a:rPr lang="en-US" sz="2200" dirty="0"/>
              <a:t>)</a:t>
            </a:r>
          </a:p>
          <a:p>
            <a:r>
              <a:rPr lang="en-US" sz="2200" dirty="0"/>
              <a:t>b. Kavita always collect your anecdotes of which president ? (</a:t>
            </a:r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/>
              <a:t>)</a:t>
            </a:r>
          </a:p>
          <a:p>
            <a:r>
              <a:rPr lang="en-US" sz="2200" dirty="0"/>
              <a:t>c. Kavita today read your that anecdote of which president ? (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</a:rPr>
              <a:t>Definite.FilledSpec</a:t>
            </a:r>
            <a:r>
              <a:rPr lang="en-US" sz="2200" dirty="0"/>
              <a:t>)</a:t>
            </a:r>
          </a:p>
          <a:p>
            <a:r>
              <a:rPr lang="en-US" sz="2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Indefinite.EmptySpec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dirty="0"/>
              <a:t>vs. </a:t>
            </a:r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/>
              <a:t>: </a:t>
            </a:r>
            <a:br>
              <a:rPr lang="en-US" sz="2200" dirty="0"/>
            </a:br>
            <a:r>
              <a:rPr lang="en-US" sz="2200" dirty="0"/>
              <a:t>the effect of the PIC (not confirmed in </a:t>
            </a:r>
            <a:r>
              <a:rPr lang="en-US" sz="2200" dirty="0" err="1"/>
              <a:t>wh</a:t>
            </a:r>
            <a:r>
              <a:rPr lang="en-US" sz="2200" dirty="0"/>
              <a:t>-in-situ)</a:t>
            </a:r>
          </a:p>
          <a:p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vs. 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</a:rPr>
              <a:t>definite.filledSpec</a:t>
            </a:r>
            <a:r>
              <a:rPr lang="en-US" sz="2200" dirty="0"/>
              <a:t>: </a:t>
            </a:r>
            <a:br>
              <a:rPr lang="en-US" sz="2200" dirty="0"/>
            </a:br>
            <a:r>
              <a:rPr lang="en-US" sz="2200" dirty="0"/>
              <a:t>the effect of the Specificity Condition </a:t>
            </a:r>
            <a:br>
              <a:rPr lang="en-US" sz="2200" dirty="0"/>
            </a:br>
            <a:r>
              <a:rPr lang="en-US" sz="2200" dirty="0"/>
              <a:t>(confirmed in </a:t>
            </a:r>
            <a:r>
              <a:rPr lang="en-US" sz="2200" dirty="0" err="1"/>
              <a:t>wh</a:t>
            </a:r>
            <a:r>
              <a:rPr lang="en-US" sz="2200" dirty="0"/>
              <a:t>-in-situ)</a:t>
            </a:r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67AF7-7971-A6A7-29E3-227256FE27CE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EEEDB-AE95-E0FD-EBEB-E577BD3D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48AAB-E08D-7C3F-24A7-4F339355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455" y="3429000"/>
            <a:ext cx="3965345" cy="244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F348BF-9144-04D2-3687-749685D4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16" y="4670613"/>
            <a:ext cx="3471842" cy="218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2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AA3D-5A12-5C3F-0E14-B307E63D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1BF3-B9F7-A97F-B40F-63EC6E1E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Current study: another piece of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EAC2-9E2C-7723-9CBE-A836A33D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Definiteness spreading: 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The definiteness of a possessive DP depends on the definiteness of the possessor:</a:t>
            </a:r>
          </a:p>
          <a:p>
            <a:pPr lvl="1">
              <a:lnSpc>
                <a:spcPct val="100000"/>
              </a:lnSpc>
            </a:pPr>
            <a:r>
              <a:rPr lang="en-US" sz="2200" i="1" dirty="0"/>
              <a:t>a teacher’s photo of the worksheet </a:t>
            </a:r>
            <a:r>
              <a:rPr lang="en-US" sz="2200" dirty="0"/>
              <a:t>vs. </a:t>
            </a:r>
            <a:r>
              <a:rPr lang="en-US" sz="2200" i="1" dirty="0"/>
              <a:t>the teacher’s photo of the worksheet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If this is the case, three types of DPs in American English </a:t>
            </a:r>
          </a:p>
          <a:p>
            <a:pPr lvl="1">
              <a:lnSpc>
                <a:spcPct val="100000"/>
              </a:lnSpc>
            </a:pPr>
            <a:r>
              <a:rPr lang="en-US" altLang="zh-CN" sz="2200" i="1" dirty="0"/>
              <a:t>a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photo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the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worksheet</a:t>
            </a:r>
            <a:r>
              <a:rPr lang="en-US" sz="2200" i="1" dirty="0"/>
              <a:t> </a:t>
            </a:r>
            <a:r>
              <a:rPr lang="en-US" sz="2200" dirty="0"/>
              <a:t>(</a:t>
            </a:r>
            <a:r>
              <a:rPr lang="en-US" sz="22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indefinite.emptySpec</a:t>
            </a:r>
            <a:r>
              <a:rPr lang="en-US" sz="2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z="2200" i="1" dirty="0"/>
              <a:t>a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teacher’s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photo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the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worksheet</a:t>
            </a:r>
            <a:r>
              <a:rPr lang="en-US" sz="2200" dirty="0"/>
              <a:t> (</a:t>
            </a:r>
            <a:r>
              <a:rPr lang="en-US" sz="2200" dirty="0" err="1">
                <a:solidFill>
                  <a:srgbClr val="FF0000"/>
                </a:solidFill>
              </a:rPr>
              <a:t>indefinite.filledSpec</a:t>
            </a:r>
            <a:r>
              <a:rPr lang="en-US" sz="22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z="2200" i="1" dirty="0"/>
              <a:t>the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teacher’s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photo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of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the</a:t>
            </a:r>
            <a:r>
              <a:rPr lang="zh-CN" altLang="en-US" sz="2200" i="1" dirty="0"/>
              <a:t> </a:t>
            </a:r>
            <a:r>
              <a:rPr lang="en-US" altLang="zh-CN" sz="2200" i="1" dirty="0"/>
              <a:t>worksheet</a:t>
            </a:r>
            <a:r>
              <a:rPr lang="en-US" sz="2200" dirty="0"/>
              <a:t> (</a:t>
            </a:r>
            <a:r>
              <a:rPr lang="en-US" sz="2200" dirty="0" err="1">
                <a:solidFill>
                  <a:schemeClr val="accent6">
                    <a:lumMod val="75000"/>
                  </a:schemeClr>
                </a:solidFill>
              </a:rPr>
              <a:t>definite.filledSpec</a:t>
            </a:r>
            <a:r>
              <a:rPr lang="en-US" sz="22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2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indefinite.emptySpec</a:t>
            </a:r>
            <a:r>
              <a:rPr lang="zh-CN" altLang="en-US" sz="2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600" dirty="0"/>
              <a:t>vs.</a:t>
            </a:r>
            <a:r>
              <a:rPr lang="zh-CN" altLang="en-US" sz="2600" dirty="0"/>
              <a:t> </a:t>
            </a:r>
            <a:r>
              <a:rPr lang="en-US" sz="2600" dirty="0" err="1">
                <a:solidFill>
                  <a:srgbClr val="FF0000"/>
                </a:solidFill>
              </a:rPr>
              <a:t>indefinite.filledSpec</a:t>
            </a:r>
            <a:r>
              <a:rPr lang="en-US" altLang="zh-CN" sz="2600" dirty="0"/>
              <a:t>: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PIC</a:t>
            </a:r>
          </a:p>
          <a:p>
            <a:pPr>
              <a:lnSpc>
                <a:spcPct val="100000"/>
              </a:lnSpc>
            </a:pPr>
            <a:r>
              <a:rPr lang="en-US" sz="2600" dirty="0" err="1">
                <a:solidFill>
                  <a:srgbClr val="FF0000"/>
                </a:solidFill>
              </a:rPr>
              <a:t>indefinite.filledSpec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altLang="zh-CN" sz="2600" dirty="0"/>
              <a:t>vs.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chemeClr val="accent6">
                    <a:lumMod val="75000"/>
                  </a:schemeClr>
                </a:solidFill>
              </a:rPr>
              <a:t>definite.filledSpe</a:t>
            </a:r>
            <a:r>
              <a:rPr lang="en-US" altLang="zh-CN" sz="2600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altLang="zh-CN" sz="2600" dirty="0"/>
              <a:t>:</a:t>
            </a:r>
            <a:r>
              <a:rPr lang="zh-CN" altLang="en-US" sz="2600" dirty="0"/>
              <a:t> </a:t>
            </a:r>
            <a:r>
              <a:rPr lang="en-US" altLang="zh-CN" sz="2600" dirty="0"/>
              <a:t>effect</a:t>
            </a:r>
            <a:r>
              <a:rPr lang="zh-CN" altLang="en-US" sz="2600" dirty="0"/>
              <a:t> </a:t>
            </a:r>
            <a:r>
              <a:rPr lang="en-US" altLang="zh-CN" sz="2600" dirty="0"/>
              <a:t>of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Specificity</a:t>
            </a:r>
            <a:r>
              <a:rPr lang="zh-CN" altLang="en-US" sz="2600" dirty="0"/>
              <a:t> </a:t>
            </a:r>
            <a:r>
              <a:rPr lang="en-US" altLang="zh-CN" sz="2600" dirty="0"/>
              <a:t>Condition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36776-5143-C46F-6D55-FB124D54DCCC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89437-1E9E-18E9-9690-B2AB6DBC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8FD78-6FD3-F604-AB32-B3C2C7E3C6BF}"/>
              </a:ext>
            </a:extLst>
          </p:cNvPr>
          <p:cNvSpPr txBox="1"/>
          <p:nvPr/>
        </p:nvSpPr>
        <p:spPr>
          <a:xfrm>
            <a:off x="3039291" y="14194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0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8F230-85E9-ABF0-29BD-E1D810C6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6759-8DD3-DA79-FADC-8BD3EF37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1: definiteness spreading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015D-2464-2B80-3633-4A224F37C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There seems to be a statement on the desk.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plain.ind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There seems to be the statement on the desk.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plain.def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There seems to be an officer</a:t>
            </a:r>
            <a:r>
              <a:rPr lang="en-US" altLang="zh-CN" sz="2000" dirty="0"/>
              <a:t>’</a:t>
            </a:r>
            <a:r>
              <a:rPr lang="en-US" sz="2000" dirty="0"/>
              <a:t>s statement on the desk.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poss.ind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There seems to be the officer</a:t>
            </a:r>
            <a:r>
              <a:rPr lang="en-US" altLang="zh-CN" sz="2000" dirty="0"/>
              <a:t>’</a:t>
            </a:r>
            <a:r>
              <a:rPr lang="en-US" sz="2000" dirty="0"/>
              <a:t>s statement on the desk.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poss.def</a:t>
            </a:r>
            <a:r>
              <a:rPr lang="en-US" altLang="zh-CN" sz="2000" dirty="0"/>
              <a:t>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Prediction: 1 is better than 2, 3 is better than 4.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100</a:t>
            </a:r>
            <a:r>
              <a:rPr lang="zh-CN" altLang="en-US" sz="2000" dirty="0"/>
              <a:t> </a:t>
            </a:r>
            <a:r>
              <a:rPr lang="en-US" altLang="zh-CN" sz="2000" dirty="0"/>
              <a:t>point</a:t>
            </a:r>
            <a:r>
              <a:rPr lang="zh-CN" altLang="en-US" sz="2000" dirty="0"/>
              <a:t> </a:t>
            </a:r>
            <a:r>
              <a:rPr lang="en-US" altLang="zh-CN" sz="2000" dirty="0"/>
              <a:t>scale,</a:t>
            </a:r>
            <a:r>
              <a:rPr lang="zh-CN" altLang="en-US" sz="2000" dirty="0"/>
              <a:t> </a:t>
            </a:r>
            <a:r>
              <a:rPr lang="en-US" altLang="zh-CN" sz="2000" dirty="0"/>
              <a:t>16</a:t>
            </a:r>
            <a:r>
              <a:rPr lang="zh-CN" altLang="en-US" sz="2000" dirty="0"/>
              <a:t> </a:t>
            </a:r>
            <a:r>
              <a:rPr lang="en-US" altLang="zh-CN" sz="2000" dirty="0"/>
              <a:t>lexically</a:t>
            </a:r>
            <a:r>
              <a:rPr lang="zh-CN" altLang="en-US" sz="2000" dirty="0"/>
              <a:t> </a:t>
            </a:r>
            <a:r>
              <a:rPr lang="en-US" altLang="zh-CN" sz="2000" dirty="0"/>
              <a:t>matched</a:t>
            </a:r>
            <a:r>
              <a:rPr lang="zh-CN" altLang="en-US" sz="2000" dirty="0"/>
              <a:t> </a:t>
            </a:r>
            <a:r>
              <a:rPr lang="en-US" altLang="zh-CN" sz="2000" dirty="0"/>
              <a:t>set</a:t>
            </a:r>
            <a:br>
              <a:rPr lang="en-US" altLang="zh-CN" sz="2000" dirty="0"/>
            </a:br>
            <a:r>
              <a:rPr lang="en-US" altLang="zh-CN" sz="2000" dirty="0"/>
              <a:t>each</a:t>
            </a:r>
            <a:r>
              <a:rPr lang="zh-CN" altLang="en-US" sz="2000" dirty="0"/>
              <a:t> </a:t>
            </a:r>
            <a:r>
              <a:rPr lang="en-US" altLang="zh-CN" sz="2000" dirty="0"/>
              <a:t>participant</a:t>
            </a:r>
            <a:r>
              <a:rPr lang="zh-CN" altLang="en-US" sz="2000" dirty="0"/>
              <a:t> </a:t>
            </a:r>
            <a:r>
              <a:rPr lang="en-US" altLang="zh-CN" sz="2000" dirty="0"/>
              <a:t>judged</a:t>
            </a:r>
            <a:r>
              <a:rPr lang="zh-CN" altLang="en-US" sz="2000" dirty="0"/>
              <a:t> </a:t>
            </a:r>
            <a:r>
              <a:rPr lang="en-US" altLang="zh-CN" sz="2000" dirty="0"/>
              <a:t>4</a:t>
            </a:r>
            <a:r>
              <a:rPr lang="zh-CN" altLang="en-US" sz="2000" dirty="0"/>
              <a:t> </a:t>
            </a:r>
            <a:r>
              <a:rPr lang="en-US" altLang="zh-CN" sz="2000" dirty="0"/>
              <a:t>items</a:t>
            </a:r>
            <a:r>
              <a:rPr lang="zh-CN" altLang="en-US" sz="2000" dirty="0"/>
              <a:t> </a:t>
            </a:r>
            <a:r>
              <a:rPr lang="en-US" altLang="zh-CN" sz="2000" dirty="0"/>
              <a:t>per</a:t>
            </a:r>
            <a:r>
              <a:rPr lang="zh-CN" altLang="en-US" sz="2000" dirty="0"/>
              <a:t> </a:t>
            </a:r>
            <a:r>
              <a:rPr lang="en-US" altLang="zh-CN" sz="2000" dirty="0"/>
              <a:t>condition</a:t>
            </a:r>
            <a:br>
              <a:rPr lang="en-US" altLang="zh-CN" sz="2000" dirty="0"/>
            </a:br>
            <a:r>
              <a:rPr lang="en-US" altLang="zh-CN" sz="2000" dirty="0"/>
              <a:t>results</a:t>
            </a:r>
            <a:r>
              <a:rPr lang="zh-CN" altLang="en-US" sz="2000" dirty="0"/>
              <a:t> </a:t>
            </a:r>
            <a:r>
              <a:rPr lang="en-US" altLang="zh-CN" sz="2000" dirty="0"/>
              <a:t>from</a:t>
            </a:r>
            <a:r>
              <a:rPr lang="zh-CN" altLang="en-US" sz="2000" dirty="0"/>
              <a:t> </a:t>
            </a:r>
            <a:r>
              <a:rPr lang="en-US" altLang="zh-CN" sz="2000" dirty="0"/>
              <a:t>40</a:t>
            </a:r>
            <a:r>
              <a:rPr lang="zh-CN" altLang="en-US" sz="2000" dirty="0"/>
              <a:t> </a:t>
            </a:r>
            <a:r>
              <a:rPr lang="en-US" altLang="zh-CN" sz="2000" dirty="0"/>
              <a:t>participants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both</a:t>
            </a:r>
            <a:r>
              <a:rPr lang="zh-CN" altLang="en-US" sz="2000" dirty="0"/>
              <a:t> </a:t>
            </a:r>
            <a:r>
              <a:rPr lang="en-US" altLang="zh-CN" sz="2000" dirty="0"/>
              <a:t>types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DPs,</a:t>
            </a:r>
            <a:r>
              <a:rPr lang="zh-CN" altLang="en-US" sz="2000" dirty="0"/>
              <a:t> </a:t>
            </a:r>
            <a:r>
              <a:rPr lang="en-US" altLang="zh-CN" sz="2000" dirty="0"/>
              <a:t>there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significant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definiteness.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en-US" altLang="zh-CN" sz="2000" dirty="0" err="1"/>
              <a:t>Poss.ind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i="1" dirty="0"/>
              <a:t>there-</a:t>
            </a:r>
            <a:r>
              <a:rPr lang="en-US" altLang="zh-CN" sz="2000" dirty="0"/>
              <a:t>existential</a:t>
            </a:r>
            <a:r>
              <a:rPr lang="zh-CN" altLang="en-US" sz="2000" dirty="0"/>
              <a:t> </a:t>
            </a:r>
            <a:r>
              <a:rPr lang="en-US" altLang="zh-CN" sz="2000" dirty="0"/>
              <a:t>construction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close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acceptability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 err="1"/>
              <a:t>Plain.ind</a:t>
            </a:r>
            <a:r>
              <a:rPr lang="en-US" altLang="zh-CN" sz="2000" dirty="0"/>
              <a:t>.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9755E-11E3-5312-F43E-5331FB51571E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886C-B0CE-70A5-CE07-520CA3BE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FA2A2-0500-EA6F-9E36-2EB65592DCC3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132CE4-49B0-BE3F-19C2-9CECF81CA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552" y="3268761"/>
            <a:ext cx="4742330" cy="33873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723A4A-126C-C73C-6061-52A09F763A8B}"/>
              </a:ext>
            </a:extLst>
          </p:cNvPr>
          <p:cNvSpPr/>
          <p:nvPr/>
        </p:nvSpPr>
        <p:spPr>
          <a:xfrm>
            <a:off x="838200" y="1515291"/>
            <a:ext cx="6853518" cy="815533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AFE2AC-5541-38F1-39F8-F3A7DCF78A92}"/>
              </a:ext>
            </a:extLst>
          </p:cNvPr>
          <p:cNvSpPr/>
          <p:nvPr/>
        </p:nvSpPr>
        <p:spPr>
          <a:xfrm>
            <a:off x="838200" y="2392026"/>
            <a:ext cx="7705164" cy="81553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AE74C-611D-ABAF-3E12-22AC26E1C511}"/>
              </a:ext>
            </a:extLst>
          </p:cNvPr>
          <p:cNvSpPr/>
          <p:nvPr/>
        </p:nvSpPr>
        <p:spPr>
          <a:xfrm>
            <a:off x="7091082" y="3400870"/>
            <a:ext cx="1810871" cy="194183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B97921-36FE-78FD-6578-2D0080458C93}"/>
              </a:ext>
            </a:extLst>
          </p:cNvPr>
          <p:cNvSpPr/>
          <p:nvPr/>
        </p:nvSpPr>
        <p:spPr>
          <a:xfrm>
            <a:off x="9063318" y="3405667"/>
            <a:ext cx="1918446" cy="193704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1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2F88-9C17-19E1-E3C2-E67386A8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7527-8FCB-1D0F-3F28-47E64514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2: definite DP island effect with three 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2BD37-11E0-7735-BC96-BAA8DF451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a photo of the worksheet?</a:t>
            </a:r>
            <a:r>
              <a:rPr lang="zh-CN" altLang="en-US" sz="2000" dirty="0"/>
              <a:t> </a:t>
            </a:r>
            <a:r>
              <a:rPr lang="en-US" altLang="zh-CN" sz="2000" dirty="0"/>
              <a:t>			(</a:t>
            </a:r>
            <a:r>
              <a:rPr lang="en-US" altLang="zh-CN" sz="2000" dirty="0" err="1"/>
              <a:t>ind.short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a teacher's photo of the worksheet?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the teacher‘s photo of the worksheet?</a:t>
            </a:r>
            <a:r>
              <a:rPr lang="zh-CN" altLang="en-US" sz="2000" dirty="0"/>
              <a:t> </a:t>
            </a:r>
            <a:r>
              <a:rPr lang="en-US" altLang="zh-CN" sz="2000" dirty="0"/>
              <a:t>	(</a:t>
            </a:r>
            <a:r>
              <a:rPr lang="en-US" altLang="zh-CN" sz="2000" dirty="0" err="1"/>
              <a:t>defPoss.short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a photo of?</a:t>
            </a:r>
            <a:r>
              <a:rPr lang="zh-CN" altLang="en-US" sz="2000" dirty="0"/>
              <a:t> </a:t>
            </a:r>
            <a:r>
              <a:rPr lang="en-US" altLang="zh-CN" sz="2000" dirty="0"/>
              <a:t>			(</a:t>
            </a:r>
            <a:r>
              <a:rPr lang="en-US" altLang="zh-CN" sz="2000" dirty="0" err="1"/>
              <a:t>ind.long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a teacher's photo of?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indPoss.long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the teacher‘s photo of?</a:t>
            </a:r>
            <a:r>
              <a:rPr lang="zh-CN" altLang="en-US" sz="2000" dirty="0"/>
              <a:t> </a:t>
            </a:r>
            <a:r>
              <a:rPr lang="en-US" altLang="zh-CN" sz="2000" dirty="0"/>
              <a:t>	(</a:t>
            </a:r>
            <a:r>
              <a:rPr lang="en-US" altLang="zh-CN" sz="2000" dirty="0" err="1"/>
              <a:t>defPoss.long</a:t>
            </a:r>
            <a:r>
              <a:rPr lang="en-US" altLang="zh-CN" sz="2000" dirty="0"/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Predictions: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PIC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altLang="zh-CN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defPoss</a:t>
            </a:r>
            <a:r>
              <a:rPr lang="en-US" sz="2000" dirty="0"/>
              <a:t> 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Specificity Condition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115 participants, 18 lexically matched sets, 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Each participant judged 3 items per condition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33474-3BC3-D1A6-89F5-35458B12B4D3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A93AC-8A95-3926-4E38-B6C9D19A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7328C-E5DF-E1FC-1A7F-13C9022E861B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56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DC53-5426-C5B8-E51D-366B137D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9BA4-973B-0D0B-FD9A-92359AAC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2: definite DP island effect with three 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9FCD-8702-529D-B58A-0E10BC506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a photo of the worksheet?</a:t>
            </a:r>
            <a:r>
              <a:rPr lang="zh-CN" altLang="en-US" sz="2000" dirty="0"/>
              <a:t> </a:t>
            </a:r>
            <a:r>
              <a:rPr lang="en-US" altLang="zh-CN" sz="2000" dirty="0"/>
              <a:t>			(</a:t>
            </a:r>
            <a:r>
              <a:rPr lang="en-US" altLang="zh-CN" sz="2000" dirty="0" err="1"/>
              <a:t>ind.short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a teacher's photo of the worksheet?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Who saw the teacher‘s photo of the worksheet?</a:t>
            </a:r>
            <a:r>
              <a:rPr lang="zh-CN" altLang="en-US" sz="2000" dirty="0">
                <a:solidFill>
                  <a:schemeClr val="bg2"/>
                </a:solidFill>
              </a:rPr>
              <a:t> </a:t>
            </a:r>
            <a:r>
              <a:rPr lang="en-US" altLang="zh-CN" sz="2000" dirty="0">
                <a:solidFill>
                  <a:schemeClr val="bg2"/>
                </a:solidFill>
              </a:rPr>
              <a:t>	(</a:t>
            </a:r>
            <a:r>
              <a:rPr lang="en-US" altLang="zh-CN" sz="2000" dirty="0" err="1">
                <a:solidFill>
                  <a:schemeClr val="bg2"/>
                </a:solidFill>
              </a:rPr>
              <a:t>defPoss.short</a:t>
            </a:r>
            <a:r>
              <a:rPr lang="en-US" altLang="zh-CN" sz="2000" dirty="0">
                <a:solidFill>
                  <a:schemeClr val="bg2"/>
                </a:solidFill>
              </a:rPr>
              <a:t>)</a:t>
            </a:r>
            <a:endParaRPr lang="en-US" sz="2000" dirty="0">
              <a:solidFill>
                <a:schemeClr val="bg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a photo of?</a:t>
            </a:r>
            <a:r>
              <a:rPr lang="zh-CN" altLang="en-US" sz="2000" dirty="0"/>
              <a:t> </a:t>
            </a:r>
            <a:r>
              <a:rPr lang="en-US" altLang="zh-CN" sz="2000" dirty="0"/>
              <a:t>			(</a:t>
            </a:r>
            <a:r>
              <a:rPr lang="en-US" altLang="zh-CN" sz="2000" dirty="0" err="1"/>
              <a:t>ind.long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a teacher's photo of?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indPoss.long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What did Charlotte see the teacher‘s photo of?</a:t>
            </a:r>
            <a:r>
              <a:rPr lang="zh-CN" altLang="en-US" sz="2000" dirty="0">
                <a:solidFill>
                  <a:schemeClr val="bg2"/>
                </a:solidFill>
              </a:rPr>
              <a:t> </a:t>
            </a:r>
            <a:r>
              <a:rPr lang="en-US" altLang="zh-CN" sz="2000" dirty="0">
                <a:solidFill>
                  <a:schemeClr val="bg2"/>
                </a:solidFill>
              </a:rPr>
              <a:t>	(</a:t>
            </a:r>
            <a:r>
              <a:rPr lang="en-US" altLang="zh-CN" sz="2000" dirty="0" err="1">
                <a:solidFill>
                  <a:schemeClr val="bg2"/>
                </a:solidFill>
              </a:rPr>
              <a:t>defPoss.long</a:t>
            </a:r>
            <a:r>
              <a:rPr lang="en-US" altLang="zh-CN" sz="2000" dirty="0">
                <a:solidFill>
                  <a:schemeClr val="bg2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PIC confirmed: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CF92E-6E01-4507-C415-0F29829B4739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13CC1-686E-C46F-6E35-4A1E36C46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6195B-9942-0D15-F6F1-594E6D1EE22B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A1593D-1BCE-47DB-88FD-ED09BEC4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40" y="4553886"/>
            <a:ext cx="3512297" cy="216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0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4A0C-9839-4372-29AF-3465BFED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C582-88BE-7207-0072-4B054ADE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2: definite DP island effect with three DPs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33C1-C7F1-E115-DFAB-77E16613D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Who saw a photo of the worksheet?</a:t>
            </a:r>
            <a:r>
              <a:rPr lang="zh-CN" altLang="en-US" sz="2000" dirty="0">
                <a:solidFill>
                  <a:schemeClr val="bg2"/>
                </a:solidFill>
              </a:rPr>
              <a:t> </a:t>
            </a:r>
            <a:r>
              <a:rPr lang="en-US" altLang="zh-CN" sz="2000" dirty="0">
                <a:solidFill>
                  <a:schemeClr val="bg2"/>
                </a:solidFill>
              </a:rPr>
              <a:t>			(</a:t>
            </a:r>
            <a:r>
              <a:rPr lang="en-US" altLang="zh-CN" sz="2000" dirty="0" err="1">
                <a:solidFill>
                  <a:schemeClr val="bg2"/>
                </a:solidFill>
              </a:rPr>
              <a:t>ind.short</a:t>
            </a:r>
            <a:r>
              <a:rPr lang="en-US" altLang="zh-CN" sz="2000" dirty="0">
                <a:solidFill>
                  <a:schemeClr val="bg2"/>
                </a:solidFill>
              </a:rPr>
              <a:t>)</a:t>
            </a:r>
            <a:endParaRPr lang="en-US" sz="2000" dirty="0">
              <a:solidFill>
                <a:schemeClr val="bg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a teacher's photo of the worksheet?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Who saw the teacher‘s photo of the worksheet?</a:t>
            </a:r>
            <a:r>
              <a:rPr lang="zh-CN" altLang="en-US" sz="2000" dirty="0"/>
              <a:t> </a:t>
            </a:r>
            <a:r>
              <a:rPr lang="en-US" altLang="zh-CN" sz="2000" dirty="0"/>
              <a:t>	(</a:t>
            </a:r>
            <a:r>
              <a:rPr lang="en-US" altLang="zh-CN" sz="2000" dirty="0" err="1"/>
              <a:t>defPoss.short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What did Charlotte see a photo of?</a:t>
            </a:r>
            <a:r>
              <a:rPr lang="zh-CN" altLang="en-US" sz="2000" dirty="0">
                <a:solidFill>
                  <a:schemeClr val="bg2"/>
                </a:solidFill>
              </a:rPr>
              <a:t> </a:t>
            </a:r>
            <a:r>
              <a:rPr lang="en-US" altLang="zh-CN" sz="2000" dirty="0">
                <a:solidFill>
                  <a:schemeClr val="bg2"/>
                </a:solidFill>
              </a:rPr>
              <a:t>			(</a:t>
            </a:r>
            <a:r>
              <a:rPr lang="en-US" altLang="zh-CN" sz="2000" dirty="0" err="1">
                <a:solidFill>
                  <a:schemeClr val="bg2"/>
                </a:solidFill>
              </a:rPr>
              <a:t>ind.long</a:t>
            </a:r>
            <a:r>
              <a:rPr lang="en-US" altLang="zh-CN" sz="2000" dirty="0">
                <a:solidFill>
                  <a:schemeClr val="bg2"/>
                </a:solidFill>
              </a:rPr>
              <a:t>)</a:t>
            </a:r>
            <a:endParaRPr lang="en-US" sz="2000" dirty="0">
              <a:solidFill>
                <a:schemeClr val="bg2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a teacher's photo of?		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indPoss.long</a:t>
            </a:r>
            <a:r>
              <a:rPr lang="en-US" altLang="zh-CN" sz="2000" dirty="0"/>
              <a:t>)</a:t>
            </a: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What did Charlotte see the teacher‘s photo of?</a:t>
            </a:r>
            <a:r>
              <a:rPr lang="zh-CN" altLang="en-US" sz="2000" dirty="0"/>
              <a:t> </a:t>
            </a:r>
            <a:r>
              <a:rPr lang="en-US" altLang="zh-CN" sz="2000" dirty="0"/>
              <a:t>	(</a:t>
            </a:r>
            <a:r>
              <a:rPr lang="en-US" altLang="zh-CN" sz="2000" dirty="0" err="1"/>
              <a:t>defPoss.long</a:t>
            </a:r>
            <a:r>
              <a:rPr lang="en-US" altLang="zh-CN" sz="2000" dirty="0"/>
              <a:t>)</a:t>
            </a:r>
          </a:p>
          <a:p>
            <a:pPr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altLang="zh-CN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defPoss</a:t>
            </a:r>
            <a:r>
              <a:rPr lang="en-US" sz="2000" dirty="0"/>
              <a:t> 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Specificity Condition confirmed: 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F1932-65B9-77DF-AC85-3EADE503DE72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1E0E-FA7B-76F6-4766-22E4114B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0E566-B630-AECF-EBA9-CD0AB0F4DF0B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60DD9-E00A-FC02-BAFD-FDCFECF6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32" y="4593682"/>
            <a:ext cx="3500010" cy="21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1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7926-366F-28CF-72B1-E072C366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9CA2-5276-A6B0-E7AE-A136658C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3: same experiment in Relative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14419-149D-C66B-8327-BD6D5F9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a photo of the worksheet.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	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ind.short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a teacher's photo of the worksheet.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indPoss.short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the teacher's photo of the worksheet.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defPoss.short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a photo of.		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ind.long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a teacher's photo of.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indPoss.long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the teacher's photo of.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defPoss.long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Predictions: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PIC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altLang="zh-CN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defPoss</a:t>
            </a:r>
            <a:r>
              <a:rPr lang="en-US" sz="2000" dirty="0"/>
              <a:t> 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Specificity Condition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60 participants, 18 lexically matched sets,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Each participant judged 3 items per condition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EE64A-C896-5CCF-3736-8E1964EAF7D6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364C7-8BC4-404C-74CA-AF15E276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9E8CE-835D-99C9-864A-BFA12054C8D1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62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D9EA-09EA-1426-EAED-F28954C5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7B79-E8AD-FAF7-E0F2-FD653F61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Experiment 3: same experiment in Relative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D476C-DD8E-3DEA-DD7E-0AAE9C8CF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291"/>
            <a:ext cx="10515600" cy="507551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a photo of the worksheet.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	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ind.short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a teacher's photo of the worksheet.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indPoss.short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confronted the student that saw the teacher's photo of the worksheet.	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defPoss.short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a photo of.		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ind.long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a teacher's photo of.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indPoss.long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edited the worksheet that Charlotte saw the teacher's photo of.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	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defPoss.long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Predictions: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PIC (significant interaction)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indPoss</a:t>
            </a:r>
            <a:r>
              <a:rPr lang="zh-CN" altLang="en-US" sz="2000" dirty="0"/>
              <a:t> </a:t>
            </a:r>
            <a:r>
              <a:rPr lang="en-US" altLang="zh-CN" sz="2000" dirty="0"/>
              <a:t>vs.</a:t>
            </a:r>
            <a:r>
              <a:rPr lang="zh-CN" altLang="en-US" sz="2000" dirty="0"/>
              <a:t> </a:t>
            </a:r>
            <a:r>
              <a:rPr lang="en-US" altLang="zh-CN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defPoss</a:t>
            </a:r>
            <a:r>
              <a:rPr lang="en-US" sz="2000" dirty="0"/>
              <a:t> 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Specificity Condition (marginal interaction)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8222C-D95F-D5FC-1E04-81CE6ED2E586}"/>
              </a:ext>
            </a:extLst>
          </p:cNvPr>
          <p:cNvSpPr txBox="1"/>
          <p:nvPr/>
        </p:nvSpPr>
        <p:spPr>
          <a:xfrm>
            <a:off x="4075611" y="1515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2AD23-2AB0-5751-0976-18E371EB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35437-9D7D-CF6D-109F-DF85B3841BFA}"/>
              </a:ext>
            </a:extLst>
          </p:cNvPr>
          <p:cNvSpPr txBox="1"/>
          <p:nvPr/>
        </p:nvSpPr>
        <p:spPr>
          <a:xfrm>
            <a:off x="2629989" y="6966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4243FE-03DC-6BED-18B7-FBBC0DDC5F2B}"/>
              </a:ext>
            </a:extLst>
          </p:cNvPr>
          <p:cNvGrpSpPr/>
          <p:nvPr/>
        </p:nvGrpSpPr>
        <p:grpSpPr>
          <a:xfrm>
            <a:off x="586371" y="4973378"/>
            <a:ext cx="5309846" cy="1857561"/>
            <a:chOff x="586371" y="4973378"/>
            <a:chExt cx="5309846" cy="18575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1E2EE9-9A27-50CD-D4DA-A54698BAA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371" y="4996001"/>
              <a:ext cx="2537243" cy="181231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D12F9B-000A-EAA4-1C3A-0E99C66AF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5631" y="4973378"/>
              <a:ext cx="2600586" cy="185756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1585D9B-183B-9845-BA52-3E6EF544E496}"/>
              </a:ext>
            </a:extLst>
          </p:cNvPr>
          <p:cNvGrpSpPr/>
          <p:nvPr/>
        </p:nvGrpSpPr>
        <p:grpSpPr>
          <a:xfrm>
            <a:off x="3012602" y="4996884"/>
            <a:ext cx="8930105" cy="1869604"/>
            <a:chOff x="3012602" y="4996884"/>
            <a:chExt cx="8930105" cy="186960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F1A2BB-5E7D-B685-4A8E-14DCDDDDA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4772" y="5021237"/>
              <a:ext cx="2719506" cy="1678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F8D8324-F44C-1836-5855-35DC71057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278" y="4996884"/>
              <a:ext cx="2798429" cy="172703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874D8-4267-2676-F7CF-DF415C2620CB}"/>
                </a:ext>
              </a:extLst>
            </p:cNvPr>
            <p:cNvSpPr txBox="1"/>
            <p:nvPr/>
          </p:nvSpPr>
          <p:spPr>
            <a:xfrm>
              <a:off x="3012602" y="6497156"/>
              <a:ext cx="56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93E8FC-E105-683D-6D26-B61ABBE7B73A}"/>
                </a:ext>
              </a:extLst>
            </p:cNvPr>
            <p:cNvSpPr txBox="1"/>
            <p:nvPr/>
          </p:nvSpPr>
          <p:spPr>
            <a:xfrm>
              <a:off x="8948057" y="6461607"/>
              <a:ext cx="566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19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6A101-1D63-2C8B-90CD-2C837927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9449-C95B-0A5E-70CD-7F037D13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234F-1B2D-26F5-D1B8-E9A215FE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75667-1EB2-474F-9E57-5B3889932B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12707</TotalTime>
  <Words>1585</Words>
  <Application>Microsoft Macintosh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The syntactic and semantic effects on extraction out of DPs Evidence from Definiteness Spreading</vt:lpstr>
      <vt:lpstr>Definite DP island </vt:lpstr>
      <vt:lpstr>Previous studies </vt:lpstr>
      <vt:lpstr>Previous studies: Shen and Huang 2026 </vt:lpstr>
      <vt:lpstr>Previous studies: Shen 2026</vt:lpstr>
      <vt:lpstr>Previous studies: Shen 2026</vt:lpstr>
      <vt:lpstr>Previous studies: Shen 2026</vt:lpstr>
      <vt:lpstr>Current study: another piece of evidence</vt:lpstr>
      <vt:lpstr>Experiment 1: definiteness spreading</vt:lpstr>
      <vt:lpstr>Experiment 2: definite DP island effect with three DPs</vt:lpstr>
      <vt:lpstr>Experiment 2: definite DP island effect with three DPs</vt:lpstr>
      <vt:lpstr>Experiment 2: definite DP island effect with three DPs</vt:lpstr>
      <vt:lpstr>Experiment 3: same experiment in Relative Clause</vt:lpstr>
      <vt:lpstr>Experiment 3: same experiment in Relative Clause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Shen</dc:creator>
  <cp:lastModifiedBy>Zheng Shen</cp:lastModifiedBy>
  <cp:revision>398</cp:revision>
  <dcterms:created xsi:type="dcterms:W3CDTF">2026-05-28T07:26:55Z</dcterms:created>
  <dcterms:modified xsi:type="dcterms:W3CDTF">2026-07-16T00:36:05Z</dcterms:modified>
</cp:coreProperties>
</file>