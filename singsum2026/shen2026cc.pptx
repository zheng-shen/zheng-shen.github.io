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315" r:id="rId3"/>
    <p:sldId id="272" r:id="rId4"/>
    <p:sldId id="273" r:id="rId5"/>
    <p:sldId id="274" r:id="rId6"/>
    <p:sldId id="258" r:id="rId7"/>
    <p:sldId id="275" r:id="rId8"/>
    <p:sldId id="276" r:id="rId9"/>
    <p:sldId id="259" r:id="rId10"/>
    <p:sldId id="277" r:id="rId11"/>
    <p:sldId id="261" r:id="rId12"/>
    <p:sldId id="278" r:id="rId13"/>
    <p:sldId id="262" r:id="rId14"/>
    <p:sldId id="263" r:id="rId15"/>
    <p:sldId id="266" r:id="rId16"/>
    <p:sldId id="280" r:id="rId17"/>
    <p:sldId id="281" r:id="rId18"/>
    <p:sldId id="264" r:id="rId19"/>
    <p:sldId id="265" r:id="rId20"/>
    <p:sldId id="267" r:id="rId21"/>
    <p:sldId id="279" r:id="rId22"/>
    <p:sldId id="283" r:id="rId23"/>
    <p:sldId id="270" r:id="rId24"/>
    <p:sldId id="284" r:id="rId25"/>
    <p:sldId id="271" r:id="rId26"/>
    <p:sldId id="285" r:id="rId27"/>
    <p:sldId id="294" r:id="rId28"/>
    <p:sldId id="298" r:id="rId29"/>
    <p:sldId id="297" r:id="rId30"/>
    <p:sldId id="292" r:id="rId31"/>
    <p:sldId id="296" r:id="rId32"/>
    <p:sldId id="282" r:id="rId33"/>
    <p:sldId id="299" r:id="rId34"/>
    <p:sldId id="300" r:id="rId35"/>
    <p:sldId id="301" r:id="rId36"/>
    <p:sldId id="287" r:id="rId37"/>
    <p:sldId id="286" r:id="rId38"/>
    <p:sldId id="302" r:id="rId39"/>
    <p:sldId id="303" r:id="rId40"/>
    <p:sldId id="288" r:id="rId41"/>
    <p:sldId id="304" r:id="rId42"/>
    <p:sldId id="310" r:id="rId43"/>
    <p:sldId id="311" r:id="rId44"/>
    <p:sldId id="307" r:id="rId45"/>
    <p:sldId id="308" r:id="rId46"/>
    <p:sldId id="309" r:id="rId47"/>
    <p:sldId id="312" r:id="rId48"/>
    <p:sldId id="314" r:id="rId49"/>
    <p:sldId id="31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04"/>
    <p:restoredTop sz="94726"/>
  </p:normalViewPr>
  <p:slideViewPr>
    <p:cSldViewPr snapToGrid="0">
      <p:cViewPr varScale="1">
        <p:scale>
          <a:sx n="109" d="100"/>
          <a:sy n="109" d="100"/>
        </p:scale>
        <p:origin x="20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FF11-BF54-2D4A-A92E-71ECE89BAEA1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7B614-3CD7-A74F-AA2E-D0E9C731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2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7B614-3CD7-A74F-AA2E-D0E9C731624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94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7B614-3CD7-A74F-AA2E-D0E9C731624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95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F303-7414-4BEA-2EB0-86AEC8551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A780F-C0A5-3EA6-5D16-3DCE5C9C9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4D90E-59E1-14C4-1F6A-35A3FF707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6AB0A-2B39-D6B6-482F-26510ABB3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7B614-3CD7-A74F-AA2E-D0E9C731624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59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D097-2590-19EC-6F52-3A88CB2C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B1819-187B-048E-C187-EC2754E00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7B9F1-2F32-F98B-1A54-EB09CBB7B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2ECE6-25CB-B247-727D-940F9C618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7B614-3CD7-A74F-AA2E-D0E9C731624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1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6EC4-01EA-62FE-43BE-9841EFF71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4F863-D84E-C1C0-D303-80797FA16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4C801-5907-13CC-D8C9-FA7B4D25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A4B8-9DA4-F047-9987-A71CA7A7D7EC}" type="datetime1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56B9B-488C-DFE5-9332-4878E1E4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BBD0D-3804-F392-EBEA-09B5DC94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9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18F6-A871-5545-A46C-15D4DE19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52C6-2071-2CE5-3615-1E91535BB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F30DB-A7E5-F138-1D19-13E17813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1E9B-8EE7-6A43-A90C-49383CBB77D2}" type="datetime1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F6F68-DC18-709D-74C1-A6EEB7CD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E0F8D-EB52-06B1-4988-C1C4A26C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1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0421-3C8A-C893-2536-06075735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4896C-2C4C-3E7D-37F9-8935F11C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5120-6F1F-0EEF-AF5A-9D51F61B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CA516-07D8-D246-B39A-B554A1F0A8CD}" type="datetime1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1D98C-E87D-032A-930C-6BB956EF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BF7E4-916F-8F39-DFF0-F6A95F72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477D-7647-712C-F58C-CFB2CD9E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A390-B91B-83C2-722D-11A839B01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F4D7D-ACE6-BA80-8C20-496FC3BE6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5D4F7-EFA4-007B-24AB-A396B86D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7C709-5D61-1843-8227-68EEAEDA0BC3}" type="datetime1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EC7B8-4009-B710-4F74-88662547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A1633-4871-F0A3-95EA-BBA3D660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5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41C8-EBCD-4A44-4046-4F8AAD5B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9A979-7730-9DEB-F3E9-021BC46AD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391FD-4711-1B54-CD3F-BB4C5A9B1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8424E-FE51-B7CB-4D95-0552A26C1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CB637-3A45-8E81-0C7B-31370C915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5D116-0977-AC1D-6722-FEAA25E2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8E2E-A32F-2C41-ABCE-A8E0C315C40D}" type="datetime1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69DEC-97F5-17B3-7BDD-F0055DC2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8E721-8008-8960-9787-57FDC7B2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2225-72AD-76D0-103E-9FDEE4B9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63633-29B5-32CB-DE89-6BA90A2A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FB96E-67A1-9843-887D-0F8EBE042180}" type="datetime1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97486-E58A-71B7-C104-A00F18C7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91268-36B8-7B27-A22D-635147C2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C3417-BB4E-B06E-1609-D2507273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A268-9899-074D-9840-5014AC2360A5}" type="datetime1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ED02F-FF7D-2340-30E2-7B2B2766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06A57-2AC0-A058-3E18-707F2F84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1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4767-F2BD-AC33-BEEA-8CBDCF64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5BC3-819D-716A-2B29-9D04F508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52F09-FE0F-C81D-FDC3-04D10B885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C6920-15F5-FAAB-7302-0C24EE44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5A401-8075-8041-B11D-CA545565DA40}" type="datetime1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4DA81-A9F4-E5FD-7F67-C5037073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9BA81-AA66-5ACF-D832-18062AE1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8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9F3C-9482-2759-5EF1-663559EE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011D-C845-7212-978F-7C035581D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658D5-72FE-09CC-5D2E-4E821583F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F39D0-39B6-7AC6-0CCA-DEC9FA03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B394-92B2-784B-ADAB-5648BCEC98F8}" type="datetime1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48C54-73A1-E70B-EEF1-720A67C0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AD00C-4819-FE35-7D0D-B61BF6CD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1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CA3A-1C1E-3C46-57FF-25F8061B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35A60-DA2B-276B-891C-5A657AB76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8CD37-5742-90E9-5A4E-92E7AA0F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3C56-1DF9-9340-B1EF-512CD9086489}" type="datetime1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ED596-F8C9-82CC-5B2E-A723AFF6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07A7-8A2B-9EA7-9D02-A7536914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6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7D491-5DCF-424B-653D-2E62CE1AC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FC4AF-CF2E-C6F1-63F5-B03DE4F6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C24A0-CF1B-1FC5-5CFC-6E40D3F9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5CEB-0F38-BF4F-B2DF-504D325DD50F}" type="datetime1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7F4C6-0A68-3F41-6884-F55BBCAC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833C-CF1F-AC27-7586-B13A6E53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3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DB075-7344-558D-3698-CBC249D2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496AE-AE73-3E67-A4CC-0D992D4A1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B5C5-F7B1-26FF-07ED-4EDFF230B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9638A-4E99-504F-9316-96C3F83EDABE}" type="datetime1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142C-6427-75D2-4F2B-08094FE61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B91AB-966C-183C-D1F3-540807BA9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9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F69C-B608-FFC8-CBBA-F3C272EE5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Evaluating analyses of the Conjunct Constraint </a:t>
            </a:r>
            <a:br>
              <a:rPr lang="en-US" sz="3600" dirty="0"/>
            </a:br>
            <a:r>
              <a:rPr lang="en-US" sz="3600" dirty="0"/>
              <a:t>with its violations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B55DB-7187-96B3-84DE-31B694F18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0617"/>
            <a:ext cx="9144001" cy="2598465"/>
          </a:xfrm>
        </p:spPr>
        <p:txBody>
          <a:bodyPr>
            <a:normAutofit/>
          </a:bodyPr>
          <a:lstStyle/>
          <a:p>
            <a:r>
              <a:rPr lang="en-US" dirty="0"/>
              <a:t>Zheng Shen</a:t>
            </a:r>
          </a:p>
          <a:p>
            <a:r>
              <a:rPr lang="en-US" dirty="0"/>
              <a:t>National University of Singapore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2026.7.16				Singapore Summer Meeting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6ACA5-0FAC-D398-648A-08565875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2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1997-D328-C09B-67D2-67BFC2FB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6F21-4722-C648-C7DD-264994A2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Coordinate Structure Constraint and Conjunct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A4B0-B36A-65C9-28B7-FACAD5DD4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583"/>
            <a:ext cx="10515600" cy="49862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Coordinate Structure Constraint (CSC): 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Conjunct Constraint </a:t>
            </a:r>
            <a:r>
              <a:rPr lang="en-US" dirty="0"/>
              <a:t>(CC): Conjuncts cannot be moved. </a:t>
            </a:r>
          </a:p>
          <a:p>
            <a:pPr marL="1371600" lvl="2" indent="-457200">
              <a:lnSpc>
                <a:spcPct val="100000"/>
              </a:lnSpc>
              <a:buFont typeface="+mj-lt"/>
              <a:buAutoNum type="arabicParenR"/>
            </a:pPr>
            <a:r>
              <a:rPr lang="en-US" sz="2400" dirty="0"/>
              <a:t>*</a:t>
            </a:r>
            <a:r>
              <a:rPr lang="en-US" sz="2400" b="1" dirty="0"/>
              <a:t>What</a:t>
            </a:r>
            <a:r>
              <a:rPr lang="en-US" sz="2400" dirty="0"/>
              <a:t> did Mary buy [ </a:t>
            </a:r>
            <a:r>
              <a:rPr lang="en-US" sz="2400" i="1" dirty="0"/>
              <a:t>t </a:t>
            </a:r>
            <a:r>
              <a:rPr lang="en-US" sz="2400" dirty="0"/>
              <a:t>and a book about linguistics ]?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Element Constraint (EC): No element contained in a conjunct can be moved out of that conjunct. </a:t>
            </a:r>
          </a:p>
          <a:p>
            <a:pPr marL="1371600" lvl="2" indent="-457200">
              <a:lnSpc>
                <a:spcPct val="100000"/>
              </a:lnSpc>
              <a:buFont typeface="+mj-lt"/>
              <a:buAutoNum type="arabicParenR" startAt="2"/>
            </a:pPr>
            <a:r>
              <a:rPr lang="en-US" sz="2400" dirty="0"/>
              <a:t>*</a:t>
            </a:r>
            <a:r>
              <a:rPr lang="en-US" sz="2400" b="1" dirty="0"/>
              <a:t>What</a:t>
            </a:r>
            <a:r>
              <a:rPr lang="en-US" sz="2400" dirty="0"/>
              <a:t> did Mary buy [ a photo of </a:t>
            </a:r>
            <a:r>
              <a:rPr lang="en-US" sz="2400" i="1" dirty="0"/>
              <a:t>t </a:t>
            </a:r>
            <a:r>
              <a:rPr lang="en-US" sz="2400" dirty="0"/>
              <a:t>] and a book about linguistics?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Grosu 1973, Oda 2021: CC and EC are distinct constraints and should be analyzed separately.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We will focus on (two recent analyses of) the CC today.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E7F5F-27DF-B94A-D9BA-64EFCA8F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1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E2ED-BD8E-5B82-BB5E-3E34CB9E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466B-89B5-6E7B-85FB-2E08C4AC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Category Transfer analysis (Zhang  2010)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7E3B5-52E6-FAC7-F5D4-1CA8B792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CC is further split into CCe and CCi:</a:t>
            </a:r>
          </a:p>
          <a:p>
            <a:r>
              <a:rPr lang="en-US" dirty="0"/>
              <a:t>Assuming the structure: [ C</a:t>
            </a:r>
            <a:r>
              <a:rPr lang="en-US" altLang="zh-CN" dirty="0"/>
              <a:t>e</a:t>
            </a:r>
            <a:r>
              <a:rPr lang="en-US" dirty="0"/>
              <a:t> [and C</a:t>
            </a:r>
            <a:r>
              <a:rPr lang="en-US" altLang="zh-CN" dirty="0"/>
              <a:t>i</a:t>
            </a:r>
            <a:r>
              <a:rPr lang="en-US" dirty="0"/>
              <a:t>]] </a:t>
            </a:r>
          </a:p>
          <a:p>
            <a:r>
              <a:rPr lang="en-US" dirty="0"/>
              <a:t>CCi: ban on movement of the second/internal conjunct</a:t>
            </a:r>
          </a:p>
          <a:p>
            <a:pPr marL="914400" lvl="1" indent="-457200">
              <a:buFont typeface="+mj-lt"/>
              <a:buAutoNum type="arabicParenR" startAt="3"/>
            </a:pPr>
            <a:r>
              <a:rPr lang="en-US" sz="2600" dirty="0"/>
              <a:t>*What did Mary buy [ a photo and ]?</a:t>
            </a:r>
          </a:p>
          <a:p>
            <a:pPr lvl="1"/>
            <a:r>
              <a:rPr lang="en-US" sz="2600" dirty="0"/>
              <a:t>Zhang: coordinators do not allow their complements to be moved or deleted.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There seems to be no exception to CCi. </a:t>
            </a:r>
          </a:p>
          <a:p>
            <a:r>
              <a:rPr lang="en-US" dirty="0"/>
              <a:t>CCe: ban on movement of the first/external conjunct </a:t>
            </a:r>
          </a:p>
          <a:p>
            <a:pPr marL="914400" lvl="1" indent="-457200">
              <a:buFont typeface="+mj-lt"/>
              <a:buAutoNum type="arabicParenR" startAt="4"/>
            </a:pPr>
            <a:r>
              <a:rPr lang="en-US" sz="2600" dirty="0"/>
              <a:t>*What did Mary buy [ and a book]?</a:t>
            </a:r>
          </a:p>
          <a:p>
            <a:pPr lvl="1"/>
            <a:r>
              <a:rPr lang="en-US" sz="2600" dirty="0"/>
              <a:t>Zhang: Category Transfer analysis based on CCe-violating movement in Mandarin.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1639D-C742-5CB2-6A0F-FAC0AFC56AD2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E7DFE-8390-0F2F-930D-F7FC2C2D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AA3D-5A12-5C3F-0E14-B307E63D3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1BF3-B9F7-A97F-B40F-63EC6E1E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Category Transfer analysis (Zhang  2010)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EAC2-9E2C-7723-9CBE-A836A33D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600" dirty="0"/>
              <a:t>Assumption:</a:t>
            </a:r>
            <a:r>
              <a:rPr lang="zh-CN" altLang="en-US" sz="2600" dirty="0"/>
              <a:t> </a:t>
            </a:r>
            <a:r>
              <a:rPr lang="en-US" sz="2600" dirty="0"/>
              <a:t>Any moved element must have categorial features. 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Coordinators like </a:t>
            </a:r>
            <a:r>
              <a:rPr lang="en-US" sz="2600" i="1" dirty="0"/>
              <a:t>and </a:t>
            </a:r>
            <a:r>
              <a:rPr lang="en-US" sz="2600" dirty="0"/>
              <a:t>in English can coordinate DPs, PPs, VPs, </a:t>
            </a:r>
            <a:r>
              <a:rPr lang="en-US" sz="2600" dirty="0" err="1"/>
              <a:t>etc</a:t>
            </a:r>
            <a:r>
              <a:rPr lang="en-US" sz="2600" dirty="0"/>
              <a:t>, indicating that they do not have categorial features. 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In this case, the external/first conjunct transfers its feature to the coordinator and becomes immobile. 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[C1</a:t>
            </a:r>
            <a:r>
              <a:rPr lang="en-US" sz="2600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[+N]</a:t>
            </a:r>
            <a:r>
              <a:rPr lang="en-US" sz="2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600" dirty="0"/>
              <a:t>and</a:t>
            </a:r>
            <a:r>
              <a:rPr lang="en-US" sz="2600" baseline="-25000" dirty="0">
                <a:solidFill>
                  <a:srgbClr val="FF0000"/>
                </a:solidFill>
              </a:rPr>
              <a:t>[∅]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C2</a:t>
            </a:r>
            <a:r>
              <a:rPr lang="en-US" sz="2600" baseline="-25000" dirty="0"/>
              <a:t> [+N]</a:t>
            </a:r>
            <a:r>
              <a:rPr lang="en-US" sz="2600" dirty="0"/>
              <a:t>] -&gt; [C1</a:t>
            </a:r>
            <a:r>
              <a:rPr lang="en-US" sz="2600" baseline="-25000" dirty="0">
                <a:solidFill>
                  <a:srgbClr val="FF0000"/>
                </a:solidFill>
              </a:rPr>
              <a:t> [∅]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and</a:t>
            </a:r>
            <a:r>
              <a:rPr lang="en-US" sz="2600" baseline="-25000" dirty="0"/>
              <a:t> </a:t>
            </a:r>
            <a:r>
              <a:rPr lang="en-US" sz="2600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[+N]</a:t>
            </a:r>
            <a:r>
              <a:rPr lang="en-US" sz="2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600" dirty="0"/>
              <a:t>C2</a:t>
            </a:r>
            <a:r>
              <a:rPr lang="en-US" sz="2600" baseline="-25000" dirty="0"/>
              <a:t> [+N]</a:t>
            </a:r>
            <a:r>
              <a:rPr lang="en-US" sz="2600" dirty="0"/>
              <a:t>]</a:t>
            </a:r>
            <a:r>
              <a:rPr lang="zh-CN" altLang="en-US" sz="2600" dirty="0"/>
              <a:t> </a:t>
            </a:r>
            <a:r>
              <a:rPr lang="en-US" altLang="zh-CN" sz="2600" dirty="0"/>
              <a:t>–&gt;</a:t>
            </a:r>
            <a:r>
              <a:rPr lang="zh-CN" altLang="en-US" sz="2600" dirty="0"/>
              <a:t> </a:t>
            </a:r>
            <a:r>
              <a:rPr lang="en-US" altLang="zh-CN" sz="2600" dirty="0"/>
              <a:t>C1</a:t>
            </a:r>
            <a:r>
              <a:rPr lang="en-US" sz="2600" baseline="-25000" dirty="0">
                <a:solidFill>
                  <a:srgbClr val="FF0000"/>
                </a:solidFill>
              </a:rPr>
              <a:t> [∅]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is</a:t>
            </a:r>
            <a:r>
              <a:rPr lang="zh-CN" altLang="en-US" sz="2600" dirty="0"/>
              <a:t> </a:t>
            </a:r>
            <a:r>
              <a:rPr lang="en-US" altLang="zh-CN" sz="2600" dirty="0"/>
              <a:t>immobile</a:t>
            </a:r>
          </a:p>
          <a:p>
            <a:pPr>
              <a:lnSpc>
                <a:spcPct val="100000"/>
              </a:lnSpc>
            </a:pP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36776-5143-C46F-6D55-FB124D54DCCC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89437-1E9E-18E9-9690-B2AB6DBC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0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8F230-85E9-ABF0-29BD-E1D810C6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6759-8DD3-DA79-FADC-8BD3EF37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Category Transfer analysis (Zhang  2010)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3015D-2464-2B80-3633-4A224F37C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Argument: </a:t>
            </a:r>
            <a:r>
              <a:rPr lang="en-US" sz="2000" i="1" dirty="0"/>
              <a:t>he/gen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Mandarin</a:t>
            </a:r>
            <a:r>
              <a:rPr lang="zh-CN" altLang="en-US" sz="2000" dirty="0"/>
              <a:t> </a:t>
            </a:r>
            <a:r>
              <a:rPr lang="en-US" altLang="zh-CN" sz="2000" dirty="0"/>
              <a:t>Chinese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only</a:t>
            </a:r>
            <a:r>
              <a:rPr lang="zh-CN" altLang="en-US" sz="2000" dirty="0"/>
              <a:t> </a:t>
            </a:r>
            <a:r>
              <a:rPr lang="en-US" altLang="zh-CN" sz="2000" dirty="0"/>
              <a:t>conjoin</a:t>
            </a:r>
            <a:r>
              <a:rPr lang="zh-CN" altLang="en-US" sz="2000" dirty="0"/>
              <a:t> </a:t>
            </a:r>
            <a:r>
              <a:rPr lang="en-US" altLang="zh-CN" sz="2000" dirty="0"/>
              <a:t>nominals,</a:t>
            </a:r>
            <a:r>
              <a:rPr lang="zh-CN" altLang="en-US" sz="2000" dirty="0"/>
              <a:t> </a:t>
            </a:r>
            <a:r>
              <a:rPr lang="en-US" altLang="zh-CN" sz="2000" dirty="0"/>
              <a:t>thus</a:t>
            </a:r>
            <a:r>
              <a:rPr lang="zh-CN" altLang="en-US" sz="2000" dirty="0"/>
              <a:t> </a:t>
            </a:r>
            <a:r>
              <a:rPr lang="en-US" altLang="zh-CN" sz="2000" dirty="0"/>
              <a:t>have</a:t>
            </a:r>
            <a:r>
              <a:rPr lang="zh-CN" altLang="en-US" sz="2000" dirty="0"/>
              <a:t> </a:t>
            </a:r>
            <a:r>
              <a:rPr lang="en-US" altLang="zh-CN" sz="2000" dirty="0"/>
              <a:t>their</a:t>
            </a:r>
            <a:r>
              <a:rPr lang="zh-CN" altLang="en-US" sz="2000" dirty="0"/>
              <a:t> </a:t>
            </a:r>
            <a:r>
              <a:rPr lang="en-US" altLang="zh-CN" sz="2000" dirty="0"/>
              <a:t>own</a:t>
            </a:r>
            <a:r>
              <a:rPr lang="zh-CN" altLang="en-US" sz="2000" dirty="0"/>
              <a:t> </a:t>
            </a:r>
            <a:r>
              <a:rPr lang="en-US" altLang="zh-CN" sz="2000" dirty="0"/>
              <a:t>categorial</a:t>
            </a:r>
            <a:r>
              <a:rPr lang="zh-CN" altLang="en-US" sz="2000" dirty="0"/>
              <a:t> </a:t>
            </a:r>
            <a:r>
              <a:rPr lang="en-US" altLang="zh-CN" sz="2000" dirty="0"/>
              <a:t>feature [+N].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C1</a:t>
            </a:r>
            <a:r>
              <a:rPr lang="zh-CN" altLang="en-US" sz="2000" dirty="0"/>
              <a:t> </a:t>
            </a:r>
            <a:r>
              <a:rPr lang="en-US" altLang="zh-CN" sz="2000" dirty="0"/>
              <a:t>retains</a:t>
            </a:r>
            <a:r>
              <a:rPr lang="zh-CN" altLang="en-US" sz="2000" dirty="0"/>
              <a:t> </a:t>
            </a:r>
            <a:r>
              <a:rPr lang="en-US" altLang="zh-CN" sz="2000" dirty="0"/>
              <a:t>its</a:t>
            </a:r>
            <a:r>
              <a:rPr lang="zh-CN" altLang="en-US" sz="2000" dirty="0"/>
              <a:t> </a:t>
            </a:r>
            <a:r>
              <a:rPr lang="en-US" altLang="zh-CN" sz="2000" dirty="0"/>
              <a:t>categorial</a:t>
            </a:r>
            <a:r>
              <a:rPr lang="zh-CN" altLang="en-US" sz="2000" dirty="0"/>
              <a:t> </a:t>
            </a:r>
            <a:r>
              <a:rPr lang="en-US" altLang="zh-CN" sz="2000" dirty="0"/>
              <a:t>feature</a:t>
            </a:r>
            <a:r>
              <a:rPr lang="zh-CN" altLang="en-US" sz="2000" dirty="0"/>
              <a:t> </a:t>
            </a:r>
            <a:r>
              <a:rPr lang="en-US" altLang="zh-CN" sz="2000" dirty="0"/>
              <a:t>thus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moved.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sentences</a:t>
            </a:r>
            <a:r>
              <a:rPr lang="zh-CN" altLang="en-US" sz="2000" dirty="0"/>
              <a:t> </a:t>
            </a:r>
            <a:r>
              <a:rPr lang="en-US" altLang="zh-CN" sz="2000" dirty="0"/>
              <a:t>below,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first</a:t>
            </a:r>
            <a:r>
              <a:rPr lang="zh-CN" altLang="en-US" sz="2000" dirty="0"/>
              <a:t> </a:t>
            </a:r>
            <a:r>
              <a:rPr lang="en-US" altLang="zh-CN" sz="2000" dirty="0"/>
              <a:t>conjunct</a:t>
            </a:r>
            <a:r>
              <a:rPr lang="zh-CN" altLang="en-US" sz="2000" dirty="0"/>
              <a:t> </a:t>
            </a:r>
            <a:r>
              <a:rPr lang="en-US" altLang="zh-CN" sz="2000" dirty="0"/>
              <a:t>moves</a:t>
            </a:r>
            <a:r>
              <a:rPr lang="zh-CN" altLang="en-US" sz="2000" dirty="0"/>
              <a:t> </a:t>
            </a:r>
            <a:r>
              <a:rPr lang="en-US" altLang="zh-CN" sz="2000" dirty="0"/>
              <a:t>out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conjunction.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arenR" startAt="5"/>
            </a:pPr>
            <a:r>
              <a:rPr lang="en-US" altLang="zh-CN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Huoche</a:t>
            </a:r>
            <a:r>
              <a:rPr lang="zh-CN" altLang="en-US" sz="2000" dirty="0"/>
              <a:t> </a:t>
            </a:r>
            <a:r>
              <a:rPr lang="en-US" altLang="zh-CN" sz="2000" dirty="0"/>
              <a:t>hui</a:t>
            </a:r>
            <a:r>
              <a:rPr lang="zh-CN" altLang="en-US" sz="2000" dirty="0"/>
              <a:t> </a:t>
            </a:r>
            <a:r>
              <a:rPr lang="en-US" altLang="zh-CN" sz="2000" dirty="0"/>
              <a:t>[ </a:t>
            </a:r>
            <a:r>
              <a:rPr lang="en-US" altLang="zh-CN" sz="20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CN" sz="2000" dirty="0"/>
              <a:t> gen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qiche</a:t>
            </a:r>
            <a:r>
              <a:rPr lang="en-US" altLang="zh-CN" sz="2000" dirty="0"/>
              <a:t>] </a:t>
            </a:r>
            <a:r>
              <a:rPr lang="zh-CN" altLang="en-US" sz="2000" dirty="0"/>
              <a:t> </a:t>
            </a:r>
            <a:r>
              <a:rPr lang="en-US" altLang="zh-CN" sz="2000" dirty="0" err="1"/>
              <a:t>xiangzhuang</a:t>
            </a:r>
            <a:r>
              <a:rPr lang="zh-CN" altLang="en-US" sz="2000" dirty="0"/>
              <a:t> </a:t>
            </a:r>
            <a:r>
              <a:rPr lang="en-US" altLang="zh-CN" sz="2000" dirty="0"/>
              <a:t>	ma?</a:t>
            </a:r>
            <a:r>
              <a:rPr lang="zh-CN" altLang="en-US" sz="2000" dirty="0"/>
              <a:t> </a:t>
            </a:r>
            <a:r>
              <a:rPr lang="en-US" altLang="zh-CN" sz="2000" dirty="0"/>
              <a:t>	(Zhang</a:t>
            </a:r>
            <a:r>
              <a:rPr lang="zh-CN" altLang="en-US" sz="2000" dirty="0"/>
              <a:t> </a:t>
            </a:r>
            <a:r>
              <a:rPr lang="en-US" altLang="zh-CN" sz="2000" dirty="0"/>
              <a:t>2010,</a:t>
            </a:r>
            <a:r>
              <a:rPr lang="zh-CN" altLang="en-US" sz="2000" dirty="0"/>
              <a:t> </a:t>
            </a:r>
            <a:r>
              <a:rPr lang="en-US" altLang="zh-CN" sz="2000" dirty="0"/>
              <a:t>ex.</a:t>
            </a:r>
            <a:r>
              <a:rPr lang="zh-CN" altLang="en-US" sz="2000" dirty="0"/>
              <a:t> </a:t>
            </a:r>
            <a:r>
              <a:rPr lang="en-US" altLang="zh-CN" sz="2000" dirty="0"/>
              <a:t>85a)</a:t>
            </a:r>
            <a:br>
              <a:rPr lang="en-US" altLang="zh-CN" sz="2000" dirty="0"/>
            </a:br>
            <a:r>
              <a:rPr lang="zh-CN" altLang="en-US" sz="2000" dirty="0"/>
              <a:t>火車</a:t>
            </a:r>
            <a:r>
              <a:rPr lang="en-US" altLang="zh-CN" sz="2000" dirty="0"/>
              <a:t>	</a:t>
            </a:r>
            <a:r>
              <a:rPr lang="zh-CN" altLang="en-US" sz="2000" dirty="0"/>
              <a:t>會        跟汽車</a:t>
            </a:r>
            <a:r>
              <a:rPr lang="en-US" altLang="zh-CN" sz="2000" dirty="0"/>
              <a:t>	</a:t>
            </a:r>
            <a:r>
              <a:rPr lang="zh-CN" altLang="en-US" sz="2000" dirty="0"/>
              <a:t>相撞</a:t>
            </a:r>
            <a:r>
              <a:rPr lang="en-US" altLang="zh-CN" sz="2000" dirty="0"/>
              <a:t>		</a:t>
            </a:r>
            <a:r>
              <a:rPr lang="zh-CN" altLang="en-US" sz="2000" dirty="0"/>
              <a:t>嗎？</a:t>
            </a:r>
            <a:br>
              <a:rPr lang="en-US" altLang="zh-CN" sz="2000" dirty="0"/>
            </a:br>
            <a:r>
              <a:rPr lang="en-US" altLang="zh-CN" sz="2000" dirty="0"/>
              <a:t>train 	will [ </a:t>
            </a:r>
            <a:r>
              <a:rPr lang="en-US" altLang="zh-CN" sz="2000" i="1" dirty="0"/>
              <a:t>t </a:t>
            </a:r>
            <a:r>
              <a:rPr lang="en-US" altLang="zh-CN" sz="2000" dirty="0"/>
              <a:t>and car] 	 collide 		Q	‘Will the train and the car collide?’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arenR" startAt="5"/>
            </a:pPr>
            <a:r>
              <a:rPr lang="en-US" altLang="zh-CN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Akiu</a:t>
            </a:r>
            <a:r>
              <a:rPr lang="zh-CN" altLang="en-US" sz="2000" dirty="0"/>
              <a:t> </a:t>
            </a:r>
            <a:r>
              <a:rPr lang="en-US" altLang="zh-CN" sz="2000" dirty="0" err="1"/>
              <a:t>zai</a:t>
            </a:r>
            <a:r>
              <a:rPr lang="zh-CN" altLang="en-US" sz="2000" dirty="0"/>
              <a:t> </a:t>
            </a:r>
            <a:r>
              <a:rPr lang="en-US" altLang="zh-CN" sz="2000" dirty="0" err="1"/>
              <a:t>Riben</a:t>
            </a:r>
            <a:r>
              <a:rPr lang="zh-CN" altLang="en-US" sz="2000" dirty="0"/>
              <a:t> </a:t>
            </a:r>
            <a:r>
              <a:rPr lang="en-US" altLang="zh-CN" sz="2000" dirty="0"/>
              <a:t>	[ </a:t>
            </a:r>
            <a:r>
              <a:rPr lang="en-US" altLang="zh-CN" sz="20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</a:t>
            </a:r>
            <a:r>
              <a:rPr lang="zh-CN" altLang="en-US" sz="2000" i="1" dirty="0"/>
              <a:t> </a:t>
            </a:r>
            <a:r>
              <a:rPr lang="en-US" altLang="zh-CN" sz="2000" dirty="0"/>
              <a:t>gen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]</a:t>
            </a:r>
            <a:r>
              <a:rPr lang="zh-CN" altLang="en-US" sz="2000" dirty="0"/>
              <a:t> </a:t>
            </a:r>
            <a:r>
              <a:rPr lang="en-US" altLang="zh-CN" sz="2000" dirty="0"/>
              <a:t>	</a:t>
            </a:r>
            <a:r>
              <a:rPr lang="en-US" altLang="zh-CN" sz="2000" dirty="0" err="1"/>
              <a:t>jian</a:t>
            </a:r>
            <a:r>
              <a:rPr lang="en-US" altLang="zh-CN" sz="2000" dirty="0"/>
              <a:t>-le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mian</a:t>
            </a:r>
            <a:r>
              <a:rPr lang="en-US" altLang="zh-CN" sz="2000" dirty="0"/>
              <a:t>.</a:t>
            </a:r>
            <a:r>
              <a:rPr lang="zh-CN" altLang="en-US" sz="2000" dirty="0"/>
              <a:t> </a:t>
            </a:r>
            <a:r>
              <a:rPr lang="en-US" altLang="zh-CN" sz="2000" dirty="0"/>
              <a:t>	(Zhang</a:t>
            </a:r>
            <a:r>
              <a:rPr lang="zh-CN" altLang="en-US" sz="2000" dirty="0"/>
              <a:t> </a:t>
            </a:r>
            <a:r>
              <a:rPr lang="en-US" altLang="zh-CN" sz="2000" dirty="0"/>
              <a:t>2010,</a:t>
            </a:r>
            <a:r>
              <a:rPr lang="zh-CN" altLang="en-US" sz="2000" dirty="0"/>
              <a:t> </a:t>
            </a:r>
            <a:r>
              <a:rPr lang="en-US" altLang="zh-CN" sz="2000" dirty="0"/>
              <a:t>ex.</a:t>
            </a:r>
            <a:r>
              <a:rPr lang="zh-CN" altLang="en-US" sz="2000" dirty="0"/>
              <a:t> </a:t>
            </a:r>
            <a:r>
              <a:rPr lang="en-US" altLang="zh-CN" sz="2000" dirty="0"/>
              <a:t>90b)</a:t>
            </a:r>
            <a:br>
              <a:rPr lang="en-US" altLang="zh-CN" sz="2000" dirty="0"/>
            </a:br>
            <a:r>
              <a:rPr lang="zh-CN" altLang="en-US" sz="2000" dirty="0"/>
              <a:t>阿</a:t>
            </a:r>
            <a:r>
              <a:rPr lang="en-US" altLang="zh-CN" sz="2000" dirty="0"/>
              <a:t>Q</a:t>
            </a:r>
            <a:r>
              <a:rPr lang="zh-CN" altLang="en-US" sz="2000" dirty="0"/>
              <a:t>在日本</a:t>
            </a:r>
            <a:r>
              <a:rPr lang="en-US" altLang="zh-CN" sz="2000" dirty="0"/>
              <a:t>	</a:t>
            </a:r>
            <a:r>
              <a:rPr lang="zh-CN" altLang="en-US" sz="2000" dirty="0"/>
              <a:t>     跟 寶玉</a:t>
            </a:r>
            <a:r>
              <a:rPr lang="en-US" altLang="zh-CN" sz="2000" dirty="0"/>
              <a:t>	</a:t>
            </a:r>
            <a:r>
              <a:rPr lang="zh-CN" altLang="en-US" sz="2000" dirty="0"/>
              <a:t>見了面</a:t>
            </a:r>
            <a:br>
              <a:rPr lang="en-US" altLang="zh-CN" sz="2000" dirty="0"/>
            </a:br>
            <a:r>
              <a:rPr lang="en-US" altLang="zh-CN" sz="2000" dirty="0"/>
              <a:t>Akiu in Japan [t and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] meet-LE face 	 ‘Akiu and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 met up in Japan.’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Prediction:</a:t>
            </a:r>
            <a:r>
              <a:rPr lang="zh-CN" altLang="en-US" sz="2000" dirty="0"/>
              <a:t> </a:t>
            </a:r>
            <a:r>
              <a:rPr lang="en-US" altLang="zh-CN" sz="2000" dirty="0"/>
              <a:t>CC-violating</a:t>
            </a:r>
            <a:r>
              <a:rPr lang="zh-CN" altLang="en-US" sz="2000" dirty="0"/>
              <a:t> </a:t>
            </a:r>
            <a:r>
              <a:rPr lang="en-US" altLang="zh-CN" sz="2000" dirty="0"/>
              <a:t>movement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C1 is possible </a:t>
            </a:r>
            <a:r>
              <a:rPr lang="en-US" altLang="zh-CN" sz="2000" b="1" dirty="0"/>
              <a:t>only</a:t>
            </a:r>
            <a:r>
              <a:rPr lang="en-US" altLang="zh-CN" sz="2000" dirty="0"/>
              <a:t> for coordinators with categorial features.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Note</a:t>
            </a:r>
            <a:r>
              <a:rPr lang="zh-CN" altLang="en-US" sz="2000" dirty="0"/>
              <a:t> </a:t>
            </a:r>
            <a:r>
              <a:rPr lang="en-US" altLang="zh-CN" sz="2000" dirty="0"/>
              <a:t>that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categorial</a:t>
            </a:r>
            <a:r>
              <a:rPr lang="zh-CN" altLang="en-US" sz="2000" dirty="0"/>
              <a:t> </a:t>
            </a:r>
            <a:r>
              <a:rPr lang="en-US" altLang="zh-CN" sz="2000" dirty="0"/>
              <a:t>feature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coordinator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necessary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satisfactory</a:t>
            </a:r>
            <a:r>
              <a:rPr lang="zh-CN" altLang="en-US" sz="2000" dirty="0"/>
              <a:t> </a:t>
            </a:r>
            <a:r>
              <a:rPr lang="en-US" altLang="zh-CN" sz="2000" dirty="0"/>
              <a:t>condition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CC-violating</a:t>
            </a:r>
            <a:r>
              <a:rPr lang="zh-CN" altLang="en-US" sz="2000" dirty="0"/>
              <a:t> </a:t>
            </a:r>
            <a:r>
              <a:rPr lang="en-US" altLang="zh-CN" sz="2000" dirty="0"/>
              <a:t>movement.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9755E-11E3-5312-F43E-5331FB51571E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3886C-B0CE-70A5-CE07-520CA3BE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FB8C-B1E7-8909-33BC-BAE92670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BC28-332B-B784-F858-145245D5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Parallelism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5298B-7CD7-CFA8-944C-62DAADDCC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/>
              <a:t>Fortuny</a:t>
            </a:r>
            <a:r>
              <a:rPr lang="zh-CN" altLang="en-US" sz="2000" dirty="0"/>
              <a:t> </a:t>
            </a:r>
            <a:r>
              <a:rPr lang="en-US" altLang="zh-CN" sz="2000" dirty="0"/>
              <a:t>2024</a:t>
            </a:r>
            <a:r>
              <a:rPr lang="zh-CN" altLang="en-US" sz="2000" dirty="0"/>
              <a:t> </a:t>
            </a:r>
            <a:r>
              <a:rPr lang="en-US" altLang="zh-CN" sz="2000" dirty="0"/>
              <a:t>(cf.</a:t>
            </a:r>
            <a:r>
              <a:rPr lang="zh-CN" altLang="en-US" sz="2000" dirty="0"/>
              <a:t> </a:t>
            </a:r>
            <a:r>
              <a:rPr lang="en-US" altLang="zh-CN" sz="2000" dirty="0"/>
              <a:t>Napoli</a:t>
            </a:r>
            <a:r>
              <a:rPr lang="zh-CN" altLang="en-US" sz="2000" dirty="0"/>
              <a:t> </a:t>
            </a:r>
            <a:r>
              <a:rPr lang="en-US" altLang="zh-CN" sz="2000" dirty="0"/>
              <a:t>1993)</a:t>
            </a:r>
            <a:r>
              <a:rPr lang="zh-CN" altLang="en-US" sz="2000" dirty="0"/>
              <a:t> </a:t>
            </a:r>
            <a:r>
              <a:rPr lang="en-US" altLang="zh-CN" sz="2000" dirty="0"/>
              <a:t>proposes: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Parallelism</a:t>
            </a:r>
            <a:r>
              <a:rPr lang="zh-CN" altLang="en-US" sz="2000" dirty="0"/>
              <a:t> </a:t>
            </a:r>
            <a:r>
              <a:rPr lang="en-US" altLang="zh-CN" sz="2000" dirty="0"/>
              <a:t>Requirement:</a:t>
            </a:r>
            <a:r>
              <a:rPr lang="zh-CN" altLang="en-US" sz="2000" dirty="0"/>
              <a:t> </a:t>
            </a:r>
            <a:r>
              <a:rPr lang="en-US" altLang="zh-CN" sz="2000" dirty="0"/>
              <a:t>Two syntactic constituents can be coordinated if and only if the categorial features are identical.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Fortuny</a:t>
            </a:r>
            <a:r>
              <a:rPr lang="zh-CN" altLang="en-US" sz="2000" dirty="0"/>
              <a:t> </a:t>
            </a:r>
            <a:r>
              <a:rPr lang="en-US" altLang="zh-CN" sz="2000" dirty="0"/>
              <a:t>proposes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generalized</a:t>
            </a:r>
            <a:r>
              <a:rPr lang="zh-CN" altLang="en-US" sz="2000" dirty="0"/>
              <a:t> </a:t>
            </a:r>
            <a:r>
              <a:rPr lang="en-US" altLang="zh-CN" sz="2000" dirty="0"/>
              <a:t>categorial</a:t>
            </a:r>
            <a:r>
              <a:rPr lang="zh-CN" altLang="en-US" sz="2000" dirty="0"/>
              <a:t> </a:t>
            </a:r>
            <a:r>
              <a:rPr lang="en-US" altLang="zh-CN" sz="2000" dirty="0"/>
              <a:t>feature</a:t>
            </a:r>
            <a:r>
              <a:rPr lang="zh-CN" altLang="en-US" sz="2000" dirty="0"/>
              <a:t> </a:t>
            </a:r>
            <a:r>
              <a:rPr lang="en-US" altLang="zh-CN" sz="2000" dirty="0"/>
              <a:t>system</a:t>
            </a:r>
            <a:r>
              <a:rPr lang="zh-CN" altLang="en-US" sz="2000" dirty="0"/>
              <a:t> </a:t>
            </a:r>
            <a:r>
              <a:rPr lang="en-US" altLang="zh-CN" sz="2000" dirty="0"/>
              <a:t>where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 err="1"/>
              <a:t>Foc</a:t>
            </a:r>
            <a:r>
              <a:rPr lang="en-US" altLang="zh-CN" sz="2000" dirty="0"/>
              <a:t>],</a:t>
            </a:r>
            <a:r>
              <a:rPr lang="zh-CN" altLang="en-US" sz="2000" dirty="0"/>
              <a:t> </a:t>
            </a:r>
            <a:r>
              <a:rPr lang="en-US" altLang="zh-CN" sz="2000" dirty="0"/>
              <a:t>[Rel],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 err="1"/>
              <a:t>Wh</a:t>
            </a:r>
            <a:r>
              <a:rPr lang="en-US" altLang="zh-CN" sz="2000" dirty="0"/>
              <a:t>]</a:t>
            </a:r>
            <a:r>
              <a:rPr lang="zh-CN" altLang="en-US" sz="2000" dirty="0"/>
              <a:t> </a:t>
            </a:r>
            <a:r>
              <a:rPr lang="en-US" altLang="zh-CN" sz="2000" dirty="0"/>
              <a:t>(but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phi</a:t>
            </a:r>
            <a:r>
              <a:rPr lang="zh-CN" altLang="en-US" sz="2000" dirty="0"/>
              <a:t> </a:t>
            </a:r>
            <a:r>
              <a:rPr lang="en-US" altLang="zh-CN" sz="2000" dirty="0"/>
              <a:t>features)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categorial</a:t>
            </a:r>
            <a:r>
              <a:rPr lang="zh-CN" altLang="en-US" sz="2000" dirty="0"/>
              <a:t> </a:t>
            </a:r>
            <a:r>
              <a:rPr lang="en-US" altLang="zh-CN" sz="2000" dirty="0"/>
              <a:t>features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The Requirement can account for CCe as the conjuncts would have different </a:t>
            </a:r>
            <a:r>
              <a:rPr lang="en-US" altLang="zh-CN" sz="2000" dirty="0" err="1"/>
              <a:t>wh</a:t>
            </a:r>
            <a:r>
              <a:rPr lang="en-US" altLang="zh-CN" sz="2000" dirty="0"/>
              <a:t>-features: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arenR" startAt="7"/>
            </a:pPr>
            <a:r>
              <a:rPr lang="zh-CN" altLang="en-US" sz="2000" dirty="0"/>
              <a:t>*</a:t>
            </a:r>
            <a:r>
              <a:rPr lang="en-US" altLang="zh-CN" sz="2000" dirty="0"/>
              <a:t>What</a:t>
            </a:r>
            <a:r>
              <a:rPr lang="zh-CN" altLang="en-US" sz="2000" dirty="0"/>
              <a:t> </a:t>
            </a:r>
            <a:r>
              <a:rPr lang="en-US" altLang="zh-CN" sz="2000" dirty="0"/>
              <a:t>did</a:t>
            </a:r>
            <a:r>
              <a:rPr lang="zh-CN" altLang="en-US" sz="2000" dirty="0"/>
              <a:t> </a:t>
            </a:r>
            <a:r>
              <a:rPr lang="en-US" altLang="zh-CN" sz="2000" dirty="0"/>
              <a:t>Mary</a:t>
            </a:r>
            <a:r>
              <a:rPr lang="zh-CN" altLang="en-US" sz="2000" dirty="0"/>
              <a:t> </a:t>
            </a:r>
            <a:r>
              <a:rPr lang="en-US" altLang="zh-CN" sz="2000" dirty="0"/>
              <a:t>buy</a:t>
            </a:r>
            <a:r>
              <a:rPr lang="zh-CN" altLang="en-US" sz="2000" dirty="0"/>
              <a:t> </a:t>
            </a:r>
            <a:r>
              <a:rPr lang="en-US" altLang="zh-CN" sz="2000" dirty="0"/>
              <a:t>[ </a:t>
            </a:r>
            <a:r>
              <a:rPr lang="en-US" altLang="zh-CN" sz="2000" i="1" dirty="0"/>
              <a:t>t</a:t>
            </a:r>
            <a:r>
              <a:rPr lang="en-US" altLang="zh-CN" sz="2000" dirty="0"/>
              <a:t> and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photo</a:t>
            </a:r>
            <a:r>
              <a:rPr lang="zh-CN" altLang="en-US" sz="2000" dirty="0"/>
              <a:t> </a:t>
            </a:r>
            <a:r>
              <a:rPr lang="en-US" altLang="zh-CN" sz="2000" dirty="0"/>
              <a:t>]?</a:t>
            </a:r>
            <a:br>
              <a:rPr lang="en-US" altLang="zh-CN" sz="2000" dirty="0"/>
            </a:br>
            <a:r>
              <a:rPr lang="zh-CN" altLang="en-US" sz="2000" dirty="0"/>
              <a:t>  </a:t>
            </a:r>
            <a:r>
              <a:rPr lang="en-US" altLang="zh-CN" sz="2000" dirty="0"/>
              <a:t>did</a:t>
            </a:r>
            <a:r>
              <a:rPr lang="zh-CN" altLang="en-US" sz="2000" dirty="0"/>
              <a:t> </a:t>
            </a:r>
            <a:r>
              <a:rPr lang="en-US" altLang="zh-CN" sz="2000" dirty="0"/>
              <a:t>Mary buy [what</a:t>
            </a:r>
            <a:r>
              <a:rPr lang="en-US" altLang="zh-CN" sz="2000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[+</a:t>
            </a:r>
            <a:r>
              <a:rPr lang="en-US" altLang="zh-CN" sz="2000" baseline="-25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wh</a:t>
            </a:r>
            <a:r>
              <a:rPr lang="en-US" altLang="zh-CN" sz="2000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]</a:t>
            </a:r>
            <a:r>
              <a:rPr lang="en-US" altLang="zh-CN" sz="2000" dirty="0"/>
              <a:t> and</a:t>
            </a:r>
            <a:r>
              <a:rPr lang="zh-CN" altLang="en-US" sz="2000" dirty="0"/>
              <a:t> </a:t>
            </a:r>
            <a:r>
              <a:rPr lang="en-US" altLang="zh-CN" sz="2000" dirty="0"/>
              <a:t>a photo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[-</a:t>
            </a:r>
            <a:r>
              <a:rPr lang="en-US" altLang="zh-CN" sz="2000" baseline="-25000" dirty="0" err="1">
                <a:solidFill>
                  <a:srgbClr val="FF0000"/>
                </a:solidFill>
              </a:rPr>
              <a:t>wh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]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]?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Sidenote: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one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difficulty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for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parallelism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requirement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approach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is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ruling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out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‘What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did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Mary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buy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[</a:t>
            </a:r>
            <a:r>
              <a:rPr lang="en-US" altLang="zh-CN" sz="2000" i="1" dirty="0">
                <a:solidFill>
                  <a:schemeClr val="bg1"/>
                </a:solidFill>
              </a:rPr>
              <a:t>t</a:t>
            </a:r>
            <a:r>
              <a:rPr lang="zh-CN" altLang="en-US" sz="2000" i="1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and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</a:rPr>
              <a:t>t</a:t>
            </a:r>
            <a:r>
              <a:rPr lang="en-US" altLang="zh-CN" sz="2000" dirty="0">
                <a:solidFill>
                  <a:schemeClr val="bg1"/>
                </a:solidFill>
              </a:rPr>
              <a:t>]?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Fortuny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2024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proposes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</a:rPr>
              <a:t>Prohibition</a:t>
            </a:r>
            <a:r>
              <a:rPr lang="zh-CN" altLang="en-US" sz="2000" i="1" dirty="0">
                <a:solidFill>
                  <a:schemeClr val="bg1"/>
                </a:solidFill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</a:rPr>
              <a:t>against</a:t>
            </a:r>
            <a:r>
              <a:rPr lang="zh-CN" altLang="en-US" sz="2000" i="1" dirty="0">
                <a:solidFill>
                  <a:schemeClr val="bg1"/>
                </a:solidFill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</a:rPr>
              <a:t>self</a:t>
            </a:r>
            <a:r>
              <a:rPr lang="zh-CN" altLang="en-US" sz="2000" i="1" dirty="0">
                <a:solidFill>
                  <a:schemeClr val="bg1"/>
                </a:solidFill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</a:rPr>
              <a:t>coordination</a:t>
            </a:r>
            <a:r>
              <a:rPr lang="zh-CN" altLang="en-US" sz="2000" i="1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and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i="1" dirty="0">
                <a:solidFill>
                  <a:schemeClr val="bg1"/>
                </a:solidFill>
              </a:rPr>
              <a:t>the Integrity Condition on Coordinate Structures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chemeClr val="bg1"/>
                </a:solidFill>
              </a:rPr>
              <a:t>But Zhang 2010’s treatment of CCi could do the job as well.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02271-19E1-95A8-98CA-E7D2A5D4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3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7FA8-B74F-C22E-06FD-6E558EC5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CF8F-AD3D-432C-0F56-3DE551C3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Parallelism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6AF0-423E-424E-4F60-AA7A28A2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dirty="0"/>
              <a:t>Although</a:t>
            </a:r>
            <a:r>
              <a:rPr lang="zh-CN" altLang="en-US" sz="2600" dirty="0"/>
              <a:t> </a:t>
            </a:r>
            <a:r>
              <a:rPr lang="en-US" altLang="zh-CN" sz="2600" dirty="0"/>
              <a:t>Fortuny</a:t>
            </a:r>
            <a:r>
              <a:rPr lang="zh-CN" altLang="en-US" sz="2600" dirty="0"/>
              <a:t> </a:t>
            </a:r>
            <a:r>
              <a:rPr lang="en-US" altLang="zh-CN" sz="2600" dirty="0"/>
              <a:t>did</a:t>
            </a:r>
            <a:r>
              <a:rPr lang="zh-CN" altLang="en-US" sz="2600" dirty="0"/>
              <a:t> </a:t>
            </a:r>
            <a:r>
              <a:rPr lang="en-US" altLang="zh-CN" sz="2600" dirty="0"/>
              <a:t>not</a:t>
            </a:r>
            <a:r>
              <a:rPr lang="zh-CN" altLang="en-US" sz="2600" dirty="0"/>
              <a:t> </a:t>
            </a:r>
            <a:r>
              <a:rPr lang="en-US" altLang="zh-CN" sz="2600" dirty="0"/>
              <a:t>discuss</a:t>
            </a:r>
            <a:r>
              <a:rPr lang="zh-CN" altLang="en-US" sz="2600" dirty="0"/>
              <a:t> </a:t>
            </a:r>
            <a:r>
              <a:rPr lang="en-US" altLang="zh-CN" sz="2600" dirty="0"/>
              <a:t>CC-violating</a:t>
            </a:r>
            <a:r>
              <a:rPr lang="zh-CN" altLang="en-US" sz="2600" dirty="0"/>
              <a:t> </a:t>
            </a:r>
            <a:r>
              <a:rPr lang="en-US" altLang="zh-CN" sz="2600" dirty="0"/>
              <a:t>movement,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analysis</a:t>
            </a:r>
            <a:r>
              <a:rPr lang="zh-CN" altLang="en-US" sz="2600" dirty="0"/>
              <a:t> </a:t>
            </a:r>
            <a:r>
              <a:rPr lang="en-US" altLang="zh-CN" sz="2600" dirty="0"/>
              <a:t>predicts:</a:t>
            </a:r>
          </a:p>
          <a:p>
            <a:r>
              <a:rPr lang="en-US" altLang="zh-CN" sz="2600" dirty="0"/>
              <a:t>CC-violating movement cannot be a movement that target any features.</a:t>
            </a:r>
          </a:p>
          <a:p>
            <a:r>
              <a:rPr lang="en-US" altLang="zh-CN" sz="2600" dirty="0"/>
              <a:t>The Parallelism Requirement is also a necessary condition.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2DE27-3B8D-5C25-931D-6BACC86A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2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273D-2894-99E6-A05D-60CDF779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C854-56C6-109E-3F41-B8621B3F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65123-98DD-49F3-1636-B2F81D840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dirty="0"/>
              <a:t>The Category Transfer analysis predicts </a:t>
            </a:r>
            <a:r>
              <a:rPr lang="en-US" altLang="zh-CN" sz="2600" b="1" dirty="0"/>
              <a:t>only coordinators without category restrictions </a:t>
            </a:r>
            <a:r>
              <a:rPr lang="en-US" altLang="zh-CN" sz="2600" dirty="0"/>
              <a:t>can</a:t>
            </a:r>
            <a:r>
              <a:rPr lang="zh-CN" altLang="en-US" sz="2600" dirty="0"/>
              <a:t> </a:t>
            </a:r>
            <a:r>
              <a:rPr lang="en-US" altLang="zh-CN" sz="2600" dirty="0"/>
              <a:t>allow CC-violating movement. </a:t>
            </a:r>
          </a:p>
          <a:p>
            <a:endParaRPr lang="en-US" altLang="zh-CN" sz="2600" dirty="0"/>
          </a:p>
          <a:p>
            <a:r>
              <a:rPr lang="en-US" altLang="zh-CN" sz="2600" dirty="0"/>
              <a:t>The Parallelism Requirement analysis predicts </a:t>
            </a:r>
            <a:r>
              <a:rPr lang="en-US" altLang="zh-CN" sz="2600" b="1" dirty="0"/>
              <a:t>only movement that does not target features </a:t>
            </a:r>
            <a:r>
              <a:rPr lang="en-US" altLang="zh-CN" sz="2600" dirty="0"/>
              <a:t>can</a:t>
            </a:r>
            <a:r>
              <a:rPr lang="zh-CN" altLang="en-US" sz="2600" dirty="0"/>
              <a:t> </a:t>
            </a:r>
            <a:r>
              <a:rPr lang="en-US" altLang="zh-CN" sz="2600" dirty="0"/>
              <a:t>allow CC-violating movement.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F875A-FF2F-A1DA-3CA8-BF26F831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5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2287-DC70-B4C5-FA36-088FA459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CC-violating</a:t>
            </a:r>
            <a:r>
              <a:rPr lang="zh-CN" altLang="en-US" sz="3600" dirty="0"/>
              <a:t> </a:t>
            </a:r>
            <a:r>
              <a:rPr lang="en-US" altLang="zh-CN" sz="3600" dirty="0"/>
              <a:t>movement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BCMS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0E579-DF8E-37B5-31EE-28D47356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Bosnian-Croatian-Montenegrin-Serbian (thereinafter BCMS)</a:t>
            </a:r>
            <a:r>
              <a:rPr lang="zh-CN" altLang="en-US" sz="2400" dirty="0"/>
              <a:t> </a:t>
            </a:r>
            <a:r>
              <a:rPr lang="en-US" altLang="zh-CN" sz="2400" dirty="0"/>
              <a:t>allows</a:t>
            </a:r>
            <a:r>
              <a:rPr lang="zh-CN" altLang="en-US" sz="2400" dirty="0"/>
              <a:t> </a:t>
            </a:r>
            <a:r>
              <a:rPr lang="en-US" altLang="zh-CN" sz="2400" dirty="0"/>
              <a:t>CC-violating</a:t>
            </a:r>
            <a:r>
              <a:rPr lang="zh-CN" altLang="en-US" sz="2400" dirty="0"/>
              <a:t> </a:t>
            </a:r>
            <a:r>
              <a:rPr lang="en-US" altLang="zh-CN" sz="2400" dirty="0"/>
              <a:t>movement.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457200" indent="-457200">
              <a:buFont typeface="+mj-lt"/>
              <a:buAutoNum type="arabicParenR" startAt="8"/>
            </a:pPr>
            <a:r>
              <a:rPr lang="en-US" altLang="zh-CN" sz="2400" dirty="0"/>
              <a:t>?</a:t>
            </a:r>
            <a:r>
              <a:rPr lang="en-US" altLang="zh-CN" sz="2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Knjige</a:t>
            </a:r>
            <a:r>
              <a:rPr lang="zh-CN" altLang="en-US" sz="2400" dirty="0"/>
              <a:t> </a:t>
            </a:r>
            <a:r>
              <a:rPr lang="en-US" altLang="zh-CN" sz="2400" dirty="0"/>
              <a:t>je Marko [ </a:t>
            </a:r>
            <a:r>
              <a:rPr lang="en-US" altLang="zh-CN" sz="24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</a:t>
            </a:r>
            <a:r>
              <a:rPr lang="zh-CN" altLang="en-US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filmove</a:t>
            </a:r>
            <a:r>
              <a:rPr lang="en-US" altLang="zh-CN" sz="2400" dirty="0"/>
              <a:t>] </a:t>
            </a:r>
            <a:r>
              <a:rPr lang="en-US" altLang="zh-CN" sz="2400" dirty="0" err="1"/>
              <a:t>kupio</a:t>
            </a:r>
            <a:r>
              <a:rPr lang="en-US" altLang="zh-CN" sz="2400" dirty="0"/>
              <a:t>.</a:t>
            </a:r>
            <a:r>
              <a:rPr lang="zh-CN" altLang="en-US" sz="2400" dirty="0"/>
              <a:t> </a:t>
            </a:r>
            <a:br>
              <a:rPr lang="en-US" altLang="zh-CN" sz="2400" dirty="0"/>
            </a:br>
            <a:r>
              <a:rPr lang="en-US" altLang="zh-CN" sz="2400" dirty="0"/>
              <a:t>Books</a:t>
            </a:r>
            <a:r>
              <a:rPr lang="zh-CN" altLang="en-US" sz="2400" dirty="0"/>
              <a:t>  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Marko</a:t>
            </a:r>
            <a:r>
              <a:rPr lang="zh-CN" altLang="en-US" sz="2400" dirty="0"/>
              <a:t> </a:t>
            </a:r>
            <a:r>
              <a:rPr lang="en-US" altLang="zh-CN" sz="2400" dirty="0"/>
              <a:t>[</a:t>
            </a:r>
            <a:r>
              <a:rPr lang="zh-CN" altLang="en-US" sz="2400" dirty="0"/>
              <a:t> </a:t>
            </a:r>
            <a:r>
              <a:rPr lang="en-US" altLang="zh-CN" sz="2400" i="1" dirty="0"/>
              <a:t>t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movies]</a:t>
            </a:r>
            <a:r>
              <a:rPr lang="zh-CN" altLang="en-US" sz="2400" dirty="0"/>
              <a:t> </a:t>
            </a:r>
            <a:r>
              <a:rPr lang="en-US" altLang="zh-CN" sz="2400" dirty="0"/>
              <a:t>bought</a:t>
            </a:r>
            <a:r>
              <a:rPr lang="zh-CN" altLang="en-US" sz="2400" dirty="0"/>
              <a:t> </a:t>
            </a:r>
            <a:br>
              <a:rPr lang="en-US" altLang="zh-CN" sz="2400" dirty="0"/>
            </a:br>
            <a:r>
              <a:rPr lang="en-US" altLang="zh-CN" sz="2400" dirty="0"/>
              <a:t>‘Marko</a:t>
            </a:r>
            <a:r>
              <a:rPr lang="zh-CN" altLang="en-US" sz="2400" dirty="0"/>
              <a:t> </a:t>
            </a:r>
            <a:r>
              <a:rPr lang="en-US" altLang="zh-CN" sz="2400" dirty="0"/>
              <a:t>bought</a:t>
            </a:r>
            <a:r>
              <a:rPr lang="zh-CN" altLang="en-US" sz="2400" dirty="0"/>
              <a:t> </a:t>
            </a:r>
            <a:r>
              <a:rPr lang="en-US" altLang="zh-CN" sz="2400" dirty="0"/>
              <a:t>books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movies.’</a:t>
            </a:r>
            <a:r>
              <a:rPr lang="zh-CN" altLang="en-US" sz="2400" dirty="0"/>
              <a:t> </a:t>
            </a:r>
            <a:r>
              <a:rPr lang="en-US" altLang="zh-CN" sz="2400" dirty="0"/>
              <a:t>(Boskovic 2009, ex 30,</a:t>
            </a:r>
            <a:r>
              <a:rPr lang="zh-CN" altLang="en-US" sz="2400" dirty="0"/>
              <a:t> </a:t>
            </a:r>
            <a:r>
              <a:rPr lang="en-US" altLang="zh-CN" sz="2400" dirty="0"/>
              <a:t>see</a:t>
            </a:r>
            <a:r>
              <a:rPr lang="zh-CN" altLang="en-US" sz="2400" dirty="0"/>
              <a:t> </a:t>
            </a:r>
            <a:r>
              <a:rPr lang="en-US" altLang="zh-CN" sz="2400" dirty="0"/>
              <a:t>also</a:t>
            </a:r>
            <a:r>
              <a:rPr lang="zh-CN" altLang="en-US" sz="2400" dirty="0"/>
              <a:t> </a:t>
            </a:r>
            <a:r>
              <a:rPr lang="en-US" altLang="zh-CN" sz="2400" dirty="0"/>
              <a:t>Stjepanović</a:t>
            </a:r>
            <a:r>
              <a:rPr lang="zh-CN" altLang="en-US" sz="2400" dirty="0"/>
              <a:t> </a:t>
            </a:r>
            <a:r>
              <a:rPr lang="en-US" altLang="zh-CN" sz="2400" dirty="0"/>
              <a:t>2014,</a:t>
            </a:r>
            <a:r>
              <a:rPr lang="zh-CN" altLang="en-US" sz="2400" dirty="0"/>
              <a:t> </a:t>
            </a:r>
            <a:r>
              <a:rPr lang="en-US" altLang="zh-CN" sz="2400" dirty="0"/>
              <a:t>Oda 2021)</a:t>
            </a: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CFA60-19E8-BA7A-E2C1-AA7998A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5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1DAC-F826-D7CA-42B1-7C70F37F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DA71-2F5B-26FD-D2E6-54DC3A12C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CC-violating</a:t>
            </a:r>
            <a:r>
              <a:rPr lang="zh-CN" altLang="en-US" sz="3600" dirty="0"/>
              <a:t> </a:t>
            </a:r>
            <a:r>
              <a:rPr lang="en-US" altLang="zh-CN" sz="3600" dirty="0"/>
              <a:t>movement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BCMS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7979A-4205-6772-21D8-D5E9A8DD5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Shen 2023 conducted a survey with 30 BCMS speakers </a:t>
            </a:r>
          </a:p>
          <a:p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76BC4-0682-1F6D-01AC-235F8B3BF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206161"/>
            <a:ext cx="7075299" cy="46518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8671ED-C36F-F02E-A905-8E3B42C79725}"/>
              </a:ext>
            </a:extLst>
          </p:cNvPr>
          <p:cNvSpPr txBox="1">
            <a:spLocks/>
          </p:cNvSpPr>
          <p:nvPr/>
        </p:nvSpPr>
        <p:spPr>
          <a:xfrm>
            <a:off x="7515496" y="2438399"/>
            <a:ext cx="3990703" cy="389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 dirty="0"/>
              <a:t>Observation</a:t>
            </a:r>
            <a:r>
              <a:rPr lang="zh-CN" altLang="en-US" sz="2600" dirty="0"/>
              <a:t> </a:t>
            </a:r>
            <a:r>
              <a:rPr lang="en-US" altLang="zh-CN" sz="2600" dirty="0"/>
              <a:t>1: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coordinator</a:t>
            </a:r>
            <a:r>
              <a:rPr lang="zh-CN" altLang="en-US" sz="2600" dirty="0"/>
              <a:t> </a:t>
            </a:r>
            <a:r>
              <a:rPr lang="en-US" altLang="zh-CN" sz="2600" dirty="0"/>
              <a:t>is</a:t>
            </a:r>
            <a:r>
              <a:rPr lang="zh-CN" altLang="en-US" sz="2600" dirty="0"/>
              <a:t> </a:t>
            </a:r>
            <a:r>
              <a:rPr lang="en-US" altLang="zh-CN" sz="2600" i="1" dirty="0"/>
              <a:t>i</a:t>
            </a:r>
          </a:p>
          <a:p>
            <a:r>
              <a:rPr lang="en-US" altLang="zh-CN" sz="2600" dirty="0"/>
              <a:t>Observation 2: wh-movement cannot violate the CC while scrambling can (for some speakers)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9B13D-F35E-077E-46D7-5777CD11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38142-27D1-BF6B-0875-F85E4B191D26}"/>
              </a:ext>
            </a:extLst>
          </p:cNvPr>
          <p:cNvSpPr/>
          <p:nvPr/>
        </p:nvSpPr>
        <p:spPr>
          <a:xfrm>
            <a:off x="3849190" y="2325189"/>
            <a:ext cx="2081348" cy="588994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154DC-6277-5540-9F4E-62A7A33E912A}"/>
              </a:ext>
            </a:extLst>
          </p:cNvPr>
          <p:cNvSpPr/>
          <p:nvPr/>
        </p:nvSpPr>
        <p:spPr>
          <a:xfrm>
            <a:off x="2973979" y="3899543"/>
            <a:ext cx="1397724" cy="480868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7AF62F-18F9-5FD7-658E-2F64809351D3}"/>
              </a:ext>
            </a:extLst>
          </p:cNvPr>
          <p:cNvSpPr/>
          <p:nvPr/>
        </p:nvSpPr>
        <p:spPr>
          <a:xfrm>
            <a:off x="3401787" y="5454023"/>
            <a:ext cx="1397724" cy="480868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56745-1BF6-95BB-373D-6E8F15BD9CC5}"/>
              </a:ext>
            </a:extLst>
          </p:cNvPr>
          <p:cNvSpPr/>
          <p:nvPr/>
        </p:nvSpPr>
        <p:spPr>
          <a:xfrm>
            <a:off x="1576255" y="5365771"/>
            <a:ext cx="870854" cy="56912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6DD111-29B6-1CCD-481D-589ACBE0684D}"/>
              </a:ext>
            </a:extLst>
          </p:cNvPr>
          <p:cNvSpPr/>
          <p:nvPr/>
        </p:nvSpPr>
        <p:spPr>
          <a:xfrm>
            <a:off x="1470663" y="3899543"/>
            <a:ext cx="575851" cy="480868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0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6C59-E248-9C1B-95C0-812D5F69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67A5-B26C-830B-CDF5-D1DD739E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Implications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Category</a:t>
            </a:r>
            <a:r>
              <a:rPr lang="zh-CN" altLang="en-US" sz="3600" dirty="0"/>
              <a:t> </a:t>
            </a:r>
            <a:r>
              <a:rPr lang="en-US" altLang="zh-CN" sz="3600" dirty="0"/>
              <a:t>Transfer</a:t>
            </a:r>
            <a:r>
              <a:rPr lang="zh-CN" altLang="en-US" sz="3600" dirty="0"/>
              <a:t> </a:t>
            </a:r>
            <a:r>
              <a:rPr lang="en-US" altLang="zh-CN" sz="3600" dirty="0"/>
              <a:t>analysis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13CC-AF3D-2851-64EB-11281C893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600" i="1" dirty="0"/>
              <a:t>The</a:t>
            </a:r>
            <a:r>
              <a:rPr lang="zh-CN" altLang="en-US" sz="2600" i="1" dirty="0"/>
              <a:t> </a:t>
            </a:r>
            <a:r>
              <a:rPr lang="en-US" altLang="zh-CN" sz="2600" i="1" dirty="0"/>
              <a:t>coordinator</a:t>
            </a:r>
            <a:r>
              <a:rPr lang="zh-CN" altLang="en-US" sz="2600" i="1" dirty="0"/>
              <a:t> </a:t>
            </a:r>
            <a:r>
              <a:rPr lang="en-US" altLang="zh-CN" sz="2600" i="1" dirty="0" err="1"/>
              <a:t>i</a:t>
            </a:r>
            <a:r>
              <a:rPr lang="zh-CN" altLang="en-US" sz="2600" i="1" dirty="0"/>
              <a:t> </a:t>
            </a:r>
            <a:r>
              <a:rPr lang="en-US" altLang="zh-CN" sz="2600" dirty="0"/>
              <a:t>in</a:t>
            </a:r>
            <a:r>
              <a:rPr lang="zh-CN" altLang="en-US" sz="2600" dirty="0"/>
              <a:t> </a:t>
            </a:r>
            <a:r>
              <a:rPr lang="en-US" altLang="zh-CN" sz="2600" dirty="0"/>
              <a:t>BCMS</a:t>
            </a:r>
            <a:r>
              <a:rPr lang="zh-CN" altLang="en-US" sz="2600" dirty="0"/>
              <a:t> </a:t>
            </a:r>
            <a:r>
              <a:rPr lang="en-US" altLang="zh-CN" sz="2600" dirty="0"/>
              <a:t>can</a:t>
            </a:r>
            <a:r>
              <a:rPr lang="zh-CN" altLang="en-US" sz="2600" dirty="0"/>
              <a:t> </a:t>
            </a:r>
            <a:r>
              <a:rPr lang="en-US" altLang="zh-CN" sz="2600" dirty="0"/>
              <a:t>coordinate</a:t>
            </a:r>
            <a:r>
              <a:rPr lang="zh-CN" altLang="en-US" sz="2600" dirty="0"/>
              <a:t> </a:t>
            </a:r>
            <a:r>
              <a:rPr lang="en-US" altLang="zh-CN" sz="2600" dirty="0"/>
              <a:t>different</a:t>
            </a:r>
            <a:r>
              <a:rPr lang="zh-CN" altLang="en-US" sz="2600" dirty="0"/>
              <a:t> </a:t>
            </a:r>
            <a:r>
              <a:rPr lang="en-US" altLang="zh-CN" sz="2600" dirty="0"/>
              <a:t>phrases:</a:t>
            </a:r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>
              <a:lnSpc>
                <a:spcPct val="100000"/>
              </a:lnSpc>
            </a:pPr>
            <a:endParaRPr lang="en-US" altLang="zh-CN" sz="26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600" dirty="0"/>
          </a:p>
          <a:p>
            <a:pPr>
              <a:lnSpc>
                <a:spcPct val="100000"/>
              </a:lnSpc>
            </a:pPr>
            <a:r>
              <a:rPr lang="en-US" altLang="zh-CN" sz="2600" dirty="0">
                <a:solidFill>
                  <a:schemeClr val="bg1"/>
                </a:solidFill>
              </a:rPr>
              <a:t>Data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from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Oda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2021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suggests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that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same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CC-violating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movement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is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available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in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Polish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and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Russian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with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the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same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dirty="0">
                <a:solidFill>
                  <a:schemeClr val="bg1"/>
                </a:solidFill>
              </a:rPr>
              <a:t>coordinator</a:t>
            </a:r>
            <a:r>
              <a:rPr lang="zh-CN" altLang="en-US" sz="2600" dirty="0">
                <a:solidFill>
                  <a:schemeClr val="bg1"/>
                </a:solidFill>
              </a:rPr>
              <a:t> </a:t>
            </a:r>
            <a:r>
              <a:rPr lang="en-US" altLang="zh-CN" sz="2600" i="1" dirty="0" err="1">
                <a:solidFill>
                  <a:schemeClr val="bg1"/>
                </a:solidFill>
              </a:rPr>
              <a:t>i</a:t>
            </a:r>
            <a:r>
              <a:rPr lang="en-US" altLang="zh-CN" sz="2600" i="1" dirty="0">
                <a:solidFill>
                  <a:schemeClr val="bg1"/>
                </a:solidFill>
              </a:rPr>
              <a:t>.</a:t>
            </a:r>
            <a:r>
              <a:rPr lang="zh-CN" altLang="en-US" sz="2600" i="1" dirty="0">
                <a:solidFill>
                  <a:schemeClr val="bg1"/>
                </a:solidFill>
              </a:rPr>
              <a:t> </a:t>
            </a:r>
            <a:endParaRPr lang="en-US" altLang="zh-CN" sz="2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US" sz="2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4B2F9-1C33-64B4-9916-FC43937A0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9913"/>
            <a:ext cx="7049655" cy="32408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93362-9A5A-53F9-CE47-5BB4048A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8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02951-8CC8-2784-DF63-DD52C524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5C56-61C7-ADC2-FF46-97127FB2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Implications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Category</a:t>
            </a:r>
            <a:r>
              <a:rPr lang="zh-CN" altLang="en-US" sz="3600" dirty="0"/>
              <a:t> </a:t>
            </a:r>
            <a:r>
              <a:rPr lang="en-US" altLang="zh-CN" sz="3600" dirty="0"/>
              <a:t>Transfer</a:t>
            </a:r>
            <a:r>
              <a:rPr lang="zh-CN" altLang="en-US" sz="3600" dirty="0"/>
              <a:t> </a:t>
            </a:r>
            <a:r>
              <a:rPr lang="en-US" altLang="zh-CN" sz="3600" dirty="0"/>
              <a:t>analysis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A5018-1257-90C5-5803-5247CD1AC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600" dirty="0"/>
              <a:t>CC-violating movement in BCMS thus challenges the cross-linguistic applicability of the Category Transfer analysis. </a:t>
            </a:r>
            <a:br>
              <a:rPr lang="en-US" altLang="zh-CN" sz="2600" dirty="0"/>
            </a:br>
            <a:r>
              <a:rPr lang="en-US" sz="2400" dirty="0">
                <a:solidFill>
                  <a:schemeClr val="bg1"/>
                </a:solidFill>
              </a:rPr>
              <a:t>(I think Zhang acknowledged this point in one of her papers, but I can’t recall which, please let me know if you know.)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It’s also unclear how this analysis would account for the contrast between wh-movement and scrambling.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E7301-18CF-72AA-54DB-1A82088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0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AB61-58D9-EC56-5C51-A58805FC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9B29-EF13-0367-35CE-5FB7D1EA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Implications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Parallelism</a:t>
            </a:r>
            <a:r>
              <a:rPr lang="zh-CN" altLang="en-US" sz="3600" dirty="0"/>
              <a:t> </a:t>
            </a:r>
            <a:r>
              <a:rPr lang="en-US" altLang="zh-CN" sz="3600" dirty="0"/>
              <a:t>Requirement analysis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461E-B934-1A9F-213D-858D3D01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The unavailability of CC-violating wh-movement is expected under the Parallelism analysis as one conjunct is [+</a:t>
            </a:r>
            <a:r>
              <a:rPr lang="en-US" sz="2600" dirty="0" err="1"/>
              <a:t>wh</a:t>
            </a:r>
            <a:r>
              <a:rPr lang="en-US" sz="2600" dirty="0"/>
              <a:t>] and the other is not.</a:t>
            </a:r>
          </a:p>
          <a:p>
            <a:r>
              <a:rPr lang="en-US" sz="2600" dirty="0"/>
              <a:t>The availability of CC-violating scrambling is also expected</a:t>
            </a:r>
            <a:r>
              <a:rPr lang="en-US" altLang="zh-CN" sz="2600" dirty="0"/>
              <a:t>:</a:t>
            </a:r>
            <a:r>
              <a:rPr lang="en-US" sz="2600" dirty="0"/>
              <a:t> </a:t>
            </a:r>
          </a:p>
          <a:p>
            <a:pPr lvl="1"/>
            <a:r>
              <a:rPr lang="en-US" dirty="0"/>
              <a:t>Bailyn 2001, 2004 argues that in Slavic languages, local scrambling is driven by EPP, following Miyagawa 2003. </a:t>
            </a:r>
          </a:p>
          <a:p>
            <a:pPr lvl="1"/>
            <a:r>
              <a:rPr lang="en-US" dirty="0"/>
              <a:t>Scrambling does not require the conjuncts to have different features, the Parallelism Requirement is thus not violated.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72D65-D3B7-4CE8-5432-5014A1AF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1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DC8C-FE0F-D47B-5F0C-46104B9F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Further</a:t>
            </a:r>
            <a:r>
              <a:rPr lang="zh-CN" altLang="en-US" sz="3600" dirty="0"/>
              <a:t> </a:t>
            </a:r>
            <a:r>
              <a:rPr lang="en-US" altLang="zh-CN" sz="3600" dirty="0"/>
              <a:t>evidence for the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/scrambling contrast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D3ADD-43D6-CCC9-9646-0308574BE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collected from 5 speakers confirms the </a:t>
            </a:r>
            <a:r>
              <a:rPr lang="en-US" sz="2400" dirty="0" err="1"/>
              <a:t>wh</a:t>
            </a:r>
            <a:r>
              <a:rPr lang="en-US" sz="2400" dirty="0"/>
              <a:t> vs. scrambling contrast: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zh-CN" altLang="en-US" sz="2400" b="1" dirty="0"/>
              <a:t>*</a:t>
            </a:r>
            <a:r>
              <a:rPr lang="en-US" sz="2400" b="1" dirty="0" err="1"/>
              <a:t>Koje</a:t>
            </a:r>
            <a:r>
              <a:rPr lang="en-US" sz="2400" b="1" dirty="0"/>
              <a:t> </a:t>
            </a:r>
            <a:r>
              <a:rPr lang="en-US" sz="2400" b="1" dirty="0" err="1"/>
              <a:t>sablje</a:t>
            </a:r>
            <a:r>
              <a:rPr lang="en-US" sz="2400" b="1" dirty="0"/>
              <a:t> </a:t>
            </a:r>
            <a:r>
              <a:rPr lang="en-US" sz="2400" dirty="0"/>
              <a:t>	se </a:t>
            </a:r>
            <a:r>
              <a:rPr lang="en-US" sz="2400" dirty="0" err="1"/>
              <a:t>danas</a:t>
            </a:r>
            <a:r>
              <a:rPr lang="en-US" sz="2400" dirty="0"/>
              <a:t> 	</a:t>
            </a:r>
            <a:r>
              <a:rPr lang="en-US" sz="2400" dirty="0" err="1"/>
              <a:t>i</a:t>
            </a:r>
            <a:r>
              <a:rPr lang="en-US" sz="2400" dirty="0"/>
              <a:t> 	</a:t>
            </a:r>
            <a:r>
              <a:rPr lang="en-US" sz="2400" b="1" dirty="0"/>
              <a:t>ta </a:t>
            </a:r>
            <a:r>
              <a:rPr lang="en-US" sz="2400" b="1" dirty="0" err="1"/>
              <a:t>koplja</a:t>
            </a:r>
            <a:r>
              <a:rPr lang="en-US" sz="2400" b="1" dirty="0"/>
              <a:t> 	</a:t>
            </a:r>
            <a:r>
              <a:rPr lang="en-US" sz="2400" dirty="0" err="1"/>
              <a:t>sudaraju</a:t>
            </a:r>
            <a:r>
              <a:rPr lang="en-US" sz="2400" dirty="0"/>
              <a:t> u </a:t>
            </a:r>
            <a:r>
              <a:rPr lang="en-US" sz="2400" dirty="0" err="1"/>
              <a:t>bici</a:t>
            </a:r>
            <a:r>
              <a:rPr lang="en-US" sz="2400" dirty="0"/>
              <a:t>? (1.8/5)</a:t>
            </a:r>
            <a:br>
              <a:rPr lang="en-US" sz="2400" dirty="0"/>
            </a:br>
            <a:r>
              <a:rPr lang="en-US" sz="2400" b="1" dirty="0"/>
              <a:t>What sabers </a:t>
            </a:r>
            <a:r>
              <a:rPr lang="en-US" sz="2400" dirty="0"/>
              <a:t>	aux today 	and 	</a:t>
            </a:r>
            <a:r>
              <a:rPr lang="en-US" sz="2400" b="1" dirty="0"/>
              <a:t>those spears </a:t>
            </a:r>
            <a:r>
              <a:rPr lang="en-US" sz="2400" dirty="0"/>
              <a:t>collided in battle</a:t>
            </a:r>
            <a:br>
              <a:rPr lang="en-US" sz="2400" dirty="0"/>
            </a:br>
            <a:r>
              <a:rPr lang="en-US" sz="2400" dirty="0"/>
              <a:t>‘What sabers and those spears collided in battle today?’</a:t>
            </a:r>
          </a:p>
          <a:p>
            <a:pPr marL="514350" indent="-514350">
              <a:buFont typeface="+mj-lt"/>
              <a:buAutoNum type="arabicParenR" startAt="9"/>
            </a:pPr>
            <a:r>
              <a:rPr lang="en-US" sz="2400" b="1" dirty="0" err="1"/>
              <a:t>Koje</a:t>
            </a:r>
            <a:r>
              <a:rPr lang="en-US" sz="2400" b="1" dirty="0"/>
              <a:t> </a:t>
            </a:r>
            <a:r>
              <a:rPr lang="en-US" sz="2400" b="1" dirty="0" err="1"/>
              <a:t>sablje</a:t>
            </a:r>
            <a:r>
              <a:rPr lang="en-US" sz="2400" b="1" dirty="0"/>
              <a:t> 	</a:t>
            </a:r>
            <a:r>
              <a:rPr lang="en-US" sz="2400" dirty="0"/>
              <a:t>se </a:t>
            </a:r>
            <a:r>
              <a:rPr lang="en-US" sz="2400" dirty="0" err="1"/>
              <a:t>danas</a:t>
            </a:r>
            <a:r>
              <a:rPr lang="en-US" sz="2400" dirty="0"/>
              <a:t> 	</a:t>
            </a:r>
            <a:r>
              <a:rPr lang="en-US" sz="2400" dirty="0" err="1"/>
              <a:t>i</a:t>
            </a:r>
            <a:r>
              <a:rPr lang="en-US" sz="2400" dirty="0"/>
              <a:t> 	</a:t>
            </a:r>
            <a:r>
              <a:rPr lang="en-US" sz="2400" b="1" dirty="0" err="1"/>
              <a:t>koja</a:t>
            </a:r>
            <a:r>
              <a:rPr lang="en-US" sz="2400" b="1" dirty="0"/>
              <a:t> </a:t>
            </a:r>
            <a:r>
              <a:rPr lang="en-US" sz="2400" b="1" dirty="0" err="1"/>
              <a:t>koplja</a:t>
            </a:r>
            <a:r>
              <a:rPr lang="en-US" sz="2400" b="1" dirty="0"/>
              <a:t> 	</a:t>
            </a:r>
            <a:r>
              <a:rPr lang="en-US" sz="2400" dirty="0" err="1"/>
              <a:t>sudaraju</a:t>
            </a:r>
            <a:r>
              <a:rPr lang="en-US" sz="2400" dirty="0"/>
              <a:t> u </a:t>
            </a:r>
            <a:r>
              <a:rPr lang="en-US" sz="2400" dirty="0" err="1"/>
              <a:t>bici</a:t>
            </a:r>
            <a:r>
              <a:rPr lang="en-US" sz="2400" dirty="0"/>
              <a:t>? (3.6)</a:t>
            </a:r>
            <a:br>
              <a:rPr lang="en-US" sz="2400" dirty="0"/>
            </a:br>
            <a:r>
              <a:rPr lang="en-US" sz="2400" b="1" dirty="0"/>
              <a:t>What sabers 	</a:t>
            </a:r>
            <a:r>
              <a:rPr lang="en-US" sz="2400" dirty="0"/>
              <a:t>aux today 	and 	</a:t>
            </a:r>
            <a:r>
              <a:rPr lang="en-US" sz="2400" b="1" dirty="0"/>
              <a:t>what spears 	</a:t>
            </a:r>
            <a:r>
              <a:rPr lang="en-US" sz="2400" dirty="0"/>
              <a:t>collided in battle</a:t>
            </a:r>
            <a:br>
              <a:rPr lang="en-US" sz="2400" dirty="0"/>
            </a:br>
            <a:r>
              <a:rPr lang="en-US" sz="2400" dirty="0"/>
              <a:t>‘What sabers and what spears collided in battle today?’</a:t>
            </a:r>
          </a:p>
          <a:p>
            <a:r>
              <a:rPr lang="en-US" altLang="zh-CN" sz="2400" dirty="0"/>
              <a:t>Moving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long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also</a:t>
            </a:r>
            <a:r>
              <a:rPr lang="zh-CN" altLang="en-US" sz="2400" dirty="0"/>
              <a:t> </a:t>
            </a:r>
            <a:r>
              <a:rPr lang="en-US" altLang="zh-CN" sz="2400" dirty="0"/>
              <a:t>wh.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2D25A-F481-21F7-F4A1-D8D27D50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0A542-9015-194B-78F7-4852882A6F64}"/>
              </a:ext>
            </a:extLst>
          </p:cNvPr>
          <p:cNvSpPr/>
          <p:nvPr/>
        </p:nvSpPr>
        <p:spPr>
          <a:xfrm>
            <a:off x="5155475" y="2307770"/>
            <a:ext cx="3082834" cy="67926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8D4859-E949-509C-6C63-C6F8D58E081C}"/>
              </a:ext>
            </a:extLst>
          </p:cNvPr>
          <p:cNvSpPr/>
          <p:nvPr/>
        </p:nvSpPr>
        <p:spPr>
          <a:xfrm>
            <a:off x="5072743" y="3429000"/>
            <a:ext cx="3082834" cy="67926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77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46FB-FDE2-3110-6E67-BE34832A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Back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CC-violating</a:t>
            </a:r>
            <a:r>
              <a:rPr lang="zh-CN" altLang="en-US" sz="3600" dirty="0"/>
              <a:t> </a:t>
            </a:r>
            <a:r>
              <a:rPr lang="en-US" altLang="zh-CN" sz="3600" dirty="0"/>
              <a:t>movement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Mandarin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D9CDE-7C7D-8E9E-B786-DE1E578E5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Note that the CC-violating movement in Mandarin from Zhang 2010 also does not involve obvious feature checking.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 startAt="5"/>
            </a:pPr>
            <a:r>
              <a:rPr lang="en-US" altLang="zh-CN" dirty="0" err="1"/>
              <a:t>Huoche</a:t>
            </a:r>
            <a:r>
              <a:rPr lang="zh-CN" altLang="en-US" dirty="0"/>
              <a:t> </a:t>
            </a:r>
            <a:r>
              <a:rPr lang="en-US" altLang="zh-CN" dirty="0"/>
              <a:t>hui</a:t>
            </a:r>
            <a:r>
              <a:rPr lang="zh-CN" altLang="en-US" dirty="0"/>
              <a:t> </a:t>
            </a:r>
            <a:r>
              <a:rPr lang="en-US" altLang="zh-CN" dirty="0"/>
              <a:t>	[ </a:t>
            </a:r>
            <a:r>
              <a:rPr lang="en-US" altLang="zh-CN" i="1" dirty="0"/>
              <a:t>t</a:t>
            </a:r>
            <a:r>
              <a:rPr lang="en-US" altLang="zh-CN" dirty="0"/>
              <a:t> gen</a:t>
            </a:r>
            <a:r>
              <a:rPr lang="zh-CN" altLang="en-US" dirty="0"/>
              <a:t> </a:t>
            </a:r>
            <a:r>
              <a:rPr lang="en-US" altLang="zh-CN" dirty="0" err="1"/>
              <a:t>qiche</a:t>
            </a:r>
            <a:r>
              <a:rPr lang="en-US" altLang="zh-CN" dirty="0"/>
              <a:t>] </a:t>
            </a:r>
            <a:r>
              <a:rPr lang="zh-CN" altLang="en-US" dirty="0"/>
              <a:t> </a:t>
            </a:r>
            <a:r>
              <a:rPr lang="en-US" altLang="zh-CN" dirty="0" err="1"/>
              <a:t>xiangzhuang</a:t>
            </a:r>
            <a:r>
              <a:rPr lang="zh-CN" altLang="en-US" dirty="0"/>
              <a:t> </a:t>
            </a:r>
            <a:r>
              <a:rPr lang="en-US" altLang="zh-CN" dirty="0"/>
              <a:t>	ma?</a:t>
            </a:r>
            <a:r>
              <a:rPr lang="zh-CN" altLang="en-US" dirty="0"/>
              <a:t> </a:t>
            </a:r>
            <a:r>
              <a:rPr lang="en-US" altLang="zh-CN" dirty="0"/>
              <a:t>(Zhang</a:t>
            </a:r>
            <a:r>
              <a:rPr lang="zh-CN" altLang="en-US" dirty="0"/>
              <a:t> </a:t>
            </a:r>
            <a:r>
              <a:rPr lang="en-US" altLang="zh-CN" dirty="0"/>
              <a:t>2010,</a:t>
            </a:r>
            <a:r>
              <a:rPr lang="zh-CN" altLang="en-US" dirty="0"/>
              <a:t> </a:t>
            </a:r>
            <a:r>
              <a:rPr lang="en-US" altLang="zh-CN" dirty="0"/>
              <a:t>ex.</a:t>
            </a:r>
            <a:r>
              <a:rPr lang="zh-CN" altLang="en-US" dirty="0"/>
              <a:t> </a:t>
            </a:r>
            <a:r>
              <a:rPr lang="en-US" altLang="zh-CN" dirty="0"/>
              <a:t>85a)</a:t>
            </a:r>
            <a:br>
              <a:rPr lang="en-US" altLang="zh-CN" dirty="0"/>
            </a:br>
            <a:r>
              <a:rPr lang="zh-CN" altLang="en-US" dirty="0"/>
              <a:t>火車</a:t>
            </a:r>
            <a:r>
              <a:rPr lang="en-US" altLang="zh-CN" dirty="0"/>
              <a:t>	</a:t>
            </a:r>
            <a:r>
              <a:rPr lang="zh-CN" altLang="en-US" dirty="0"/>
              <a:t>    會        跟汽車</a:t>
            </a:r>
            <a:r>
              <a:rPr lang="en-US" altLang="zh-CN" dirty="0"/>
              <a:t>	</a:t>
            </a:r>
            <a:r>
              <a:rPr lang="zh-CN" altLang="en-US" dirty="0"/>
              <a:t>相撞</a:t>
            </a:r>
            <a:r>
              <a:rPr lang="en-US" altLang="zh-CN" dirty="0"/>
              <a:t>		</a:t>
            </a:r>
            <a:r>
              <a:rPr lang="zh-CN" altLang="en-US" dirty="0"/>
              <a:t>嗎？</a:t>
            </a:r>
            <a:br>
              <a:rPr lang="en-US" altLang="zh-CN" dirty="0"/>
            </a:br>
            <a:r>
              <a:rPr lang="en-US" altLang="zh-CN" dirty="0"/>
              <a:t>train 	will 	[ and car] 	collide 	Q	</a:t>
            </a:r>
            <a:br>
              <a:rPr lang="en-US" altLang="zh-CN" dirty="0"/>
            </a:br>
            <a:r>
              <a:rPr lang="en-US" altLang="zh-CN" dirty="0"/>
              <a:t>‘Will the train and the car collide?’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 startAt="5"/>
            </a:pPr>
            <a:r>
              <a:rPr lang="en-US" altLang="zh-CN" dirty="0"/>
              <a:t>Akiu</a:t>
            </a:r>
            <a:r>
              <a:rPr lang="zh-CN" altLang="en-US" dirty="0"/>
              <a:t> </a:t>
            </a:r>
            <a:r>
              <a:rPr lang="en-US" altLang="zh-CN" dirty="0" err="1"/>
              <a:t>zai</a:t>
            </a:r>
            <a:r>
              <a:rPr lang="zh-CN" altLang="en-US" dirty="0"/>
              <a:t> </a:t>
            </a:r>
            <a:r>
              <a:rPr lang="en-US" altLang="zh-CN" dirty="0" err="1"/>
              <a:t>Riben</a:t>
            </a:r>
            <a:r>
              <a:rPr lang="zh-CN" altLang="en-US" dirty="0"/>
              <a:t> </a:t>
            </a:r>
            <a:r>
              <a:rPr lang="en-US" altLang="zh-CN" dirty="0"/>
              <a:t>[ </a:t>
            </a:r>
            <a:r>
              <a:rPr lang="en-US" altLang="zh-CN" i="1" dirty="0"/>
              <a:t>t</a:t>
            </a:r>
            <a:r>
              <a:rPr lang="zh-CN" altLang="en-US" i="1" dirty="0"/>
              <a:t> </a:t>
            </a:r>
            <a:r>
              <a:rPr lang="en-US" altLang="zh-CN" dirty="0"/>
              <a:t>gen</a:t>
            </a:r>
            <a:r>
              <a:rPr lang="zh-CN" altLang="en-US" dirty="0"/>
              <a:t> </a:t>
            </a:r>
            <a:r>
              <a:rPr lang="en-US" altLang="zh-CN" dirty="0" err="1"/>
              <a:t>Baoyu</a:t>
            </a:r>
            <a:r>
              <a:rPr lang="en-US" altLang="zh-CN" dirty="0"/>
              <a:t>]</a:t>
            </a:r>
            <a:r>
              <a:rPr lang="zh-CN" altLang="en-US" dirty="0"/>
              <a:t> </a:t>
            </a:r>
            <a:r>
              <a:rPr lang="en-US" altLang="zh-CN" dirty="0" err="1"/>
              <a:t>jian</a:t>
            </a:r>
            <a:r>
              <a:rPr lang="en-US" altLang="zh-CN" dirty="0"/>
              <a:t>-le</a:t>
            </a:r>
            <a:r>
              <a:rPr lang="zh-CN" altLang="en-US" dirty="0"/>
              <a:t> </a:t>
            </a:r>
            <a:r>
              <a:rPr lang="en-US" altLang="zh-CN" dirty="0" err="1"/>
              <a:t>mian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(Zhang</a:t>
            </a:r>
            <a:r>
              <a:rPr lang="zh-CN" altLang="en-US" dirty="0"/>
              <a:t> </a:t>
            </a:r>
            <a:r>
              <a:rPr lang="en-US" altLang="zh-CN" dirty="0"/>
              <a:t>2010,</a:t>
            </a:r>
            <a:r>
              <a:rPr lang="zh-CN" altLang="en-US" dirty="0"/>
              <a:t> </a:t>
            </a:r>
            <a:r>
              <a:rPr lang="en-US" altLang="zh-CN" dirty="0"/>
              <a:t>ex.</a:t>
            </a:r>
            <a:r>
              <a:rPr lang="zh-CN" altLang="en-US" dirty="0"/>
              <a:t> </a:t>
            </a:r>
            <a:r>
              <a:rPr lang="en-US" altLang="zh-CN" dirty="0"/>
              <a:t>90b)</a:t>
            </a:r>
            <a:br>
              <a:rPr lang="en-US" altLang="zh-CN" dirty="0"/>
            </a:br>
            <a:r>
              <a:rPr lang="zh-CN" altLang="en-US" dirty="0"/>
              <a:t>阿</a:t>
            </a:r>
            <a:r>
              <a:rPr lang="en-US" altLang="zh-CN" dirty="0"/>
              <a:t>Q</a:t>
            </a:r>
            <a:r>
              <a:rPr lang="zh-CN" altLang="en-US" dirty="0"/>
              <a:t>在日本</a:t>
            </a:r>
            <a:r>
              <a:rPr lang="en-US" altLang="zh-CN" dirty="0"/>
              <a:t>	</a:t>
            </a:r>
            <a:r>
              <a:rPr lang="zh-CN" altLang="en-US" dirty="0"/>
              <a:t>     跟 寶玉</a:t>
            </a:r>
            <a:r>
              <a:rPr lang="en-US" altLang="zh-CN" dirty="0"/>
              <a:t>	</a:t>
            </a:r>
            <a:r>
              <a:rPr lang="zh-CN" altLang="en-US" dirty="0"/>
              <a:t>見了面</a:t>
            </a:r>
            <a:br>
              <a:rPr lang="en-US" altLang="zh-CN" dirty="0"/>
            </a:br>
            <a:r>
              <a:rPr lang="en-US" altLang="zh-CN" dirty="0"/>
              <a:t>Akiu in Japan 	[t and </a:t>
            </a:r>
            <a:r>
              <a:rPr lang="en-US" altLang="zh-CN" dirty="0" err="1"/>
              <a:t>Baoyu</a:t>
            </a:r>
            <a:r>
              <a:rPr lang="en-US" altLang="zh-CN" dirty="0"/>
              <a:t>] meet-LE face  </a:t>
            </a:r>
            <a:br>
              <a:rPr lang="en-US" altLang="zh-CN" dirty="0"/>
            </a:br>
            <a:r>
              <a:rPr lang="en-US" altLang="zh-CN" dirty="0"/>
              <a:t>‘Akiu and </a:t>
            </a:r>
            <a:r>
              <a:rPr lang="en-US" altLang="zh-CN" dirty="0" err="1"/>
              <a:t>Baoyu</a:t>
            </a:r>
            <a:r>
              <a:rPr lang="en-US" altLang="zh-CN" dirty="0"/>
              <a:t> met up in Japan.’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6A00C-E6F6-B361-7FDA-57E1DF13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90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D9A4-95A2-180D-854F-8AA71A9C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A586-4E98-253B-D704-935035CB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Back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CC-violating</a:t>
            </a:r>
            <a:r>
              <a:rPr lang="zh-CN" altLang="en-US" sz="3600" dirty="0"/>
              <a:t> </a:t>
            </a:r>
            <a:r>
              <a:rPr lang="en-US" altLang="zh-CN" sz="3600" dirty="0"/>
              <a:t>movement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Mandarin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46C47-9006-C44D-E467-FC7AD156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63"/>
            <a:ext cx="11167753" cy="529961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/>
              <a:t>Zhang 2008 provides an example of CC-violating relativization: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 startAt="9"/>
            </a:pPr>
            <a:r>
              <a:rPr lang="en-US" altLang="zh-CN" sz="2200" dirty="0"/>
              <a:t>[</a:t>
            </a:r>
            <a:r>
              <a:rPr lang="en-US" altLang="zh-CN" sz="2200" i="1" dirty="0"/>
              <a:t>t</a:t>
            </a:r>
            <a:r>
              <a:rPr lang="en-US" altLang="zh-CN" sz="2200" dirty="0"/>
              <a:t> Gen Daiyu he-</a:t>
            </a:r>
            <a:r>
              <a:rPr lang="en-US" altLang="zh-CN" sz="2200" dirty="0" err="1"/>
              <a:t>zu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fangzi</a:t>
            </a:r>
            <a:r>
              <a:rPr lang="en-US" altLang="zh-CN" sz="2200" dirty="0"/>
              <a:t> de ] </a:t>
            </a:r>
            <a:r>
              <a:rPr lang="en-US" altLang="zh-CN" sz="2200" dirty="0" err="1"/>
              <a:t>xuesheng</a:t>
            </a:r>
            <a:r>
              <a:rPr lang="en-US" altLang="zh-CN" sz="2200" dirty="0"/>
              <a:t> hen-</a:t>
            </a:r>
            <a:r>
              <a:rPr lang="en-US" altLang="zh-CN" sz="2200" dirty="0" err="1"/>
              <a:t>qiong</a:t>
            </a:r>
            <a:r>
              <a:rPr lang="en-US" altLang="zh-CN" sz="2200" dirty="0"/>
              <a:t>.</a:t>
            </a:r>
            <a:br>
              <a:rPr lang="en-US" altLang="zh-CN" sz="2200" dirty="0"/>
            </a:br>
            <a:r>
              <a:rPr lang="zh-CN" altLang="en-US" sz="2200" dirty="0"/>
              <a:t>     跟    黛玉   合租    房子   的   學生            很窮</a:t>
            </a:r>
            <a:br>
              <a:rPr lang="en-US" altLang="zh-CN" sz="2200" dirty="0"/>
            </a:br>
            <a:r>
              <a:rPr lang="en-US" altLang="zh-CN" sz="2200" dirty="0"/>
              <a:t>[</a:t>
            </a:r>
            <a:r>
              <a:rPr lang="en-US" altLang="zh-CN" sz="2200" i="1" dirty="0"/>
              <a:t>t</a:t>
            </a:r>
            <a:r>
              <a:rPr lang="en-US" altLang="zh-CN" sz="2200" dirty="0"/>
              <a:t> and Daiyu co-rent house DE ] student very-poor</a:t>
            </a:r>
            <a:br>
              <a:rPr lang="en-US" altLang="zh-CN" sz="2200" dirty="0"/>
            </a:br>
            <a:r>
              <a:rPr lang="en-US" altLang="zh-CN" sz="2200" dirty="0"/>
              <a:t>‘The student who rents a house with Daiyu is poor.’ (Zhang:2008 ex 57}</a:t>
            </a:r>
          </a:p>
          <a:p>
            <a:pPr>
              <a:lnSpc>
                <a:spcPct val="100000"/>
              </a:lnSpc>
            </a:pPr>
            <a:r>
              <a:rPr lang="en-US" altLang="zh-CN" sz="2200" dirty="0"/>
              <a:t>At the same time, Zhang 2008, 2010 argues that </a:t>
            </a:r>
            <a:r>
              <a:rPr lang="en-US" altLang="zh-CN" sz="2200" i="1" dirty="0"/>
              <a:t>liang-</a:t>
            </a:r>
            <a:r>
              <a:rPr lang="en-US" altLang="zh-CN" sz="2200" i="1" dirty="0" err="1"/>
              <a:t>ge</a:t>
            </a:r>
            <a:r>
              <a:rPr lang="en-US" altLang="zh-CN" sz="2200" i="1" dirty="0"/>
              <a:t>-ren</a:t>
            </a:r>
            <a:r>
              <a:rPr lang="en-US" altLang="zh-CN" sz="2200" dirty="0"/>
              <a:t> ‘two people’ ensure that the ‘A </a:t>
            </a:r>
            <a:r>
              <a:rPr lang="en-US" altLang="zh-CN" sz="2200" i="1" dirty="0"/>
              <a:t>gen </a:t>
            </a:r>
            <a:r>
              <a:rPr lang="en-US" altLang="zh-CN" sz="2200" dirty="0"/>
              <a:t>B’ string forms a constituent.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Adding </a:t>
            </a:r>
            <a:r>
              <a:rPr lang="en-US" sz="2200" i="1" dirty="0"/>
              <a:t>liang-</a:t>
            </a:r>
            <a:r>
              <a:rPr lang="en-US" sz="2200" i="1" dirty="0" err="1"/>
              <a:t>ge</a:t>
            </a:r>
            <a:r>
              <a:rPr lang="en-US" sz="2200" i="1" dirty="0"/>
              <a:t>-ren</a:t>
            </a:r>
            <a:r>
              <a:rPr lang="zh-CN" altLang="en-US" sz="2200" dirty="0"/>
              <a:t>（兩個人）</a:t>
            </a:r>
            <a:r>
              <a:rPr lang="en-US" sz="2200" dirty="0"/>
              <a:t>to </a:t>
            </a:r>
            <a:r>
              <a:rPr lang="en-US" altLang="zh-CN" sz="2200" dirty="0"/>
              <a:t>(9)</a:t>
            </a:r>
            <a:r>
              <a:rPr lang="zh-CN" altLang="en-US" sz="2200" dirty="0"/>
              <a:t> </a:t>
            </a:r>
            <a:r>
              <a:rPr lang="en-US" altLang="zh-CN" sz="2200" dirty="0"/>
              <a:t>makes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sentence</a:t>
            </a:r>
            <a:r>
              <a:rPr lang="zh-CN" altLang="en-US" sz="2200" dirty="0"/>
              <a:t> </a:t>
            </a:r>
            <a:r>
              <a:rPr lang="en-US" altLang="zh-CN" sz="2200" dirty="0"/>
              <a:t>degraded: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marL="514350" indent="-514350">
              <a:lnSpc>
                <a:spcPct val="100000"/>
              </a:lnSpc>
              <a:buFont typeface="+mj-lt"/>
              <a:buAutoNum type="arabicParenR" startAt="10"/>
            </a:pPr>
            <a:r>
              <a:rPr lang="en-US" altLang="zh-CN" sz="2200" dirty="0"/>
              <a:t>*Gen Daiyu </a:t>
            </a:r>
            <a:r>
              <a:rPr lang="en-US" altLang="zh-CN" sz="2200" b="1" i="1" dirty="0"/>
              <a:t>liang-</a:t>
            </a:r>
            <a:r>
              <a:rPr lang="en-US" altLang="zh-CN" sz="2200" b="1" i="1" dirty="0" err="1"/>
              <a:t>ge</a:t>
            </a:r>
            <a:r>
              <a:rPr lang="en-US" altLang="zh-CN" sz="2200" b="1" i="1" dirty="0"/>
              <a:t>-ren</a:t>
            </a:r>
            <a:r>
              <a:rPr lang="en-US" altLang="zh-CN" sz="2200" dirty="0"/>
              <a:t> he-</a:t>
            </a:r>
            <a:r>
              <a:rPr lang="en-US" altLang="zh-CN" sz="2200" dirty="0" err="1"/>
              <a:t>zu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fangzi</a:t>
            </a:r>
            <a:r>
              <a:rPr lang="en-US" altLang="zh-CN" sz="2200" dirty="0"/>
              <a:t> de </a:t>
            </a:r>
            <a:r>
              <a:rPr lang="en-US" altLang="zh-CN" sz="2200" dirty="0" err="1"/>
              <a:t>xuesheng</a:t>
            </a:r>
            <a:r>
              <a:rPr lang="en-US" altLang="zh-CN" sz="2200" dirty="0"/>
              <a:t> hen-</a:t>
            </a:r>
            <a:r>
              <a:rPr lang="en-US" altLang="zh-CN" sz="2200" dirty="0" err="1"/>
              <a:t>qiong</a:t>
            </a:r>
            <a:r>
              <a:rPr lang="en-US" altLang="zh-CN" sz="2200" dirty="0"/>
              <a:t>.</a:t>
            </a:r>
            <a:br>
              <a:rPr lang="en-US" altLang="zh-CN" sz="2200" dirty="0"/>
            </a:br>
            <a:r>
              <a:rPr lang="zh-CN" altLang="en-US" sz="2200" dirty="0"/>
              <a:t> 跟    黛玉     兩個人            合租    房子   的   學生         很窮</a:t>
            </a:r>
            <a:br>
              <a:rPr lang="en-US" altLang="zh-CN" sz="2200" dirty="0"/>
            </a:br>
            <a:r>
              <a:rPr lang="en-US" altLang="zh-CN" sz="2200" dirty="0"/>
              <a:t>and Daiyu two-CL-people co-rent house DE student very-poor</a:t>
            </a:r>
            <a:br>
              <a:rPr lang="en-US" altLang="zh-CN" sz="2200" dirty="0"/>
            </a:br>
            <a:r>
              <a:rPr lang="en-US" altLang="zh-CN" sz="2200" dirty="0"/>
              <a:t>Intended: `The student who rents a house together with Daiyu is poor.’ </a:t>
            </a:r>
          </a:p>
          <a:p>
            <a:pPr>
              <a:lnSpc>
                <a:spcPct val="100000"/>
              </a:lnSpc>
            </a:pPr>
            <a:r>
              <a:rPr lang="en-US" altLang="zh-CN" sz="2200" i="1" dirty="0"/>
              <a:t>Gen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Daiyu</a:t>
            </a:r>
            <a:r>
              <a:rPr lang="zh-CN" altLang="en-US" sz="2200" i="1" dirty="0"/>
              <a:t> </a:t>
            </a:r>
            <a:r>
              <a:rPr lang="en-US" altLang="zh-CN" sz="2200" dirty="0"/>
              <a:t>in</a:t>
            </a:r>
            <a:r>
              <a:rPr lang="zh-CN" altLang="en-US" sz="2200" i="1" dirty="0"/>
              <a:t> </a:t>
            </a:r>
            <a:r>
              <a:rPr lang="en-US" altLang="zh-CN" sz="2200" dirty="0"/>
              <a:t>(9)</a:t>
            </a:r>
            <a:r>
              <a:rPr lang="zh-CN" altLang="en-US" sz="2200" dirty="0"/>
              <a:t> </a:t>
            </a:r>
            <a:r>
              <a:rPr lang="en-US" altLang="zh-CN" sz="2200" dirty="0"/>
              <a:t>might</a:t>
            </a:r>
            <a:r>
              <a:rPr lang="zh-CN" altLang="en-US" sz="2200" dirty="0"/>
              <a:t> </a:t>
            </a:r>
            <a:r>
              <a:rPr lang="en-US" altLang="zh-CN" sz="2200" dirty="0"/>
              <a:t>not</a:t>
            </a:r>
            <a:r>
              <a:rPr lang="zh-CN" altLang="en-US" sz="2200" dirty="0"/>
              <a:t> </a:t>
            </a:r>
            <a:r>
              <a:rPr lang="en-US" altLang="zh-CN" sz="2200" dirty="0"/>
              <a:t>be</a:t>
            </a:r>
            <a:r>
              <a:rPr lang="zh-CN" altLang="en-US" sz="2200" dirty="0"/>
              <a:t> </a:t>
            </a:r>
            <a:r>
              <a:rPr lang="en-US" altLang="zh-CN" sz="2200" dirty="0"/>
              <a:t>part</a:t>
            </a:r>
            <a:r>
              <a:rPr lang="zh-CN" altLang="en-US" sz="2200" dirty="0"/>
              <a:t> </a:t>
            </a:r>
            <a:r>
              <a:rPr lang="en-US" altLang="zh-CN" sz="2200" dirty="0"/>
              <a:t>of</a:t>
            </a:r>
            <a:r>
              <a:rPr lang="zh-CN" altLang="en-US" sz="2200" dirty="0"/>
              <a:t> </a:t>
            </a:r>
            <a:r>
              <a:rPr lang="en-US" altLang="zh-CN" sz="2200" dirty="0"/>
              <a:t>conjunction,</a:t>
            </a:r>
            <a:r>
              <a:rPr lang="zh-CN" altLang="en-US" sz="2200" dirty="0"/>
              <a:t> </a:t>
            </a:r>
            <a:r>
              <a:rPr lang="en-US" altLang="zh-CN" sz="2200" dirty="0"/>
              <a:t>thus</a:t>
            </a:r>
            <a:r>
              <a:rPr lang="zh-CN" altLang="en-US" sz="2200" dirty="0"/>
              <a:t> </a:t>
            </a:r>
            <a:r>
              <a:rPr lang="en-US" altLang="zh-CN" sz="2200" dirty="0"/>
              <a:t>(9) is not CC-violating relativization.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D0827-19EC-B8E9-CAD0-69C613CC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57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B8EA-8216-93A7-FB9E-9F8810CD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9FC00-35A0-6ACB-E5C2-CF079D3F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Back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altLang="zh-CN" sz="3600" dirty="0"/>
              <a:t>CC-violating</a:t>
            </a:r>
            <a:r>
              <a:rPr lang="zh-CN" altLang="en-US" sz="3600" dirty="0"/>
              <a:t> </a:t>
            </a:r>
            <a:r>
              <a:rPr lang="en-US" altLang="zh-CN" sz="3600" dirty="0"/>
              <a:t>movement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Mandarin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6B8EB-96DA-83BA-20DD-171862497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US" altLang="zh-CN" dirty="0"/>
              <a:t>Adding</a:t>
            </a:r>
            <a:r>
              <a:rPr lang="zh-CN" altLang="en-US" dirty="0"/>
              <a:t> </a:t>
            </a:r>
            <a:r>
              <a:rPr lang="en-US" altLang="zh-CN" i="1" dirty="0"/>
              <a:t>liang-</a:t>
            </a:r>
            <a:r>
              <a:rPr lang="en-US" altLang="zh-CN" i="1" dirty="0" err="1"/>
              <a:t>ge</a:t>
            </a:r>
            <a:r>
              <a:rPr lang="en-US" altLang="zh-CN" i="1" dirty="0"/>
              <a:t>-ren</a:t>
            </a:r>
            <a:r>
              <a:rPr lang="zh-CN" altLang="en-US" i="1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non</a:t>
            </a:r>
            <a:r>
              <a:rPr lang="zh-CN" altLang="en-US" dirty="0"/>
              <a:t> </a:t>
            </a:r>
            <a:r>
              <a:rPr lang="en-US" altLang="zh-CN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probing</a:t>
            </a:r>
            <a:r>
              <a:rPr lang="zh-CN" altLang="en-US" dirty="0"/>
              <a:t> </a:t>
            </a:r>
            <a:r>
              <a:rPr lang="en-US" altLang="zh-CN" dirty="0"/>
              <a:t>CC-violating</a:t>
            </a:r>
            <a:r>
              <a:rPr lang="zh-CN" altLang="en-US" dirty="0"/>
              <a:t> </a:t>
            </a:r>
            <a:r>
              <a:rPr lang="en-US" altLang="zh-CN" dirty="0"/>
              <a:t>movement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OK: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 startAt="11"/>
            </a:pPr>
            <a:r>
              <a:rPr lang="en-US" altLang="zh-CN" dirty="0"/>
              <a:t>Akiu</a:t>
            </a:r>
            <a:r>
              <a:rPr lang="zh-CN" altLang="en-US" dirty="0"/>
              <a:t> </a:t>
            </a:r>
            <a:r>
              <a:rPr lang="en-US" altLang="zh-CN" dirty="0" err="1"/>
              <a:t>zai</a:t>
            </a:r>
            <a:r>
              <a:rPr lang="zh-CN" altLang="en-US" dirty="0"/>
              <a:t> </a:t>
            </a:r>
            <a:r>
              <a:rPr lang="en-US" altLang="zh-CN" dirty="0" err="1"/>
              <a:t>Riben</a:t>
            </a:r>
            <a:r>
              <a:rPr lang="zh-CN" altLang="en-US" dirty="0"/>
              <a:t> </a:t>
            </a:r>
            <a:r>
              <a:rPr lang="en-US" altLang="zh-CN" dirty="0"/>
              <a:t>[ gen</a:t>
            </a:r>
            <a:r>
              <a:rPr lang="zh-CN" altLang="en-US" dirty="0"/>
              <a:t> </a:t>
            </a:r>
            <a:r>
              <a:rPr lang="en-US" altLang="zh-CN" dirty="0" err="1"/>
              <a:t>Baoyu</a:t>
            </a:r>
            <a:r>
              <a:rPr lang="en-US" altLang="zh-CN" dirty="0"/>
              <a:t>]</a:t>
            </a:r>
            <a:r>
              <a:rPr lang="zh-CN" altLang="en-US" dirty="0"/>
              <a:t> </a:t>
            </a:r>
            <a:r>
              <a:rPr lang="en-US" altLang="zh-CN" b="1" i="1" dirty="0"/>
              <a:t>liang-</a:t>
            </a:r>
            <a:r>
              <a:rPr lang="en-US" altLang="zh-CN" b="1" i="1" dirty="0" err="1"/>
              <a:t>ge</a:t>
            </a:r>
            <a:r>
              <a:rPr lang="en-US" altLang="zh-CN" b="1" i="1" dirty="0"/>
              <a:t>-ren</a:t>
            </a:r>
            <a:r>
              <a:rPr lang="en-US" altLang="zh-CN" i="1" dirty="0"/>
              <a:t> </a:t>
            </a:r>
            <a:r>
              <a:rPr lang="en-US" altLang="zh-CN" dirty="0" err="1"/>
              <a:t>jian</a:t>
            </a:r>
            <a:r>
              <a:rPr lang="en-US" altLang="zh-CN" dirty="0"/>
              <a:t>-le</a:t>
            </a:r>
            <a:r>
              <a:rPr lang="zh-CN" altLang="en-US" dirty="0"/>
              <a:t> </a:t>
            </a:r>
            <a:r>
              <a:rPr lang="en-US" altLang="zh-CN" dirty="0" err="1"/>
              <a:t>mian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阿</a:t>
            </a:r>
            <a:r>
              <a:rPr lang="en-US" altLang="zh-CN" dirty="0"/>
              <a:t>Q</a:t>
            </a:r>
            <a:r>
              <a:rPr lang="zh-CN" altLang="en-US" dirty="0"/>
              <a:t>在日本</a:t>
            </a:r>
            <a:r>
              <a:rPr lang="en-US" altLang="zh-CN" dirty="0"/>
              <a:t>	</a:t>
            </a:r>
            <a:r>
              <a:rPr lang="zh-CN" altLang="en-US" dirty="0"/>
              <a:t>     跟 寶玉        兩個人         見了面</a:t>
            </a:r>
            <a:br>
              <a:rPr lang="en-US" altLang="zh-CN" dirty="0"/>
            </a:br>
            <a:r>
              <a:rPr lang="en-US" altLang="zh-CN" dirty="0"/>
              <a:t>Akiu in Japan 	[t and </a:t>
            </a:r>
            <a:r>
              <a:rPr lang="en-US" altLang="zh-CN" dirty="0" err="1"/>
              <a:t>Baoyu</a:t>
            </a:r>
            <a:r>
              <a:rPr lang="en-US" altLang="zh-CN" dirty="0"/>
              <a:t>] two-CL-people</a:t>
            </a:r>
            <a:r>
              <a:rPr lang="zh-CN" altLang="en-US" dirty="0"/>
              <a:t> </a:t>
            </a:r>
            <a:r>
              <a:rPr lang="en-US" altLang="zh-CN" dirty="0"/>
              <a:t>meet-LE face  </a:t>
            </a:r>
            <a:br>
              <a:rPr lang="en-US" altLang="zh-CN" dirty="0"/>
            </a:br>
            <a:r>
              <a:rPr lang="en-US" altLang="zh-CN" dirty="0"/>
              <a:t>‘Akiu and </a:t>
            </a:r>
            <a:r>
              <a:rPr lang="en-US" altLang="zh-CN" dirty="0" err="1"/>
              <a:t>Baoyu</a:t>
            </a:r>
            <a:r>
              <a:rPr lang="en-US" altLang="zh-CN" dirty="0"/>
              <a:t> two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met up in Japan.’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6C9D8-BF09-A9F8-46C0-A5F043233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1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EF0F-4687-8F4F-15A9-78D1886A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Interim</a:t>
            </a:r>
            <a:r>
              <a:rPr lang="zh-CN" altLang="en-US" sz="3600" dirty="0"/>
              <a:t> </a:t>
            </a:r>
            <a:r>
              <a:rPr lang="en-US" altLang="zh-CN" sz="3600" dirty="0"/>
              <a:t>Summary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3662-66AC-808C-5373-90313B3B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CC-violating</a:t>
            </a:r>
            <a:r>
              <a:rPr lang="zh-CN" altLang="en-US" dirty="0"/>
              <a:t> </a:t>
            </a:r>
            <a:r>
              <a:rPr lang="en-US" altLang="zh-CN" dirty="0"/>
              <a:t>movement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BCMS</a:t>
            </a:r>
            <a:r>
              <a:rPr lang="zh-CN" altLang="en-US" dirty="0"/>
              <a:t> </a:t>
            </a:r>
            <a:r>
              <a:rPr lang="en-US" altLang="zh-CN" dirty="0"/>
              <a:t>challenges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Category</a:t>
            </a:r>
            <a:r>
              <a:rPr lang="zh-CN" altLang="en-US" dirty="0"/>
              <a:t> </a:t>
            </a:r>
            <a:r>
              <a:rPr lang="en-US" altLang="zh-CN" dirty="0"/>
              <a:t>Transfer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CCe.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Parallelism</a:t>
            </a:r>
            <a:r>
              <a:rPr lang="zh-CN" altLang="en-US" dirty="0"/>
              <a:t> </a:t>
            </a:r>
            <a:r>
              <a:rPr lang="en-US" altLang="zh-CN" dirty="0"/>
              <a:t>Requirement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correctly</a:t>
            </a:r>
            <a:r>
              <a:rPr lang="zh-CN" altLang="en-US" dirty="0"/>
              <a:t> </a:t>
            </a:r>
            <a:r>
              <a:rPr lang="en-US" altLang="zh-CN" dirty="0"/>
              <a:t>predicts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wh-movement/scrambling</a:t>
            </a:r>
            <a:r>
              <a:rPr lang="zh-CN" altLang="en-US" dirty="0"/>
              <a:t> </a:t>
            </a:r>
            <a:r>
              <a:rPr lang="en-US" altLang="zh-CN" dirty="0"/>
              <a:t>contrast.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0EB2C-C88B-2FE3-18B9-D94C48EF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CD81-2C92-487A-275A-6B2DFDDC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DE7D-C80C-5D03-66C6-C785A545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problem</a:t>
            </a:r>
            <a:r>
              <a:rPr lang="zh-CN" altLang="en-US" sz="3600" dirty="0"/>
              <a:t> </a:t>
            </a:r>
            <a:r>
              <a:rPr lang="en-US" altLang="zh-CN" sz="3600" dirty="0"/>
              <a:t>for Fortuny’s</a:t>
            </a:r>
            <a:r>
              <a:rPr lang="zh-CN" altLang="en-US" sz="3600" dirty="0"/>
              <a:t> </a:t>
            </a:r>
            <a:r>
              <a:rPr lang="en-US" altLang="zh-CN" sz="3600" dirty="0"/>
              <a:t>Parallelism</a:t>
            </a:r>
            <a:r>
              <a:rPr lang="zh-CN" altLang="en-US" sz="3600" dirty="0"/>
              <a:t> </a:t>
            </a:r>
            <a:r>
              <a:rPr lang="en-US" altLang="zh-CN" sz="3600" dirty="0"/>
              <a:t>Requirement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2EEE8-8465-4981-B58E-2440A2A4C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Fortuny</a:t>
            </a:r>
            <a:r>
              <a:rPr lang="zh-CN" altLang="en-US" dirty="0"/>
              <a:t> </a:t>
            </a:r>
            <a:r>
              <a:rPr lang="en-US" altLang="zh-CN" dirty="0"/>
              <a:t>proposes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generalized</a:t>
            </a:r>
            <a:r>
              <a:rPr lang="zh-CN" altLang="en-US" dirty="0"/>
              <a:t> </a:t>
            </a:r>
            <a:r>
              <a:rPr lang="en-US" altLang="zh-CN" dirty="0"/>
              <a:t>categorial</a:t>
            </a:r>
            <a:r>
              <a:rPr lang="zh-CN" altLang="en-US" dirty="0"/>
              <a:t> </a:t>
            </a:r>
            <a:r>
              <a:rPr lang="en-US" altLang="zh-CN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dirty="0" err="1"/>
              <a:t>Foc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/>
              <a:t>[Rel],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dirty="0" err="1"/>
              <a:t>Wh</a:t>
            </a:r>
            <a:r>
              <a:rPr lang="en-US" altLang="zh-CN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(but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phi</a:t>
            </a:r>
            <a:r>
              <a:rPr lang="zh-CN" altLang="en-US" dirty="0"/>
              <a:t> </a:t>
            </a:r>
            <a:r>
              <a:rPr lang="en-US" altLang="zh-CN" dirty="0"/>
              <a:t>features)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categorial</a:t>
            </a:r>
            <a:r>
              <a:rPr lang="zh-CN" altLang="en-US" dirty="0"/>
              <a:t> </a:t>
            </a:r>
            <a:r>
              <a:rPr lang="en-US" altLang="zh-CN" dirty="0"/>
              <a:t>features.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wh-movement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conjunction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subsumed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coordinating</a:t>
            </a:r>
            <a:r>
              <a:rPr lang="zh-CN" altLang="en-US" dirty="0"/>
              <a:t> </a:t>
            </a:r>
            <a:r>
              <a:rPr lang="en-US" altLang="zh-CN" dirty="0"/>
              <a:t>phrases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categorial</a:t>
            </a:r>
            <a:r>
              <a:rPr lang="zh-CN" altLang="en-US" dirty="0"/>
              <a:t> </a:t>
            </a:r>
            <a:r>
              <a:rPr lang="en-US" altLang="zh-CN" dirty="0"/>
              <a:t>features.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However,</a:t>
            </a:r>
            <a:r>
              <a:rPr lang="zh-CN" altLang="en-US" dirty="0"/>
              <a:t> </a:t>
            </a:r>
            <a:r>
              <a:rPr lang="en-US" altLang="zh-CN" dirty="0"/>
              <a:t>recent discussion established that the</a:t>
            </a:r>
            <a:r>
              <a:rPr lang="zh-CN" altLang="en-US" dirty="0"/>
              <a:t> </a:t>
            </a:r>
            <a:r>
              <a:rPr lang="en-US" altLang="zh-CN" dirty="0"/>
              <a:t>ban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coordinating</a:t>
            </a:r>
            <a:r>
              <a:rPr lang="zh-CN" altLang="en-US" dirty="0"/>
              <a:t> </a:t>
            </a:r>
            <a:r>
              <a:rPr lang="en-US" altLang="zh-CN" dirty="0"/>
              <a:t>phrases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categorial</a:t>
            </a:r>
            <a:r>
              <a:rPr lang="zh-CN" altLang="en-US" dirty="0"/>
              <a:t> </a:t>
            </a:r>
            <a:r>
              <a:rPr lang="en-US" altLang="zh-CN" dirty="0"/>
              <a:t>features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does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not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hold: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arenR" startAt="15"/>
            </a:pPr>
            <a:r>
              <a:rPr lang="en-US" dirty="0"/>
              <a:t>[[</a:t>
            </a:r>
            <a:r>
              <a:rPr lang="en-US" baseline="-25000" dirty="0"/>
              <a:t>NP</a:t>
            </a:r>
            <a:r>
              <a:rPr lang="en-US" dirty="0"/>
              <a:t> That place] and [</a:t>
            </a:r>
            <a:r>
              <a:rPr lang="en-US" baseline="-25000" dirty="0"/>
              <a:t>PP</a:t>
            </a:r>
            <a:r>
              <a:rPr lang="en-US" dirty="0"/>
              <a:t> behind these shops]] are where many families reside.</a:t>
            </a:r>
            <a:r>
              <a:rPr lang="zh-CN" altLang="en-US" dirty="0"/>
              <a:t> </a:t>
            </a:r>
            <a:r>
              <a:rPr lang="en-US" dirty="0"/>
              <a:t>(</a:t>
            </a:r>
            <a:r>
              <a:rPr lang="en-US" dirty="0" err="1"/>
              <a:t>Patejuk</a:t>
            </a:r>
            <a:r>
              <a:rPr lang="en-US" dirty="0"/>
              <a:t> and Przepiórkowski, 2023, ex. 20)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arenR" startAt="15"/>
            </a:pPr>
            <a:r>
              <a:rPr lang="en-US" dirty="0"/>
              <a:t>...[[</a:t>
            </a:r>
            <a:r>
              <a:rPr lang="en-US" baseline="-25000" dirty="0"/>
              <a:t>NP</a:t>
            </a:r>
            <a:r>
              <a:rPr lang="en-US" dirty="0"/>
              <a:t> with respect] and [</a:t>
            </a:r>
            <a:r>
              <a:rPr lang="en-US" baseline="-25000" dirty="0" err="1"/>
              <a:t>AdvP</a:t>
            </a:r>
            <a:r>
              <a:rPr lang="en-US" dirty="0"/>
              <a:t> humanly]] is not how all of us treat our animals!</a:t>
            </a:r>
            <a:r>
              <a:rPr lang="zh-CN" altLang="en-US" dirty="0"/>
              <a:t> </a:t>
            </a:r>
            <a:r>
              <a:rPr lang="en-US" dirty="0"/>
              <a:t>(</a:t>
            </a:r>
            <a:r>
              <a:rPr lang="en-US" dirty="0" err="1"/>
              <a:t>Patejuk</a:t>
            </a:r>
            <a:r>
              <a:rPr lang="en-US" dirty="0"/>
              <a:t> and Przepiórkowski, 2023, ex. 11’)</a:t>
            </a:r>
          </a:p>
          <a:p>
            <a:pPr>
              <a:lnSpc>
                <a:spcPct val="110000"/>
              </a:lnSpc>
            </a:pPr>
            <a:r>
              <a:rPr lang="en-US" dirty="0"/>
              <a:t>Note that the </a:t>
            </a:r>
            <a:r>
              <a:rPr lang="en-US" dirty="0" err="1"/>
              <a:t>pseudocleft</a:t>
            </a:r>
            <a:r>
              <a:rPr lang="en-US" dirty="0"/>
              <a:t> construction in (15-16) rules out the clausal ellipsis analysis of the sentences. 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E4E08-B3B4-AD78-2C00-AEB7318F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1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B92B-2F4D-364A-BE55-F71ADE5A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A</a:t>
            </a:r>
            <a:r>
              <a:rPr lang="zh-CN" altLang="en-US" sz="3600" dirty="0"/>
              <a:t> </a:t>
            </a:r>
            <a:r>
              <a:rPr lang="en-US" altLang="zh-CN" sz="3600" dirty="0"/>
              <a:t>modified</a:t>
            </a:r>
            <a:r>
              <a:rPr lang="zh-CN" altLang="en-US" sz="3600" dirty="0"/>
              <a:t> </a:t>
            </a:r>
            <a:r>
              <a:rPr lang="en-US" altLang="zh-CN" sz="3600" dirty="0"/>
              <a:t>Parallelism</a:t>
            </a:r>
            <a:r>
              <a:rPr lang="zh-CN" altLang="en-US" sz="3600" dirty="0"/>
              <a:t> </a:t>
            </a:r>
            <a:r>
              <a:rPr lang="en-US" altLang="zh-CN" sz="3600" dirty="0"/>
              <a:t>Requirement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0632-FA33-1982-3F30-E8F93D87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 propose a modified Parallelism Requirement: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 startAt="17"/>
            </a:pPr>
            <a:r>
              <a:rPr lang="en-US" dirty="0"/>
              <a:t>The Parallelism Requirement (modified): The conjuncts and the resulting coordinate structure are of the same </a:t>
            </a:r>
            <a:r>
              <a:rPr lang="en-US" b="1" dirty="0"/>
              <a:t>A’</a:t>
            </a:r>
            <a:r>
              <a:rPr lang="en-US" dirty="0"/>
              <a:t> features</a:t>
            </a:r>
            <a:r>
              <a:rPr lang="zh-CN" altLang="en-US" dirty="0"/>
              <a:t> </a:t>
            </a:r>
            <a:r>
              <a:rPr lang="en-US" altLang="zh-CN" dirty="0"/>
              <a:t>e.g. [Rel], [</a:t>
            </a:r>
            <a:r>
              <a:rPr lang="en-US" altLang="zh-CN" dirty="0" err="1"/>
              <a:t>Foc</a:t>
            </a:r>
            <a:r>
              <a:rPr lang="en-US" altLang="zh-CN" dirty="0"/>
              <a:t>], [</a:t>
            </a:r>
            <a:r>
              <a:rPr lang="en-US" altLang="zh-CN" dirty="0" err="1"/>
              <a:t>Wh</a:t>
            </a:r>
            <a:r>
              <a:rPr lang="en-US" altLang="zh-CN" dirty="0"/>
              <a:t>]</a:t>
            </a:r>
            <a:r>
              <a:rPr lang="en-US" dirty="0"/>
              <a:t>. </a:t>
            </a:r>
          </a:p>
          <a:p>
            <a:pPr>
              <a:lnSpc>
                <a:spcPct val="120000"/>
              </a:lnSpc>
            </a:pPr>
            <a:r>
              <a:rPr lang="en-US" dirty="0"/>
              <a:t>Following van Urk 2015, A movement targets obligatory features while A’ movement targets optional features, thus (17) can be implemented as (18)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 startAt="18"/>
            </a:pPr>
            <a:r>
              <a:rPr lang="en-US" dirty="0"/>
              <a:t>The Parallelism Requirement (modified): The conjuncts and the resulting coordinate structure are of the same </a:t>
            </a:r>
            <a:r>
              <a:rPr lang="en-US" b="1" dirty="0"/>
              <a:t>optional</a:t>
            </a:r>
            <a:r>
              <a:rPr lang="en-US" dirty="0"/>
              <a:t> features. </a:t>
            </a:r>
          </a:p>
          <a:p>
            <a:pPr>
              <a:lnSpc>
                <a:spcPct val="120000"/>
              </a:lnSpc>
            </a:pPr>
            <a:r>
              <a:rPr lang="en-US" dirty="0"/>
              <a:t>(18) predicts that CC-violating movement cannot be movement that probes A’/optional features. 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DA917-0083-7A7C-EF27-63B971EA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E0B1-4C3A-76C5-3FD3-04F31F78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9628-1E2E-7938-0B6E-E5A11DBE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Evidence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2F8A9-E55D-858B-2511-3AFB31A35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68" y="2060141"/>
            <a:ext cx="7772400" cy="702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91598A-1F50-A654-BA2D-6C2A93934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196" y="2762466"/>
            <a:ext cx="7772400" cy="1503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0DBDD3-F425-74CF-CBF7-FE1A1820E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68" y="4266413"/>
            <a:ext cx="6283036" cy="87327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4426A7-7516-379B-F649-BA8697A00CF9}"/>
              </a:ext>
            </a:extLst>
          </p:cNvPr>
          <p:cNvSpPr txBox="1">
            <a:spLocks/>
          </p:cNvSpPr>
          <p:nvPr/>
        </p:nvSpPr>
        <p:spPr>
          <a:xfrm>
            <a:off x="8619836" y="2205003"/>
            <a:ext cx="3586613" cy="389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/>
              <a:t>5/30 chose </a:t>
            </a:r>
            <a:r>
              <a:rPr lang="en-US" altLang="zh-CN" sz="2200" i="1" dirty="0"/>
              <a:t>the generals</a:t>
            </a:r>
          </a:p>
          <a:p>
            <a:pPr marL="0" indent="0">
              <a:buNone/>
            </a:pPr>
            <a:endParaRPr lang="en-US" altLang="zh-CN" sz="2200" dirty="0"/>
          </a:p>
          <a:p>
            <a:r>
              <a:rPr lang="en-US" altLang="zh-CN" sz="2200" dirty="0"/>
              <a:t>25/30 chose </a:t>
            </a:r>
            <a:r>
              <a:rPr lang="en-US" altLang="zh-CN" sz="2200" i="1" dirty="0"/>
              <a:t>the generals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1C763E2-4D8C-433C-8D23-09C0AD52FBD3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1201996" cy="514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/>
              <a:t>Shen 2023: CC-violating movement in BCMS feeds quantifier binding,</a:t>
            </a:r>
            <a:r>
              <a:rPr lang="zh-CN" altLang="en-US" sz="2200" dirty="0"/>
              <a:t> </a:t>
            </a:r>
            <a:r>
              <a:rPr lang="en-US" altLang="zh-CN" sz="2200" dirty="0"/>
              <a:t>suggesting</a:t>
            </a:r>
            <a:r>
              <a:rPr lang="zh-CN" altLang="en-US" sz="2200" dirty="0"/>
              <a:t> </a:t>
            </a:r>
            <a:r>
              <a:rPr lang="en-US" altLang="zh-CN" sz="2200" dirty="0"/>
              <a:t>A</a:t>
            </a:r>
            <a:r>
              <a:rPr lang="zh-CN" altLang="en-US" sz="2200" dirty="0"/>
              <a:t> </a:t>
            </a:r>
            <a:r>
              <a:rPr lang="en-US" altLang="zh-CN" sz="2200" dirty="0"/>
              <a:t>movement.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F9BFBD3-1F4A-B038-234A-4046C91F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F638CA-48DC-297E-F362-012B1231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CC16-0FE2-2D36-DEAC-E551E478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Evidence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B22606B-913A-19E4-2310-CBEA7828D9DF}"/>
              </a:ext>
            </a:extLst>
          </p:cNvPr>
          <p:cNvSpPr txBox="1">
            <a:spLocks/>
          </p:cNvSpPr>
          <p:nvPr/>
        </p:nvSpPr>
        <p:spPr>
          <a:xfrm>
            <a:off x="838200" y="1603574"/>
            <a:ext cx="10858798" cy="4344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200" dirty="0"/>
              <a:t>A</a:t>
            </a:r>
            <a:r>
              <a:rPr lang="zh-CN" altLang="en-US" sz="2200" dirty="0"/>
              <a:t> </a:t>
            </a:r>
            <a:r>
              <a:rPr lang="en-US" altLang="zh-CN" sz="2200" dirty="0"/>
              <a:t>reviewer</a:t>
            </a:r>
            <a:r>
              <a:rPr lang="zh-CN" altLang="en-US" sz="2200" dirty="0"/>
              <a:t> </a:t>
            </a:r>
            <a:r>
              <a:rPr lang="en-US" altLang="zh-CN" sz="2200" dirty="0"/>
              <a:t>suggest</a:t>
            </a:r>
            <a:r>
              <a:rPr lang="zh-CN" altLang="en-US" sz="2200" dirty="0"/>
              <a:t> </a:t>
            </a:r>
            <a:r>
              <a:rPr lang="en-US" altLang="zh-CN" sz="2200" dirty="0"/>
              <a:t>that</a:t>
            </a:r>
            <a:r>
              <a:rPr lang="zh-CN" altLang="en-US" sz="2200" dirty="0"/>
              <a:t> </a:t>
            </a:r>
            <a:r>
              <a:rPr lang="en-US" altLang="zh-CN" sz="2200" dirty="0"/>
              <a:t>(23b) could</a:t>
            </a:r>
            <a:r>
              <a:rPr lang="zh-CN" altLang="en-US" sz="2200" dirty="0"/>
              <a:t> </a:t>
            </a:r>
            <a:r>
              <a:rPr lang="en-US" altLang="zh-CN" sz="2200" dirty="0"/>
              <a:t>result from clausal ellipsis</a:t>
            </a:r>
            <a:r>
              <a:rPr lang="zh-CN" altLang="en-US" sz="2200" dirty="0"/>
              <a:t> </a:t>
            </a:r>
            <a:r>
              <a:rPr lang="en-US" altLang="zh-CN" sz="2200" dirty="0"/>
              <a:t>thus</a:t>
            </a:r>
            <a:r>
              <a:rPr lang="zh-CN" altLang="en-US" sz="2200" dirty="0"/>
              <a:t> </a:t>
            </a:r>
            <a:r>
              <a:rPr lang="en-US" altLang="zh-CN" sz="2200" dirty="0"/>
              <a:t>does</a:t>
            </a:r>
            <a:r>
              <a:rPr lang="zh-CN" altLang="en-US" sz="2200" dirty="0"/>
              <a:t> </a:t>
            </a:r>
            <a:r>
              <a:rPr lang="en-US" altLang="zh-CN" sz="2200" dirty="0"/>
              <a:t>not</a:t>
            </a:r>
            <a:r>
              <a:rPr lang="zh-CN" altLang="en-US" sz="2200" dirty="0"/>
              <a:t> </a:t>
            </a:r>
            <a:r>
              <a:rPr lang="en-US" altLang="zh-CN" sz="2200" dirty="0"/>
              <a:t>involve</a:t>
            </a:r>
            <a:r>
              <a:rPr lang="zh-CN" altLang="en-US" sz="2200" dirty="0"/>
              <a:t> </a:t>
            </a:r>
            <a:r>
              <a:rPr lang="en-US" altLang="zh-CN" sz="2200" dirty="0"/>
              <a:t>CC-violating</a:t>
            </a:r>
            <a:r>
              <a:rPr lang="zh-CN" altLang="en-US" sz="2200" dirty="0"/>
              <a:t> </a:t>
            </a:r>
            <a:r>
              <a:rPr lang="en-US" altLang="zh-CN" sz="2200" dirty="0"/>
              <a:t>movement: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 startAt="19"/>
            </a:pPr>
            <a:r>
              <a:rPr lang="en-US" altLang="zh-CN" sz="2200" dirty="0"/>
              <a:t>[</a:t>
            </a:r>
            <a:r>
              <a:rPr lang="en-US" altLang="zh-CN" sz="2200" dirty="0" err="1"/>
              <a:t>Every.acc</a:t>
            </a:r>
            <a:r>
              <a:rPr lang="en-US" altLang="zh-CN" sz="2200" dirty="0"/>
              <a:t> </a:t>
            </a:r>
            <a:r>
              <a:rPr lang="en-US" altLang="zh-CN" sz="2200" dirty="0" err="1"/>
              <a:t>general.acc</a:t>
            </a:r>
            <a:r>
              <a:rPr lang="en-US" altLang="zh-CN" sz="2200" dirty="0"/>
              <a:t> his </a:t>
            </a:r>
            <a:r>
              <a:rPr lang="en-US" altLang="zh-CN" sz="2200" dirty="0" err="1"/>
              <a:t>soliders</a:t>
            </a:r>
            <a:r>
              <a:rPr lang="en-US" altLang="zh-CN" sz="2200" dirty="0"/>
              <a:t> love] and [self’s country &lt;his soldiers love&gt;]</a:t>
            </a:r>
          </a:p>
          <a:p>
            <a:pPr>
              <a:lnSpc>
                <a:spcPct val="100000"/>
              </a:lnSpc>
            </a:pPr>
            <a:r>
              <a:rPr lang="en-US" altLang="zh-CN" sz="2200" dirty="0"/>
              <a:t>Adding</a:t>
            </a:r>
            <a:r>
              <a:rPr lang="en-US" altLang="zh-CN" sz="2200" i="1" dirty="0"/>
              <a:t> </a:t>
            </a:r>
            <a:r>
              <a:rPr lang="en-US" altLang="zh-CN" sz="2200" i="1" dirty="0" err="1"/>
              <a:t>podjednako</a:t>
            </a:r>
            <a:r>
              <a:rPr lang="zh-CN" altLang="en-US" sz="2200" i="1" dirty="0"/>
              <a:t> </a:t>
            </a:r>
            <a:r>
              <a:rPr lang="en-US" altLang="zh-CN" sz="2200" dirty="0"/>
              <a:t>‘</a:t>
            </a:r>
            <a:r>
              <a:rPr lang="en-US" altLang="zh-CN" sz="2200" b="1" dirty="0"/>
              <a:t>equally</a:t>
            </a:r>
            <a:r>
              <a:rPr lang="en-US" altLang="zh-CN" sz="2200" dirty="0"/>
              <a:t>’</a:t>
            </a:r>
            <a:r>
              <a:rPr lang="zh-CN" altLang="en-US" sz="2200" dirty="0"/>
              <a:t> </a:t>
            </a:r>
            <a:r>
              <a:rPr lang="en-US" altLang="zh-CN" sz="2200" dirty="0"/>
              <a:t>rules</a:t>
            </a:r>
            <a:r>
              <a:rPr lang="zh-CN" altLang="en-US" sz="2200" dirty="0"/>
              <a:t> </a:t>
            </a:r>
            <a:r>
              <a:rPr lang="en-US" altLang="zh-CN" sz="2200" dirty="0"/>
              <a:t>out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clausal</a:t>
            </a:r>
            <a:r>
              <a:rPr lang="zh-CN" altLang="en-US" sz="2200" dirty="0"/>
              <a:t> </a:t>
            </a:r>
            <a:r>
              <a:rPr lang="en-US" altLang="zh-CN" sz="2200" dirty="0"/>
              <a:t>ellipsis</a:t>
            </a:r>
            <a:r>
              <a:rPr lang="zh-CN" altLang="en-US" sz="2200" dirty="0"/>
              <a:t> </a:t>
            </a:r>
            <a:r>
              <a:rPr lang="en-US" altLang="zh-CN" sz="2200" dirty="0"/>
              <a:t>parse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4</a:t>
            </a:r>
            <a:r>
              <a:rPr lang="zh-CN" altLang="en-US" sz="2200" dirty="0"/>
              <a:t> </a:t>
            </a:r>
            <a:r>
              <a:rPr lang="en-US" altLang="zh-CN" sz="2200" dirty="0"/>
              <a:t>out</a:t>
            </a:r>
            <a:r>
              <a:rPr lang="zh-CN" altLang="en-US" sz="2200" dirty="0"/>
              <a:t> </a:t>
            </a:r>
            <a:r>
              <a:rPr lang="en-US" altLang="zh-CN" sz="2200" dirty="0"/>
              <a:t>of</a:t>
            </a:r>
            <a:r>
              <a:rPr lang="zh-CN" altLang="en-US" sz="2200" dirty="0"/>
              <a:t> </a:t>
            </a:r>
            <a:r>
              <a:rPr lang="en-US" altLang="zh-CN" sz="2200" dirty="0"/>
              <a:t>5</a:t>
            </a:r>
            <a:r>
              <a:rPr lang="zh-CN" altLang="en-US" sz="2200" dirty="0"/>
              <a:t> </a:t>
            </a:r>
            <a:r>
              <a:rPr lang="en-US" altLang="zh-CN" sz="2200" dirty="0"/>
              <a:t>speakers I consulted</a:t>
            </a:r>
            <a:r>
              <a:rPr lang="zh-CN" altLang="en-US" sz="2200" dirty="0"/>
              <a:t> </a:t>
            </a:r>
            <a:r>
              <a:rPr lang="en-US" altLang="zh-CN" sz="2200" dirty="0"/>
              <a:t>chose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bound</a:t>
            </a:r>
            <a:r>
              <a:rPr lang="zh-CN" altLang="en-US" sz="2200" dirty="0"/>
              <a:t> </a:t>
            </a:r>
            <a:r>
              <a:rPr lang="en-US" altLang="zh-CN" sz="2200" dirty="0"/>
              <a:t>variable</a:t>
            </a:r>
            <a:r>
              <a:rPr lang="zh-CN" altLang="en-US" sz="2200" dirty="0"/>
              <a:t> </a:t>
            </a:r>
            <a:r>
              <a:rPr lang="en-US" altLang="zh-CN" sz="2200" dirty="0"/>
              <a:t>reading.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marL="457200" indent="-457200">
              <a:lnSpc>
                <a:spcPct val="100000"/>
              </a:lnSpc>
              <a:buFont typeface="+mj-lt"/>
              <a:buAutoNum type="arabicParenR" startAt="20"/>
            </a:pPr>
            <a:r>
              <a:rPr lang="en-US" altLang="zh-CN" sz="2200" dirty="0" err="1"/>
              <a:t>Svakog</a:t>
            </a:r>
            <a:r>
              <a:rPr lang="en-US" altLang="zh-CN" sz="2200" dirty="0"/>
              <a:t> </a:t>
            </a:r>
            <a:r>
              <a:rPr lang="en-US" altLang="zh-CN" sz="2200" dirty="0" err="1"/>
              <a:t>generala</a:t>
            </a:r>
            <a:r>
              <a:rPr lang="en-US" altLang="zh-CN" sz="2200" dirty="0"/>
              <a:t> 	</a:t>
            </a:r>
            <a:r>
              <a:rPr lang="en-US" altLang="zh-CN" sz="2200" dirty="0" err="1"/>
              <a:t>njegovi</a:t>
            </a:r>
            <a:r>
              <a:rPr lang="en-US" altLang="zh-CN" sz="2200" dirty="0"/>
              <a:t> </a:t>
            </a:r>
            <a:r>
              <a:rPr lang="en-US" altLang="zh-CN" sz="2200" dirty="0" err="1"/>
              <a:t>vojnici</a:t>
            </a:r>
            <a:r>
              <a:rPr lang="en-US" altLang="zh-CN" sz="2200" dirty="0"/>
              <a:t> 	</a:t>
            </a:r>
            <a:r>
              <a:rPr lang="en-US" altLang="zh-CN" sz="2200" dirty="0" err="1"/>
              <a:t>podjednako</a:t>
            </a:r>
            <a:r>
              <a:rPr lang="en-US" altLang="zh-CN" sz="2200" dirty="0"/>
              <a:t> 	vole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		</a:t>
            </a:r>
            <a:r>
              <a:rPr lang="en-US" altLang="zh-CN" sz="2200" dirty="0" err="1"/>
              <a:t>svoju</a:t>
            </a:r>
            <a:r>
              <a:rPr lang="en-US" altLang="zh-CN" sz="2200" dirty="0"/>
              <a:t> </a:t>
            </a:r>
            <a:r>
              <a:rPr lang="en-US" altLang="zh-CN" sz="2200" dirty="0" err="1"/>
              <a:t>zemlju</a:t>
            </a:r>
            <a:r>
              <a:rPr lang="en-US" altLang="zh-CN" sz="2200" dirty="0"/>
              <a:t>.</a:t>
            </a:r>
            <a:br>
              <a:rPr lang="en-US" altLang="zh-CN" sz="2200" dirty="0"/>
            </a:br>
            <a:r>
              <a:rPr lang="en-US" altLang="zh-CN" sz="2200" dirty="0"/>
              <a:t>Every</a:t>
            </a:r>
            <a:r>
              <a:rPr lang="zh-CN" altLang="en-US" sz="2200" dirty="0"/>
              <a:t>   </a:t>
            </a:r>
            <a:r>
              <a:rPr lang="en-US" altLang="zh-CN" sz="2200" dirty="0" err="1"/>
              <a:t>general.acc</a:t>
            </a:r>
            <a:r>
              <a:rPr lang="zh-CN" altLang="en-US" sz="2200" dirty="0"/>
              <a:t> </a:t>
            </a:r>
            <a:r>
              <a:rPr lang="en-US" altLang="zh-CN" sz="2200" dirty="0"/>
              <a:t>his</a:t>
            </a:r>
            <a:r>
              <a:rPr lang="zh-CN" altLang="en-US" sz="2200" dirty="0"/>
              <a:t> </a:t>
            </a:r>
            <a:r>
              <a:rPr lang="en-US" altLang="zh-CN" sz="2200" dirty="0"/>
              <a:t>soldiers</a:t>
            </a:r>
            <a:r>
              <a:rPr lang="zh-CN" altLang="en-US" sz="2200" dirty="0"/>
              <a:t> </a:t>
            </a:r>
            <a:r>
              <a:rPr lang="en-US" altLang="zh-CN" sz="2200" dirty="0"/>
              <a:t>	</a:t>
            </a:r>
            <a:r>
              <a:rPr lang="en-US" altLang="zh-CN" sz="2200" b="1" dirty="0"/>
              <a:t>equally</a:t>
            </a:r>
            <a:r>
              <a:rPr lang="zh-CN" altLang="en-US" sz="2200" dirty="0"/>
              <a:t> </a:t>
            </a:r>
            <a:r>
              <a:rPr lang="en-US" altLang="zh-CN" sz="2200" dirty="0"/>
              <a:t>	love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	self’s</a:t>
            </a:r>
            <a:r>
              <a:rPr lang="zh-CN" altLang="en-US" sz="2200" dirty="0"/>
              <a:t> </a:t>
            </a:r>
            <a:r>
              <a:rPr lang="en-US" altLang="zh-CN" sz="2200" dirty="0"/>
              <a:t>country.</a:t>
            </a:r>
            <a:r>
              <a:rPr lang="zh-CN" altLang="en-US" sz="2200" dirty="0"/>
              <a:t> </a:t>
            </a:r>
            <a:br>
              <a:rPr lang="en-US" altLang="zh-CN" sz="2200" dirty="0"/>
            </a:br>
            <a:r>
              <a:rPr lang="en-US" altLang="zh-CN" sz="2200" dirty="0"/>
              <a:t>‘Every</a:t>
            </a:r>
            <a:r>
              <a:rPr lang="zh-CN" altLang="en-US" sz="2200" dirty="0"/>
              <a:t> </a:t>
            </a:r>
            <a:r>
              <a:rPr lang="en-US" altLang="zh-CN" sz="2200" dirty="0"/>
              <a:t>general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 </a:t>
            </a:r>
            <a:r>
              <a:rPr lang="en-US" altLang="zh-CN" sz="2200" dirty="0"/>
              <a:t>is</a:t>
            </a:r>
            <a:r>
              <a:rPr lang="zh-CN" altLang="en-US" sz="2200" dirty="0"/>
              <a:t> </a:t>
            </a:r>
            <a:r>
              <a:rPr lang="en-US" altLang="zh-CN" sz="2200" dirty="0"/>
              <a:t>such</a:t>
            </a:r>
            <a:r>
              <a:rPr lang="zh-CN" altLang="en-US" sz="2200" dirty="0"/>
              <a:t> </a:t>
            </a:r>
            <a:r>
              <a:rPr lang="en-US" altLang="zh-CN" sz="2200" dirty="0"/>
              <a:t>that</a:t>
            </a:r>
            <a:r>
              <a:rPr lang="zh-CN" altLang="en-US" sz="2200" dirty="0"/>
              <a:t> </a:t>
            </a:r>
            <a:r>
              <a:rPr lang="en-US" altLang="zh-CN" sz="2200" dirty="0"/>
              <a:t>his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 </a:t>
            </a:r>
            <a:r>
              <a:rPr lang="en-US" altLang="zh-CN" sz="2200" dirty="0"/>
              <a:t>soldiers</a:t>
            </a:r>
            <a:r>
              <a:rPr lang="zh-CN" altLang="en-US" sz="2200" dirty="0"/>
              <a:t> </a:t>
            </a:r>
            <a:r>
              <a:rPr lang="en-US" altLang="zh-CN" sz="2200" dirty="0"/>
              <a:t>equally</a:t>
            </a:r>
            <a:r>
              <a:rPr lang="zh-CN" altLang="en-US" sz="2200" dirty="0"/>
              <a:t> </a:t>
            </a:r>
            <a:r>
              <a:rPr lang="en-US" altLang="zh-CN" sz="2200" dirty="0"/>
              <a:t>love</a:t>
            </a:r>
            <a:r>
              <a:rPr lang="zh-CN" altLang="en-US" sz="2200" dirty="0"/>
              <a:t> </a:t>
            </a:r>
            <a:r>
              <a:rPr lang="en-US" altLang="zh-CN" sz="2200" dirty="0"/>
              <a:t>him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soldier’s</a:t>
            </a:r>
            <a:r>
              <a:rPr lang="zh-CN" altLang="en-US" sz="2200" dirty="0"/>
              <a:t> </a:t>
            </a:r>
            <a:r>
              <a:rPr lang="en-US" altLang="zh-CN" sz="2200" dirty="0"/>
              <a:t>country.’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arenR" startAt="20"/>
            </a:pPr>
            <a:endParaRPr lang="en-US" altLang="zh-CN" sz="2200" dirty="0"/>
          </a:p>
          <a:p>
            <a:pPr>
              <a:lnSpc>
                <a:spcPct val="100000"/>
              </a:lnSpc>
            </a:pPr>
            <a:endParaRPr lang="en-US" altLang="zh-CN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4B19E-55B0-6185-4588-83AA36FF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4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C5BC-446E-1621-BEB0-59B9364E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Challenges</a:t>
            </a:r>
            <a:r>
              <a:rPr lang="zh-CN" altLang="en-US" sz="3600" dirty="0"/>
              <a:t> </a:t>
            </a:r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cross-linguistic data?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C2E8-0BE1-F9CB-91FA-6138FB70A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600" dirty="0"/>
              <a:t>So</a:t>
            </a:r>
            <a:r>
              <a:rPr lang="zh-CN" altLang="en-US" sz="2600" dirty="0"/>
              <a:t> </a:t>
            </a:r>
            <a:r>
              <a:rPr lang="en-US" altLang="zh-CN" sz="2600" dirty="0"/>
              <a:t>far the proposal is supported by the data from Mandarin and BCMS. </a:t>
            </a:r>
          </a:p>
          <a:p>
            <a:pPr>
              <a:lnSpc>
                <a:spcPct val="100000"/>
              </a:lnSpc>
            </a:pPr>
            <a:r>
              <a:rPr lang="en-US" altLang="zh-CN" sz="2600" dirty="0"/>
              <a:t>It would be ideal if the Requirement is universal.</a:t>
            </a:r>
          </a:p>
          <a:p>
            <a:pPr>
              <a:lnSpc>
                <a:spcPct val="100000"/>
              </a:lnSpc>
            </a:pPr>
            <a:r>
              <a:rPr lang="en-US" altLang="zh-CN" sz="2600" dirty="0"/>
              <a:t>Oda 2021 reported/summarized CC-violating movement from several other languages. </a:t>
            </a:r>
          </a:p>
          <a:p>
            <a:pPr lvl="1">
              <a:lnSpc>
                <a:spcPct val="100000"/>
              </a:lnSpc>
            </a:pPr>
            <a:r>
              <a:rPr lang="en-US" altLang="zh-CN" sz="2600" dirty="0"/>
              <a:t>Almost all are scrambling-like movement, compatible with the proposal.</a:t>
            </a:r>
          </a:p>
          <a:p>
            <a:pPr lvl="1">
              <a:lnSpc>
                <a:spcPct val="100000"/>
              </a:lnSpc>
            </a:pPr>
            <a:r>
              <a:rPr lang="en-US" altLang="zh-CN" sz="2600" dirty="0"/>
              <a:t>But</a:t>
            </a:r>
            <a:r>
              <a:rPr lang="zh-CN" altLang="en-US" sz="2600" dirty="0"/>
              <a:t> </a:t>
            </a:r>
            <a:r>
              <a:rPr lang="en-US" altLang="zh-CN" sz="2600" dirty="0"/>
              <a:t>there</a:t>
            </a:r>
            <a:r>
              <a:rPr lang="zh-CN" altLang="en-US" sz="2600" dirty="0"/>
              <a:t> </a:t>
            </a:r>
            <a:r>
              <a:rPr lang="en-US" altLang="zh-CN" sz="2600" dirty="0"/>
              <a:t>are</a:t>
            </a:r>
            <a:r>
              <a:rPr lang="zh-CN" altLang="en-US" sz="2600" dirty="0"/>
              <a:t> </a:t>
            </a:r>
            <a:r>
              <a:rPr lang="en-US" altLang="zh-CN" sz="2600" dirty="0"/>
              <a:t>examples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/>
              <a:t>movement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-elements</a:t>
            </a:r>
            <a:r>
              <a:rPr lang="zh-CN" altLang="en-US" sz="2600" dirty="0"/>
              <a:t> </a:t>
            </a:r>
            <a:r>
              <a:rPr lang="en-US" altLang="zh-CN" sz="2600" dirty="0"/>
              <a:t>as</a:t>
            </a:r>
            <a:r>
              <a:rPr lang="zh-CN" altLang="en-US" sz="2600" dirty="0"/>
              <a:t> </a:t>
            </a:r>
            <a:r>
              <a:rPr lang="en-US" altLang="zh-CN" sz="2600" dirty="0"/>
              <a:t>well: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69D1D-161E-121D-6E2F-B82D3BB7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2FBFE-4B58-DA6F-A405-31281024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10B40-3070-79C8-2D67-DB27991D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Challenges</a:t>
            </a:r>
            <a:r>
              <a:rPr lang="zh-CN" altLang="en-US" sz="3600" dirty="0"/>
              <a:t> </a:t>
            </a:r>
            <a:r>
              <a:rPr lang="en-US" altLang="zh-CN" sz="3600" dirty="0"/>
              <a:t>from</a:t>
            </a:r>
            <a:r>
              <a:rPr lang="zh-CN" altLang="en-US" sz="3600" dirty="0"/>
              <a:t> </a:t>
            </a:r>
            <a:r>
              <a:rPr lang="en-US" altLang="zh-CN" sz="3600" dirty="0"/>
              <a:t>cross-linguistic data?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2B77A-49CC-2F76-EBF2-B02F3C7B8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62846-A8DE-9BC1-0094-510616A6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E993FA-7972-A629-97E5-1F6E26154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" y="1535431"/>
            <a:ext cx="5574030" cy="472076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24D8CAF-4C1D-9AD3-298E-089734E42B8D}"/>
              </a:ext>
            </a:extLst>
          </p:cNvPr>
          <p:cNvSpPr txBox="1">
            <a:spLocks/>
          </p:cNvSpPr>
          <p:nvPr/>
        </p:nvSpPr>
        <p:spPr>
          <a:xfrm>
            <a:off x="6397781" y="4997415"/>
            <a:ext cx="5245579" cy="1219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/>
              <a:t>Zentz 2016: </a:t>
            </a:r>
            <a:r>
              <a:rPr lang="en-US" altLang="zh-CN" sz="2200" i="1" dirty="0" err="1"/>
              <a:t>na</a:t>
            </a:r>
            <a:r>
              <a:rPr lang="en-US" altLang="zh-CN" sz="2200" i="1" dirty="0"/>
              <a:t>-</a:t>
            </a:r>
            <a:r>
              <a:rPr lang="en-US" altLang="zh-CN" sz="2200" dirty="0"/>
              <a:t> involves a “</a:t>
            </a:r>
            <a:r>
              <a:rPr lang="en-US" sz="2200" dirty="0"/>
              <a:t>comitative construction”, instead of coordination.</a:t>
            </a:r>
            <a:endParaRPr lang="en-US" altLang="zh-CN" sz="2200" i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0EA6DA-1803-A4E5-2463-7F7515AB74E9}"/>
              </a:ext>
            </a:extLst>
          </p:cNvPr>
          <p:cNvGrpSpPr/>
          <p:nvPr/>
        </p:nvGrpSpPr>
        <p:grpSpPr>
          <a:xfrm>
            <a:off x="6412231" y="1746388"/>
            <a:ext cx="5363210" cy="3111257"/>
            <a:chOff x="6412231" y="1746388"/>
            <a:chExt cx="5363210" cy="3111257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58DB69E1-553E-4414-6946-903897DB70CC}"/>
                </a:ext>
              </a:extLst>
            </p:cNvPr>
            <p:cNvSpPr txBox="1">
              <a:spLocks/>
            </p:cNvSpPr>
            <p:nvPr/>
          </p:nvSpPr>
          <p:spPr>
            <a:xfrm>
              <a:off x="6412231" y="1746388"/>
              <a:ext cx="5363210" cy="311125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zh-CN" sz="2200" dirty="0"/>
                <a:t>Forbes 2014 notes that in Gitksan (19) and </a:t>
              </a:r>
              <a:r>
                <a:rPr lang="en-US" altLang="zh-CN" sz="2200" dirty="0" err="1"/>
                <a:t>Nisgha</a:t>
              </a:r>
              <a:r>
                <a:rPr lang="en-US" altLang="zh-CN" sz="2200" dirty="0"/>
                <a:t> (20), </a:t>
              </a:r>
              <a:r>
                <a:rPr lang="en-US" altLang="zh-CN" sz="2200" i="1" dirty="0"/>
                <a:t>gan</a:t>
              </a:r>
              <a:r>
                <a:rPr lang="en-US" altLang="zh-CN" sz="2200" dirty="0"/>
                <a:t>+DP2 can be extraposed to sentence final. </a:t>
              </a:r>
            </a:p>
            <a:p>
              <a:pPr>
                <a:lnSpc>
                  <a:spcPct val="110000"/>
                </a:lnSpc>
              </a:pPr>
              <a:endParaRPr lang="en-US" altLang="zh-CN" sz="2200" dirty="0"/>
            </a:p>
            <a:p>
              <a:pPr marL="0" indent="0">
                <a:lnSpc>
                  <a:spcPct val="110000"/>
                </a:lnSpc>
                <a:buNone/>
              </a:pPr>
              <a:endParaRPr lang="en-US" altLang="zh-CN" sz="2200" dirty="0"/>
            </a:p>
            <a:p>
              <a:pPr>
                <a:lnSpc>
                  <a:spcPct val="110000"/>
                </a:lnSpc>
              </a:pPr>
              <a:r>
                <a:rPr lang="en-US" altLang="zh-CN" sz="2200" dirty="0"/>
                <a:t>Forbes: that ‘</a:t>
              </a:r>
              <a:r>
                <a:rPr lang="en-US" altLang="zh-CN" sz="2200" i="1" dirty="0"/>
                <a:t>gan</a:t>
              </a:r>
              <a:r>
                <a:rPr lang="en-US" altLang="zh-CN" sz="2200" dirty="0"/>
                <a:t>+DP2’ adjoins to DP1 and can be extraposed.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B379ABD-0916-895D-8904-1FCF8456A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5401" y="2888827"/>
              <a:ext cx="4070397" cy="10961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778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DE9B-2633-1AF2-89BA-B41347F5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CE65-3AD2-A186-B8E0-5F2C6A1A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/>
              <a:t>Arano and Oda 2019: Japanese</a:t>
            </a:r>
            <a:endParaRPr lang="en-US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7AE671-5635-BCAF-0531-6E1C53DFC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5412" y="2685562"/>
            <a:ext cx="10515600" cy="21287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A050A-5849-3F0F-8BF0-CAE4EF78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25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894126-A779-1F6A-F121-61BC35D2EFF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600" dirty="0"/>
              <a:t>Arano and Oda 2019 notes CC-violating movement </a:t>
            </a:r>
            <a:r>
              <a:rPr lang="en-US" altLang="zh-CN" sz="2600" dirty="0"/>
              <a:t>in</a:t>
            </a:r>
            <a:r>
              <a:rPr lang="zh-CN" altLang="en-US" sz="2600" dirty="0"/>
              <a:t> </a:t>
            </a:r>
            <a:r>
              <a:rPr lang="en-US" altLang="zh-CN" sz="2600" dirty="0"/>
              <a:t>Japanese</a:t>
            </a:r>
            <a:r>
              <a:rPr lang="zh-CN" altLang="en-US" sz="2600" dirty="0"/>
              <a:t> </a:t>
            </a:r>
            <a:r>
              <a:rPr lang="en-US" sz="2600" dirty="0"/>
              <a:t>does not feed (variable) binding, unlike BCMS.</a:t>
            </a:r>
          </a:p>
          <a:p>
            <a:pPr>
              <a:lnSpc>
                <a:spcPct val="100000"/>
              </a:lnSpc>
            </a:pPr>
            <a:endParaRPr lang="en-US" sz="2600" dirty="0"/>
          </a:p>
          <a:p>
            <a:pPr>
              <a:lnSpc>
                <a:spcPct val="100000"/>
              </a:lnSpc>
            </a:pPr>
            <a:endParaRPr lang="en-US" sz="2600" dirty="0"/>
          </a:p>
          <a:p>
            <a:pPr>
              <a:lnSpc>
                <a:spcPct val="100000"/>
              </a:lnSpc>
            </a:pPr>
            <a:endParaRPr lang="en-US" sz="2600" dirty="0"/>
          </a:p>
          <a:p>
            <a:pPr>
              <a:lnSpc>
                <a:spcPct val="100000"/>
              </a:lnSpc>
            </a:pPr>
            <a:endParaRPr lang="en-US" sz="2600" dirty="0"/>
          </a:p>
          <a:p>
            <a:pPr>
              <a:lnSpc>
                <a:spcPct val="100000"/>
              </a:lnSpc>
            </a:pPr>
            <a:r>
              <a:rPr lang="en-US" dirty="0"/>
              <a:t>A&amp;O 2019 thus argues that CC-viola</a:t>
            </a:r>
            <a:r>
              <a:rPr lang="en-US" altLang="zh-CN" dirty="0"/>
              <a:t>ting</a:t>
            </a:r>
            <a:r>
              <a:rPr lang="zh-CN" altLang="en-US" dirty="0"/>
              <a:t> </a:t>
            </a:r>
            <a:r>
              <a:rPr lang="en-US" altLang="zh-CN" dirty="0"/>
              <a:t>movement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A’ scrambling, </a:t>
            </a:r>
            <a:r>
              <a:rPr lang="en-US" altLang="zh-CN" dirty="0"/>
              <a:t>potentially</a:t>
            </a:r>
            <a:r>
              <a:rPr lang="zh-CN" altLang="en-US" dirty="0"/>
              <a:t> </a:t>
            </a:r>
            <a:r>
              <a:rPr lang="en-US" dirty="0"/>
              <a:t>challenging the modified Parallelism.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9933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F9E9-AFAD-3EB7-D8B2-13679588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AF91-2AEE-2397-43C6-16584268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Arano and Oda 2019: Japanese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8CF029-58A8-923B-A01D-FF292C926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09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/>
              <a:t>A&amp;O:</a:t>
            </a:r>
            <a:r>
              <a:rPr lang="zh-CN" altLang="en-US" sz="2400" dirty="0"/>
              <a:t> </a:t>
            </a:r>
            <a:r>
              <a:rPr lang="en-US" sz="2400" dirty="0"/>
              <a:t>that scrambling that crosses a transfer domain</a:t>
            </a:r>
            <a:r>
              <a:rPr lang="zh-CN" altLang="en-US" sz="2400" dirty="0"/>
              <a:t> </a:t>
            </a:r>
            <a:r>
              <a:rPr lang="en-US" altLang="zh-CN" sz="2400" dirty="0"/>
              <a:t>(e.g.</a:t>
            </a:r>
            <a:r>
              <a:rPr lang="zh-CN" altLang="en-US" sz="2400" dirty="0"/>
              <a:t> </a:t>
            </a:r>
            <a:r>
              <a:rPr lang="en-US" altLang="zh-CN" sz="2400" dirty="0" err="1"/>
              <a:t>ConjP</a:t>
            </a:r>
            <a:r>
              <a:rPr lang="en-US" altLang="zh-CN" sz="2400" dirty="0"/>
              <a:t>)</a:t>
            </a:r>
            <a:r>
              <a:rPr lang="en-US" sz="2400" dirty="0"/>
              <a:t> shows A’ properties in Japanese.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CC-violating scrambling does not target optional features, so even that it shows A’ properties, it does not falsify the Parallelism Requirement.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Arano 2025 offers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different</a:t>
            </a:r>
            <a:r>
              <a:rPr lang="zh-CN" altLang="en-US" sz="2400" dirty="0"/>
              <a:t> </a:t>
            </a:r>
            <a:r>
              <a:rPr lang="en-US" altLang="zh-CN" sz="2400" dirty="0"/>
              <a:t>analysis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explicitly argues that CC-violating movement in Japanese is not feature driven.  </a:t>
            </a:r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77531-70AD-319C-655B-F5943000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2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CEB8-9620-A3B8-96CC-291DBD1A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24E9-0E83-CB4D-2A8E-FCEF812F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Summary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AC2DED-BC19-C57A-E553-33F74FD36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09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/>
              <a:t>CC-violating</a:t>
            </a:r>
            <a:r>
              <a:rPr lang="zh-CN" altLang="en-US" sz="2400" dirty="0"/>
              <a:t> </a:t>
            </a:r>
            <a:r>
              <a:rPr lang="en-US" altLang="zh-CN" sz="2400" dirty="0"/>
              <a:t>movement</a:t>
            </a:r>
            <a:r>
              <a:rPr lang="zh-CN" altLang="en-US" sz="2400" dirty="0"/>
              <a:t> </a:t>
            </a:r>
            <a:r>
              <a:rPr lang="en-US" altLang="zh-CN" sz="2400" dirty="0"/>
              <a:t>provides</a:t>
            </a:r>
            <a:r>
              <a:rPr lang="zh-CN" altLang="en-US" sz="2400" dirty="0"/>
              <a:t> </a:t>
            </a:r>
            <a:r>
              <a:rPr lang="en-US" altLang="zh-CN" sz="2400" dirty="0"/>
              <a:t>support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Parallelism</a:t>
            </a:r>
            <a:r>
              <a:rPr lang="zh-CN" altLang="en-US" sz="2400" dirty="0"/>
              <a:t> </a:t>
            </a:r>
            <a:r>
              <a:rPr lang="en-US" altLang="zh-CN" sz="2400" dirty="0"/>
              <a:t>Requirement</a:t>
            </a:r>
            <a:r>
              <a:rPr lang="zh-CN" altLang="en-US" sz="2400" dirty="0"/>
              <a:t> </a:t>
            </a:r>
            <a:r>
              <a:rPr lang="en-US" altLang="zh-CN" sz="2400" dirty="0"/>
              <a:t>analysis.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The Parallelism Requirement restricts A’/optional features</a:t>
            </a:r>
            <a:r>
              <a:rPr lang="zh-CN" altLang="en-US" sz="2400" dirty="0"/>
              <a:t> </a:t>
            </a:r>
            <a:r>
              <a:rPr lang="en-US" altLang="zh-CN" sz="2400" dirty="0"/>
              <a:t>(instead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categorial</a:t>
            </a:r>
            <a:r>
              <a:rPr lang="zh-CN" altLang="en-US" sz="2400" dirty="0"/>
              <a:t> </a:t>
            </a:r>
            <a:r>
              <a:rPr lang="en-US" altLang="zh-CN" sz="2400" dirty="0"/>
              <a:t>features).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Evidence from BCMS, Chinese, and other languages is compatible with the proposal. </a:t>
            </a:r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5FD84-137A-F77F-B918-13C3EC0C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2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2151-8C01-EDBC-6995-838022662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about </a:t>
            </a:r>
            <a:r>
              <a:rPr lang="en-US" sz="4400" dirty="0" err="1"/>
              <a:t>wh</a:t>
            </a:r>
            <a:r>
              <a:rPr lang="en-US" sz="4400" dirty="0"/>
              <a:t>-in-situ?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EF3B7-5D3B-1418-3543-DCB733F04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01FA3-DD7E-D26E-4731-84073847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7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4875-8F50-76C8-CEFF-F5378743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1886-96C8-1AE2-4489-836D43A3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predictions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BDFDA-104D-536F-49F3-66D2F472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5878" cy="47783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Parallelism Requirement:</a:t>
            </a:r>
            <a:r>
              <a:rPr lang="zh-CN" altLang="en-US" dirty="0"/>
              <a:t> 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-element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[+</a:t>
            </a:r>
            <a:r>
              <a:rPr lang="en-US" altLang="zh-CN" dirty="0" err="1"/>
              <a:t>wh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either</a:t>
            </a:r>
            <a:r>
              <a:rPr lang="zh-CN" altLang="en-US" dirty="0"/>
              <a:t> </a:t>
            </a:r>
            <a:r>
              <a:rPr lang="en-US" altLang="zh-CN" dirty="0"/>
              <a:t>conjunct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ruled out:</a:t>
            </a:r>
            <a:r>
              <a:rPr lang="zh-CN" altLang="en-US" dirty="0"/>
              <a:t> 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sz="2400" dirty="0"/>
              <a:t>*</a:t>
            </a:r>
            <a:r>
              <a:rPr lang="en-US" altLang="zh-CN" sz="2400" dirty="0"/>
              <a:t>[-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+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*</a:t>
            </a:r>
            <a:r>
              <a:rPr lang="en-US" altLang="zh-CN" sz="2400" dirty="0"/>
              <a:t>[+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-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-element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[+</a:t>
            </a:r>
            <a:r>
              <a:rPr lang="en-US" altLang="zh-CN" dirty="0" err="1"/>
              <a:t>wh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OK:</a:t>
            </a:r>
            <a:r>
              <a:rPr lang="zh-CN" altLang="en-US" dirty="0"/>
              <a:t> </a:t>
            </a:r>
            <a:r>
              <a:rPr lang="en-US" altLang="zh-CN" dirty="0"/>
              <a:t>[-</a:t>
            </a:r>
            <a:r>
              <a:rPr lang="en-US" altLang="zh-CN" dirty="0" err="1"/>
              <a:t>wh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en-US" altLang="zh-CN" dirty="0" err="1"/>
              <a:t>wh</a:t>
            </a:r>
            <a:r>
              <a:rPr lang="en-US" altLang="zh-CN" dirty="0"/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Zhang 2010: 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covert</a:t>
            </a:r>
            <a:r>
              <a:rPr lang="zh-CN" altLang="en-US" dirty="0"/>
              <a:t> </a:t>
            </a:r>
            <a:r>
              <a:rPr lang="en-US" altLang="zh-CN" dirty="0"/>
              <a:t>movement: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first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bad (Category</a:t>
            </a:r>
            <a:r>
              <a:rPr lang="zh-CN" altLang="en-US" sz="2400" dirty="0"/>
              <a:t> </a:t>
            </a:r>
            <a:r>
              <a:rPr lang="en-US" altLang="zh-CN" sz="2400" dirty="0"/>
              <a:t>Transfer)</a:t>
            </a:r>
            <a:br>
              <a:rPr lang="en-US" altLang="zh-CN" sz="2400" dirty="0"/>
            </a:b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second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movement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unselective binding):</a:t>
            </a:r>
            <a:r>
              <a:rPr lang="zh-CN" altLang="en-US" dirty="0"/>
              <a:t> 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both</a:t>
            </a:r>
            <a:r>
              <a:rPr lang="zh-CN" altLang="en-US" sz="2400" dirty="0"/>
              <a:t> </a:t>
            </a:r>
            <a:r>
              <a:rPr lang="en-US" altLang="zh-CN" sz="2400" dirty="0"/>
              <a:t>conjuncts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9F836-2B87-FD9F-A84E-D95E7EC6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0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14D4-4CF4-03BE-D849-CF7F8E12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77B5-DBE7-9985-6900-9F43C38A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intuitions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9F95D-48E9-3D92-3304-C9274708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416"/>
            <a:ext cx="10515600" cy="511958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Mandarin: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 startAt="12"/>
            </a:pPr>
            <a:r>
              <a:rPr lang="en-US" altLang="zh-CN" sz="2000" dirty="0"/>
              <a:t>Zai</a:t>
            </a:r>
            <a:r>
              <a:rPr lang="zh-CN" altLang="en-US" sz="2000" dirty="0"/>
              <a:t> </a:t>
            </a:r>
            <a:r>
              <a:rPr lang="en-US" altLang="zh-CN" sz="2000" dirty="0" err="1"/>
              <a:t>Riben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b="1" dirty="0"/>
              <a:t>shui</a:t>
            </a:r>
            <a:r>
              <a:rPr lang="zh-CN" altLang="en-US" sz="2000" dirty="0"/>
              <a:t> </a:t>
            </a:r>
            <a:r>
              <a:rPr lang="en-US" altLang="zh-CN" sz="2000" dirty="0"/>
              <a:t>gen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]</a:t>
            </a:r>
            <a:r>
              <a:rPr lang="zh-CN" altLang="en-US" sz="2000" dirty="0"/>
              <a:t> </a:t>
            </a:r>
            <a:r>
              <a:rPr lang="en-US" altLang="zh-CN" sz="2000" i="1" dirty="0"/>
              <a:t>liang-</a:t>
            </a:r>
            <a:r>
              <a:rPr lang="en-US" altLang="zh-CN" sz="2000" i="1" dirty="0" err="1"/>
              <a:t>ge</a:t>
            </a:r>
            <a:r>
              <a:rPr lang="en-US" altLang="zh-CN" sz="2000" i="1" dirty="0"/>
              <a:t>-ren </a:t>
            </a:r>
            <a:r>
              <a:rPr lang="en-US" altLang="zh-CN" sz="2000" dirty="0" err="1"/>
              <a:t>jian</a:t>
            </a:r>
            <a:r>
              <a:rPr lang="en-US" altLang="zh-CN" sz="2000" dirty="0"/>
              <a:t>-le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mian</a:t>
            </a:r>
            <a:r>
              <a:rPr lang="en-US" altLang="zh-CN" sz="2000" dirty="0"/>
              <a:t>?</a:t>
            </a:r>
            <a:r>
              <a:rPr lang="zh-CN" altLang="en-US" sz="2000" dirty="0"/>
              <a:t> 在日本誰跟寶玉兩個人見了面？</a:t>
            </a:r>
            <a:br>
              <a:rPr lang="en-US" altLang="zh-CN" sz="2000" dirty="0"/>
            </a:br>
            <a:r>
              <a:rPr lang="en-US" altLang="zh-CN" sz="2000" dirty="0"/>
              <a:t>in Japan </a:t>
            </a:r>
            <a:r>
              <a:rPr lang="zh-CN" altLang="en-US" sz="2000" dirty="0"/>
              <a:t>  </a:t>
            </a:r>
            <a:r>
              <a:rPr lang="en-US" altLang="zh-CN" sz="2000" dirty="0"/>
              <a:t>[who and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] two-CL-people</a:t>
            </a:r>
            <a:r>
              <a:rPr lang="zh-CN" altLang="en-US" sz="2000" dirty="0"/>
              <a:t> </a:t>
            </a:r>
            <a:r>
              <a:rPr lang="en-US" altLang="zh-CN" sz="2000" dirty="0"/>
              <a:t>meet-LE face  </a:t>
            </a:r>
            <a:br>
              <a:rPr lang="en-US" altLang="zh-CN" sz="2000" dirty="0"/>
            </a:br>
            <a:r>
              <a:rPr lang="en-US" altLang="zh-CN" sz="2000" dirty="0"/>
              <a:t>‘Who and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 two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them</a:t>
            </a:r>
            <a:r>
              <a:rPr lang="zh-CN" altLang="en-US" sz="2000" dirty="0"/>
              <a:t> </a:t>
            </a:r>
            <a:r>
              <a:rPr lang="en-US" altLang="zh-CN" sz="2000" dirty="0"/>
              <a:t>met up in Japan.’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 startAt="12"/>
            </a:pPr>
            <a:r>
              <a:rPr lang="en-US" altLang="zh-CN" sz="2000" dirty="0"/>
              <a:t>Zai</a:t>
            </a:r>
            <a:r>
              <a:rPr lang="zh-CN" altLang="en-US" sz="2000" dirty="0"/>
              <a:t> </a:t>
            </a:r>
            <a:r>
              <a:rPr lang="en-US" altLang="zh-CN" sz="2000" dirty="0" err="1"/>
              <a:t>Riben</a:t>
            </a:r>
            <a:r>
              <a:rPr lang="zh-CN" altLang="en-US" sz="2000" dirty="0"/>
              <a:t> </a:t>
            </a:r>
            <a:r>
              <a:rPr lang="en-US" altLang="zh-CN" sz="2000" dirty="0"/>
              <a:t>[</a:t>
            </a:r>
            <a:r>
              <a:rPr lang="en-US" altLang="zh-CN" sz="2000" dirty="0" err="1"/>
              <a:t>Baoyu</a:t>
            </a:r>
            <a:r>
              <a:rPr lang="zh-CN" altLang="en-US" sz="2000" dirty="0"/>
              <a:t> </a:t>
            </a:r>
            <a:r>
              <a:rPr lang="en-US" altLang="zh-CN" sz="2000" dirty="0"/>
              <a:t>gen</a:t>
            </a:r>
            <a:r>
              <a:rPr lang="zh-CN" altLang="en-US" sz="2000" dirty="0"/>
              <a:t> </a:t>
            </a:r>
            <a:r>
              <a:rPr lang="en-US" altLang="zh-CN" sz="2000" b="1" dirty="0"/>
              <a:t>shui</a:t>
            </a:r>
            <a:r>
              <a:rPr lang="en-US" altLang="zh-CN" sz="2000" dirty="0"/>
              <a:t>]</a:t>
            </a:r>
            <a:r>
              <a:rPr lang="zh-CN" altLang="en-US" sz="2000" dirty="0"/>
              <a:t> </a:t>
            </a:r>
            <a:r>
              <a:rPr lang="en-US" altLang="zh-CN" sz="2000" i="1" dirty="0"/>
              <a:t>liang-</a:t>
            </a:r>
            <a:r>
              <a:rPr lang="en-US" altLang="zh-CN" sz="2000" i="1" dirty="0" err="1"/>
              <a:t>ge</a:t>
            </a:r>
            <a:r>
              <a:rPr lang="en-US" altLang="zh-CN" sz="2000" i="1" dirty="0"/>
              <a:t>-ren </a:t>
            </a:r>
            <a:r>
              <a:rPr lang="en-US" altLang="zh-CN" sz="2000" dirty="0" err="1"/>
              <a:t>jian</a:t>
            </a:r>
            <a:r>
              <a:rPr lang="en-US" altLang="zh-CN" sz="2000" dirty="0"/>
              <a:t>-le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mian</a:t>
            </a:r>
            <a:r>
              <a:rPr lang="en-US" altLang="zh-CN" sz="2000" dirty="0"/>
              <a:t>?</a:t>
            </a:r>
            <a:r>
              <a:rPr lang="zh-CN" altLang="en-US" sz="2000" dirty="0"/>
              <a:t> 在日本寶玉跟誰兩個人見了面？</a:t>
            </a:r>
            <a:br>
              <a:rPr lang="en-US" altLang="zh-CN" sz="2000" dirty="0"/>
            </a:br>
            <a:r>
              <a:rPr lang="en-US" altLang="zh-CN" sz="2000" dirty="0"/>
              <a:t>in Japan </a:t>
            </a:r>
            <a:r>
              <a:rPr lang="zh-CN" altLang="en-US" sz="2000" dirty="0"/>
              <a:t>  </a:t>
            </a:r>
            <a:r>
              <a:rPr lang="en-US" altLang="zh-CN" sz="2000" dirty="0"/>
              <a:t>[who and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] two-CL-people</a:t>
            </a:r>
            <a:r>
              <a:rPr lang="zh-CN" altLang="en-US" sz="2000" dirty="0"/>
              <a:t> </a:t>
            </a:r>
            <a:r>
              <a:rPr lang="en-US" altLang="zh-CN" sz="2000" dirty="0"/>
              <a:t>meet-LE face  </a:t>
            </a:r>
            <a:br>
              <a:rPr lang="en-US" altLang="zh-CN" sz="2000" dirty="0"/>
            </a:br>
            <a:r>
              <a:rPr lang="en-US" altLang="zh-CN" sz="2000" dirty="0"/>
              <a:t>‘Who and </a:t>
            </a:r>
            <a:r>
              <a:rPr lang="en-US" altLang="zh-CN" sz="2000" dirty="0" err="1"/>
              <a:t>Baoyu</a:t>
            </a:r>
            <a:r>
              <a:rPr lang="en-US" altLang="zh-CN" sz="2000" dirty="0"/>
              <a:t> two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them</a:t>
            </a:r>
            <a:r>
              <a:rPr lang="zh-CN" altLang="en-US" sz="2000" dirty="0"/>
              <a:t> </a:t>
            </a:r>
            <a:r>
              <a:rPr lang="en-US" altLang="zh-CN" sz="2000" dirty="0"/>
              <a:t>met up in Japan.’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They sound OK</a:t>
            </a:r>
            <a:r>
              <a:rPr lang="zh-CN" altLang="en-US" sz="2000" dirty="0"/>
              <a:t> </a:t>
            </a:r>
            <a:r>
              <a:rPr lang="en-US" altLang="zh-CN" sz="2000" dirty="0"/>
              <a:t>to me, which is still</a:t>
            </a:r>
            <a:r>
              <a:rPr lang="zh-CN" altLang="en-US" sz="2000" dirty="0"/>
              <a:t> </a:t>
            </a:r>
            <a:r>
              <a:rPr lang="en-US" altLang="zh-CN" sz="2000" dirty="0"/>
              <a:t>compatible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Parallelism Requirement: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Given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wh</a:t>
            </a:r>
            <a:r>
              <a:rPr lang="en-US" altLang="zh-CN" sz="2000" dirty="0"/>
              <a:t>-elements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used</a:t>
            </a:r>
            <a:r>
              <a:rPr lang="zh-CN" altLang="en-US" sz="2000" dirty="0"/>
              <a:t> </a:t>
            </a:r>
            <a:r>
              <a:rPr lang="en-US" altLang="zh-CN" sz="2000" dirty="0"/>
              <a:t>as</a:t>
            </a:r>
            <a:r>
              <a:rPr lang="zh-CN" altLang="en-US" sz="2000" dirty="0"/>
              <a:t> </a:t>
            </a:r>
            <a:r>
              <a:rPr lang="en-US" altLang="zh-CN" sz="2000" dirty="0"/>
              <a:t>indefinite</a:t>
            </a:r>
            <a:r>
              <a:rPr lang="zh-CN" altLang="en-US" sz="2000" dirty="0"/>
              <a:t> </a:t>
            </a:r>
            <a:r>
              <a:rPr lang="en-US" altLang="zh-CN" sz="2000" dirty="0"/>
              <a:t>(Li</a:t>
            </a:r>
            <a:r>
              <a:rPr lang="zh-CN" altLang="en-US" sz="2000" dirty="0"/>
              <a:t> </a:t>
            </a:r>
            <a:r>
              <a:rPr lang="en-US" altLang="zh-CN" sz="2000" dirty="0"/>
              <a:t>1992),</a:t>
            </a:r>
            <a:r>
              <a:rPr lang="zh-CN" altLang="en-US" sz="2000" dirty="0"/>
              <a:t> </a:t>
            </a:r>
            <a:r>
              <a:rPr lang="en-US" altLang="zh-CN" sz="2000" dirty="0" err="1"/>
              <a:t>wh</a:t>
            </a:r>
            <a:r>
              <a:rPr lang="en-US" altLang="zh-CN" sz="2000" dirty="0"/>
              <a:t>-elements</a:t>
            </a:r>
            <a:r>
              <a:rPr lang="zh-CN" altLang="en-US" sz="2000" dirty="0"/>
              <a:t> </a:t>
            </a:r>
            <a:r>
              <a:rPr lang="en-US" altLang="zh-CN" sz="2000" dirty="0"/>
              <a:t>might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[+</a:t>
            </a:r>
            <a:r>
              <a:rPr lang="en-US" altLang="zh-CN" sz="2000" dirty="0" err="1"/>
              <a:t>wh</a:t>
            </a:r>
            <a:r>
              <a:rPr lang="en-US" altLang="zh-CN" sz="2000" dirty="0"/>
              <a:t>]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arenR" startAt="14"/>
            </a:pPr>
            <a:r>
              <a:rPr lang="en-US" altLang="zh-CN" sz="2000" dirty="0" err="1"/>
              <a:t>Ruguo</a:t>
            </a:r>
            <a:r>
              <a:rPr lang="zh-CN" altLang="en-US" sz="2000" dirty="0"/>
              <a:t> </a:t>
            </a:r>
            <a:r>
              <a:rPr lang="en-US" altLang="zh-CN" sz="2000" dirty="0" err="1"/>
              <a:t>ni</a:t>
            </a:r>
            <a:r>
              <a:rPr lang="zh-CN" altLang="en-US" sz="2000" dirty="0"/>
              <a:t>     </a:t>
            </a:r>
            <a:r>
              <a:rPr lang="en-US" altLang="zh-CN" sz="2000" dirty="0" err="1"/>
              <a:t>tou</a:t>
            </a:r>
            <a:r>
              <a:rPr lang="en-US" altLang="zh-CN" sz="2000" dirty="0"/>
              <a:t>-le</a:t>
            </a:r>
            <a:r>
              <a:rPr lang="zh-CN" altLang="en-US" sz="2000" dirty="0"/>
              <a:t> </a:t>
            </a:r>
            <a:r>
              <a:rPr lang="en-US" altLang="zh-CN" sz="2000" b="1" dirty="0" err="1"/>
              <a:t>shenme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jiu</a:t>
            </a:r>
            <a:r>
              <a:rPr lang="zh-CN" altLang="en-US" sz="2000" dirty="0"/>
              <a:t> </a:t>
            </a:r>
            <a:r>
              <a:rPr lang="en-US" altLang="zh-CN" sz="2000" dirty="0" err="1"/>
              <a:t>chengren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ba</a:t>
            </a:r>
            <a:r>
              <a:rPr lang="en-US" altLang="zh-CN" sz="2000" dirty="0"/>
              <a:t>	</a:t>
            </a:r>
            <a:r>
              <a:rPr lang="zh-CN" altLang="en-US" sz="2000" dirty="0"/>
              <a:t>如果你偷了什麼，就承認吧。</a:t>
            </a:r>
            <a:br>
              <a:rPr lang="en-US" altLang="zh-CN" sz="2000" dirty="0"/>
            </a:br>
            <a:r>
              <a:rPr lang="en-US" altLang="zh-CN" sz="2000" dirty="0"/>
              <a:t>If</a:t>
            </a:r>
            <a:r>
              <a:rPr lang="zh-CN" altLang="en-US" sz="2000" dirty="0"/>
              <a:t>  </a:t>
            </a:r>
            <a:r>
              <a:rPr lang="en-US" altLang="zh-CN" sz="2000" dirty="0"/>
              <a:t>	</a:t>
            </a:r>
            <a:r>
              <a:rPr lang="zh-CN" altLang="en-US" sz="2000" dirty="0"/>
              <a:t>      </a:t>
            </a:r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stole</a:t>
            </a:r>
            <a:r>
              <a:rPr lang="zh-CN" altLang="en-US" sz="2000" dirty="0"/>
              <a:t>    </a:t>
            </a:r>
            <a:r>
              <a:rPr lang="en-US" altLang="zh-CN" sz="2000" dirty="0"/>
              <a:t>what,</a:t>
            </a:r>
            <a:r>
              <a:rPr lang="zh-CN" altLang="en-US" sz="2000" dirty="0"/>
              <a:t>        </a:t>
            </a:r>
            <a:r>
              <a:rPr lang="en-US" altLang="zh-CN" sz="2000" dirty="0"/>
              <a:t>just</a:t>
            </a:r>
            <a:r>
              <a:rPr lang="zh-CN" altLang="en-US" sz="2000" dirty="0"/>
              <a:t> </a:t>
            </a:r>
            <a:r>
              <a:rPr lang="en-US" altLang="zh-CN" sz="2000" dirty="0"/>
              <a:t>admit</a:t>
            </a:r>
            <a:r>
              <a:rPr lang="zh-CN" altLang="en-US" sz="2000" dirty="0"/>
              <a:t> </a:t>
            </a:r>
            <a:r>
              <a:rPr lang="en-US" altLang="zh-CN" sz="2000" dirty="0"/>
              <a:t>SFP</a:t>
            </a:r>
            <a:br>
              <a:rPr lang="en-US" altLang="zh-CN" sz="2000" dirty="0"/>
            </a:b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stole</a:t>
            </a:r>
            <a:r>
              <a:rPr lang="zh-CN" altLang="en-US" sz="2000" dirty="0"/>
              <a:t> </a:t>
            </a:r>
            <a:r>
              <a:rPr lang="en-US" altLang="zh-CN" sz="2000" b="1" dirty="0"/>
              <a:t>something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just</a:t>
            </a:r>
            <a:r>
              <a:rPr lang="zh-CN" altLang="en-US" sz="2000" dirty="0"/>
              <a:t> </a:t>
            </a:r>
            <a:r>
              <a:rPr lang="en-US" altLang="zh-CN" sz="2000" dirty="0"/>
              <a:t>admit</a:t>
            </a:r>
            <a:r>
              <a:rPr lang="zh-CN" altLang="en-US" sz="2000" dirty="0"/>
              <a:t> </a:t>
            </a:r>
            <a:r>
              <a:rPr lang="en-US" altLang="zh-CN" sz="2000" dirty="0"/>
              <a:t>it.	(</a:t>
            </a:r>
            <a:r>
              <a:rPr lang="en-US" altLang="zh-CN" sz="2000" dirty="0" err="1"/>
              <a:t>wh</a:t>
            </a:r>
            <a:r>
              <a:rPr lang="en-US" altLang="zh-CN" sz="2000" dirty="0"/>
              <a:t>-indefinite)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99D1E-48EB-BC0D-543C-ACC08671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0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CA6335-E193-C25F-1BAC-ABC27920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4F420-C3B4-C3DF-6CCF-DBC47DA4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intuitions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1969-44A7-0E6D-B2B7-0207A71A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altLang="zh-CN" dirty="0"/>
              <a:t>One Korean example from Oda 2021 involves movement of a </a:t>
            </a:r>
            <a:r>
              <a:rPr lang="en-US" altLang="zh-CN" dirty="0" err="1"/>
              <a:t>wh</a:t>
            </a:r>
            <a:r>
              <a:rPr lang="en-US" altLang="zh-CN" dirty="0"/>
              <a:t>-element: </a:t>
            </a:r>
          </a:p>
          <a:p>
            <a:pPr lvl="1">
              <a:lnSpc>
                <a:spcPct val="100000"/>
              </a:lnSpc>
            </a:pPr>
            <a:endParaRPr lang="en-US" altLang="zh-CN" dirty="0"/>
          </a:p>
          <a:p>
            <a:pPr lvl="1">
              <a:lnSpc>
                <a:spcPct val="100000"/>
              </a:lnSpc>
            </a:pPr>
            <a:endParaRPr lang="en-US" altLang="zh-CN" dirty="0"/>
          </a:p>
          <a:p>
            <a:pPr lvl="1">
              <a:lnSpc>
                <a:spcPct val="100000"/>
              </a:lnSpc>
            </a:pPr>
            <a:endParaRPr lang="en-US" altLang="zh-CN" dirty="0"/>
          </a:p>
          <a:p>
            <a:pPr lvl="1">
              <a:lnSpc>
                <a:spcPct val="100000"/>
              </a:lnSpc>
            </a:pP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Given that Korean is a </a:t>
            </a:r>
            <a:r>
              <a:rPr lang="en-US" altLang="zh-CN" dirty="0" err="1"/>
              <a:t>wh</a:t>
            </a:r>
            <a:r>
              <a:rPr lang="en-US" altLang="zh-CN" dirty="0"/>
              <a:t>-in-situ language, the sentence could be scrambling of the </a:t>
            </a:r>
            <a:r>
              <a:rPr lang="en-US" altLang="zh-CN" dirty="0" err="1"/>
              <a:t>wh</a:t>
            </a:r>
            <a:r>
              <a:rPr lang="en-US" altLang="zh-CN" dirty="0"/>
              <a:t>-element.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Wh-elements can also be </a:t>
            </a:r>
            <a:r>
              <a:rPr lang="en-US" altLang="zh-CN" dirty="0" err="1"/>
              <a:t>wh</a:t>
            </a:r>
            <a:r>
              <a:rPr lang="en-US" altLang="zh-CN" dirty="0"/>
              <a:t>-indefinite in Korean (Yun 2013), thus it is not necessary a problem for the Parallelism Requirement.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39456-D178-B0CA-DB9C-3F1D2034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21738-A16F-60C3-0F22-C37AEBEC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20" y="2349636"/>
            <a:ext cx="5543550" cy="150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2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1B66-81D8-3D8A-474E-6AD675FF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</a:t>
            </a:r>
            <a:r>
              <a:rPr lang="zh-CN" altLang="en-US" sz="3600" dirty="0"/>
              <a:t> </a:t>
            </a:r>
            <a:r>
              <a:rPr lang="en-US" altLang="zh-CN" sz="3600" dirty="0"/>
              <a:t>experiments</a:t>
            </a:r>
            <a:r>
              <a:rPr lang="zh-CN" altLang="en-US" sz="3600" dirty="0"/>
              <a:t> </a:t>
            </a:r>
            <a:r>
              <a:rPr lang="en-US" altLang="zh-CN" sz="3600" dirty="0"/>
              <a:t>in</a:t>
            </a:r>
            <a:r>
              <a:rPr lang="zh-CN" altLang="en-US" sz="3600" dirty="0"/>
              <a:t> </a:t>
            </a:r>
            <a:r>
              <a:rPr lang="en-US" altLang="zh-CN" sz="3600" dirty="0"/>
              <a:t>Singlish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D03F-939E-2448-7373-E090B147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Coll</a:t>
            </a:r>
            <a:r>
              <a:rPr lang="en-US" altLang="zh-CN" sz="2600" dirty="0"/>
              <a:t>oquial</a:t>
            </a:r>
            <a:r>
              <a:rPr lang="zh-CN" altLang="en-US" sz="2600" dirty="0"/>
              <a:t> </a:t>
            </a:r>
            <a:r>
              <a:rPr lang="en-US" altLang="zh-CN" sz="2600" dirty="0"/>
              <a:t>Singapore</a:t>
            </a:r>
            <a:r>
              <a:rPr lang="zh-CN" altLang="en-US" sz="2600" dirty="0"/>
              <a:t> </a:t>
            </a:r>
            <a:r>
              <a:rPr lang="en-US" altLang="zh-CN" sz="2600" dirty="0"/>
              <a:t>English</a:t>
            </a:r>
            <a:r>
              <a:rPr lang="zh-CN" altLang="en-US" sz="2600" dirty="0"/>
              <a:t> </a:t>
            </a:r>
            <a:r>
              <a:rPr lang="en-US" altLang="zh-CN" sz="2600" dirty="0"/>
              <a:t>(Singlish):</a:t>
            </a:r>
            <a:r>
              <a:rPr lang="zh-CN" altLang="en-US" sz="2600" dirty="0"/>
              <a:t> </a:t>
            </a:r>
            <a:r>
              <a:rPr lang="en-US" altLang="zh-CN" sz="2600" dirty="0"/>
              <a:t>a</a:t>
            </a:r>
            <a:r>
              <a:rPr lang="zh-CN" altLang="en-US" sz="2600" dirty="0"/>
              <a:t> </a:t>
            </a:r>
            <a:r>
              <a:rPr lang="en-US" altLang="zh-CN" sz="2600" dirty="0"/>
              <a:t>contact</a:t>
            </a:r>
            <a:r>
              <a:rPr lang="zh-CN" altLang="en-US" sz="2600" dirty="0"/>
              <a:t> </a:t>
            </a:r>
            <a:r>
              <a:rPr lang="en-US" altLang="zh-CN" sz="2600" dirty="0"/>
              <a:t>language</a:t>
            </a:r>
            <a:r>
              <a:rPr lang="zh-CN" altLang="en-US" sz="2600" dirty="0"/>
              <a:t> </a:t>
            </a:r>
            <a:r>
              <a:rPr lang="en-US" altLang="zh-CN" sz="2600" dirty="0"/>
              <a:t>with</a:t>
            </a:r>
            <a:r>
              <a:rPr lang="zh-CN" altLang="en-US" sz="2600" dirty="0"/>
              <a:t> </a:t>
            </a:r>
            <a:r>
              <a:rPr lang="en-US" altLang="zh-CN" sz="2600" dirty="0"/>
              <a:t>English</a:t>
            </a:r>
            <a:r>
              <a:rPr lang="zh-CN" altLang="en-US" sz="2600" dirty="0"/>
              <a:t> </a:t>
            </a:r>
            <a:r>
              <a:rPr lang="en-US" altLang="zh-CN" sz="2600" dirty="0"/>
              <a:t>lexifier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Chinese</a:t>
            </a:r>
            <a:r>
              <a:rPr lang="zh-CN" altLang="en-US" sz="2600" dirty="0"/>
              <a:t> </a:t>
            </a:r>
            <a:r>
              <a:rPr lang="en-US" altLang="zh-CN" sz="2600" dirty="0"/>
              <a:t>dialects,</a:t>
            </a:r>
            <a:r>
              <a:rPr lang="zh-CN" altLang="en-US" sz="2600" dirty="0"/>
              <a:t> </a:t>
            </a:r>
            <a:r>
              <a:rPr lang="en-US" altLang="zh-CN" sz="2600" dirty="0"/>
              <a:t>Malay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Tamil</a:t>
            </a:r>
            <a:r>
              <a:rPr lang="zh-CN" altLang="en-US" sz="2600" dirty="0"/>
              <a:t> </a:t>
            </a:r>
            <a:r>
              <a:rPr lang="en-US" altLang="zh-CN" sz="2600" dirty="0"/>
              <a:t>as</a:t>
            </a:r>
            <a:r>
              <a:rPr lang="zh-CN" altLang="en-US" sz="2600" dirty="0"/>
              <a:t> </a:t>
            </a:r>
            <a:r>
              <a:rPr lang="en-US" altLang="zh-CN" sz="2600" dirty="0"/>
              <a:t>substrate</a:t>
            </a:r>
            <a:r>
              <a:rPr lang="zh-CN" altLang="en-US" sz="2600" dirty="0"/>
              <a:t> </a:t>
            </a:r>
            <a:r>
              <a:rPr lang="en-US" altLang="zh-CN" sz="2600" dirty="0"/>
              <a:t>languages.</a:t>
            </a:r>
          </a:p>
          <a:p>
            <a:pPr>
              <a:lnSpc>
                <a:spcPct val="110000"/>
              </a:lnSpc>
            </a:pPr>
            <a:r>
              <a:rPr lang="en-US" altLang="zh-CN" sz="2600" dirty="0"/>
              <a:t>It</a:t>
            </a:r>
            <a:r>
              <a:rPr lang="zh-CN" altLang="en-US" sz="2600" dirty="0"/>
              <a:t> </a:t>
            </a:r>
            <a:r>
              <a:rPr lang="en-US" altLang="zh-CN" sz="2600" dirty="0"/>
              <a:t>allows</a:t>
            </a:r>
            <a:r>
              <a:rPr lang="zh-CN" altLang="en-US" sz="2600" dirty="0"/>
              <a:t> </a:t>
            </a:r>
            <a:r>
              <a:rPr lang="en-US" altLang="zh-CN" sz="2600" dirty="0"/>
              <a:t>both</a:t>
            </a:r>
            <a:r>
              <a:rPr lang="zh-CN" altLang="en-US" sz="2600" dirty="0"/>
              <a:t> </a:t>
            </a:r>
            <a:r>
              <a:rPr lang="en-US" altLang="zh-CN" sz="2600" dirty="0"/>
              <a:t>wh-movement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-in-situ</a:t>
            </a:r>
            <a:r>
              <a:rPr lang="zh-CN" altLang="en-US" sz="2600" dirty="0"/>
              <a:t> </a:t>
            </a:r>
            <a:r>
              <a:rPr lang="en-US" altLang="zh-CN" sz="2600" dirty="0"/>
              <a:t>(Sato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Ngui</a:t>
            </a:r>
            <a:r>
              <a:rPr lang="zh-CN" altLang="en-US" sz="2600" dirty="0"/>
              <a:t> </a:t>
            </a:r>
            <a:r>
              <a:rPr lang="en-US" altLang="zh-CN" sz="2600" dirty="0"/>
              <a:t>2017,</a:t>
            </a:r>
            <a:r>
              <a:rPr lang="zh-CN" altLang="en-US" sz="2600" dirty="0"/>
              <a:t> </a:t>
            </a:r>
            <a:r>
              <a:rPr lang="en-US" altLang="zh-CN" sz="2600" dirty="0"/>
              <a:t>Tan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Shen</a:t>
            </a:r>
            <a:r>
              <a:rPr lang="zh-CN" altLang="en-US" sz="2600" dirty="0"/>
              <a:t> </a:t>
            </a:r>
            <a:r>
              <a:rPr lang="en-US" altLang="zh-CN" sz="2600" dirty="0"/>
              <a:t>2025)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 startAt="15"/>
            </a:pPr>
            <a:r>
              <a:rPr lang="en-US" dirty="0"/>
              <a:t>Where John can buy the durians</a:t>
            </a:r>
            <a:r>
              <a:rPr lang="en-US" altLang="zh-CN" dirty="0"/>
              <a:t>?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 startAt="15"/>
            </a:pPr>
            <a:r>
              <a:rPr lang="en-US" dirty="0"/>
              <a:t>John can buy the durians where</a:t>
            </a:r>
            <a:r>
              <a:rPr lang="en-US" altLang="zh-CN" dirty="0"/>
              <a:t>?</a:t>
            </a:r>
            <a:endParaRPr lang="en-US" altLang="zh-CN" sz="2200" dirty="0"/>
          </a:p>
          <a:p>
            <a:pPr>
              <a:lnSpc>
                <a:spcPct val="110000"/>
              </a:lnSpc>
            </a:pPr>
            <a:r>
              <a:rPr lang="en-US" altLang="zh-CN" sz="2600" dirty="0"/>
              <a:t>Wh-elements</a:t>
            </a:r>
            <a:r>
              <a:rPr lang="zh-CN" altLang="en-US" sz="2600" dirty="0"/>
              <a:t> </a:t>
            </a:r>
            <a:r>
              <a:rPr lang="en-US" altLang="zh-CN" sz="2600" dirty="0"/>
              <a:t>in</a:t>
            </a:r>
            <a:r>
              <a:rPr lang="zh-CN" altLang="en-US" sz="2600" dirty="0"/>
              <a:t> </a:t>
            </a:r>
            <a:r>
              <a:rPr lang="en-US" altLang="zh-CN" sz="2600" dirty="0"/>
              <a:t>Singlish</a:t>
            </a:r>
            <a:r>
              <a:rPr lang="zh-CN" altLang="en-US" sz="2600" dirty="0"/>
              <a:t> </a:t>
            </a:r>
            <a:r>
              <a:rPr lang="en-US" altLang="zh-CN" sz="2600" dirty="0"/>
              <a:t>can</a:t>
            </a:r>
            <a:r>
              <a:rPr lang="zh-CN" altLang="en-US" sz="2600" dirty="0"/>
              <a:t> </a:t>
            </a:r>
            <a:r>
              <a:rPr lang="en-US" altLang="zh-CN" sz="2600" dirty="0"/>
              <a:t>also</a:t>
            </a:r>
            <a:r>
              <a:rPr lang="zh-CN" altLang="en-US" sz="2600" dirty="0"/>
              <a:t> </a:t>
            </a:r>
            <a:r>
              <a:rPr lang="en-US" altLang="zh-CN" sz="2600" dirty="0"/>
              <a:t>be</a:t>
            </a:r>
            <a:r>
              <a:rPr lang="zh-CN" altLang="en-US" sz="2600" dirty="0"/>
              <a:t> </a:t>
            </a:r>
            <a:r>
              <a:rPr lang="en-US" altLang="zh-CN" sz="2600" dirty="0"/>
              <a:t>used</a:t>
            </a:r>
            <a:r>
              <a:rPr lang="zh-CN" altLang="en-US" sz="2600" dirty="0"/>
              <a:t> </a:t>
            </a:r>
            <a:r>
              <a:rPr lang="en-US" altLang="zh-CN" sz="2600" dirty="0"/>
              <a:t>as</a:t>
            </a:r>
            <a:r>
              <a:rPr lang="zh-CN" altLang="en-US" sz="2600" dirty="0"/>
              <a:t> </a:t>
            </a:r>
            <a:r>
              <a:rPr lang="en-US" altLang="zh-CN" sz="2600" dirty="0"/>
              <a:t>indefinite</a:t>
            </a:r>
            <a:r>
              <a:rPr lang="zh-CN" altLang="en-US" sz="2600" dirty="0"/>
              <a:t> </a:t>
            </a:r>
            <a:r>
              <a:rPr lang="en-US" altLang="zh-CN" sz="2600" dirty="0"/>
              <a:t>in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-also</a:t>
            </a:r>
            <a:r>
              <a:rPr lang="zh-CN" altLang="en-US" sz="2600" dirty="0"/>
              <a:t> </a:t>
            </a:r>
            <a:r>
              <a:rPr lang="en-US" altLang="zh-CN" sz="2600" dirty="0"/>
              <a:t>construction</a:t>
            </a:r>
            <a:r>
              <a:rPr lang="zh-CN" altLang="en-US" sz="2600" dirty="0"/>
              <a:t> </a:t>
            </a:r>
            <a:r>
              <a:rPr lang="en-US" altLang="zh-CN" sz="2600" dirty="0"/>
              <a:t>(Lincoln</a:t>
            </a:r>
            <a:r>
              <a:rPr lang="zh-CN" altLang="en-US" sz="2600" dirty="0"/>
              <a:t> </a:t>
            </a:r>
            <a:r>
              <a:rPr lang="en-US" altLang="zh-CN" sz="2600" dirty="0"/>
              <a:t>2024)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arenR" startAt="17"/>
            </a:pPr>
            <a:r>
              <a:rPr lang="en-US" dirty="0"/>
              <a:t>What also Mary like to eat.</a:t>
            </a:r>
            <a:r>
              <a:rPr lang="zh-CN" altLang="en-US" dirty="0"/>
              <a:t> </a:t>
            </a:r>
            <a:r>
              <a:rPr lang="en-US" altLang="zh-CN" dirty="0"/>
              <a:t>‘Mary</a:t>
            </a:r>
            <a:r>
              <a:rPr lang="zh-CN" altLang="en-US" dirty="0"/>
              <a:t> </a:t>
            </a:r>
            <a:r>
              <a:rPr lang="en-US" altLang="zh-CN" dirty="0"/>
              <a:t>likes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eat</a:t>
            </a:r>
            <a:r>
              <a:rPr lang="zh-CN" altLang="en-US" dirty="0"/>
              <a:t> </a:t>
            </a:r>
            <a:r>
              <a:rPr lang="en-US" altLang="zh-CN" dirty="0"/>
              <a:t>everything/anything.’</a:t>
            </a:r>
            <a:endParaRPr lang="en-US" altLang="zh-CN" sz="2200" dirty="0"/>
          </a:p>
          <a:p>
            <a:pPr>
              <a:lnSpc>
                <a:spcPct val="110000"/>
              </a:lnSpc>
            </a:pPr>
            <a:r>
              <a:rPr lang="en-US" altLang="zh-CN" sz="2600" dirty="0"/>
              <a:t>We</a:t>
            </a:r>
            <a:r>
              <a:rPr lang="zh-CN" altLang="en-US" sz="2600" dirty="0"/>
              <a:t> </a:t>
            </a:r>
            <a:r>
              <a:rPr lang="en-US" altLang="zh-CN" sz="2600" dirty="0"/>
              <a:t>conducted</a:t>
            </a:r>
            <a:r>
              <a:rPr lang="zh-CN" altLang="en-US" sz="2600" dirty="0"/>
              <a:t> </a:t>
            </a:r>
            <a:r>
              <a:rPr lang="en-US" altLang="zh-CN" sz="2600" dirty="0"/>
              <a:t>two</a:t>
            </a:r>
            <a:r>
              <a:rPr lang="zh-CN" altLang="en-US" sz="2600" dirty="0"/>
              <a:t> </a:t>
            </a:r>
            <a:r>
              <a:rPr lang="en-US" altLang="zh-CN" sz="2600" dirty="0"/>
              <a:t>acceptability</a:t>
            </a:r>
            <a:r>
              <a:rPr lang="zh-CN" altLang="en-US" sz="2600" dirty="0"/>
              <a:t> </a:t>
            </a:r>
            <a:r>
              <a:rPr lang="en-US" altLang="zh-CN" sz="2600" dirty="0"/>
              <a:t>judgment</a:t>
            </a:r>
            <a:r>
              <a:rPr lang="zh-CN" altLang="en-US" sz="2600" dirty="0"/>
              <a:t> </a:t>
            </a:r>
            <a:r>
              <a:rPr lang="en-US" altLang="zh-CN" sz="2600" dirty="0"/>
              <a:t>experiments,</a:t>
            </a:r>
            <a:r>
              <a:rPr lang="zh-CN" altLang="en-US" sz="2600" dirty="0"/>
              <a:t> </a:t>
            </a:r>
            <a:r>
              <a:rPr lang="en-US" altLang="zh-CN" sz="2600" dirty="0"/>
              <a:t>one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first</a:t>
            </a:r>
            <a:r>
              <a:rPr lang="zh-CN" altLang="en-US" sz="2600" dirty="0"/>
              <a:t> </a:t>
            </a:r>
            <a:r>
              <a:rPr lang="en-US" altLang="zh-CN" sz="2600" dirty="0"/>
              <a:t>conjunct,</a:t>
            </a:r>
            <a:r>
              <a:rPr lang="zh-CN" altLang="en-US" sz="2600" dirty="0"/>
              <a:t> </a:t>
            </a:r>
            <a:r>
              <a:rPr lang="en-US" altLang="zh-CN" sz="2600" dirty="0"/>
              <a:t>one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second</a:t>
            </a:r>
            <a:r>
              <a:rPr lang="zh-CN" altLang="en-US" sz="2600" dirty="0"/>
              <a:t> </a:t>
            </a:r>
            <a:r>
              <a:rPr lang="en-US" altLang="zh-CN" sz="2600" dirty="0"/>
              <a:t>conjunct.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4BE7D-9D38-8F27-BAFD-63D4AB60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0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93C1-0F3B-8A27-8D5D-59AEF83E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22EF-8ABE-5A55-6933-15CC2602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1: movement and in-situ of the first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CBBF-E447-5094-95FB-6DBFB716F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acceptability judgment on a 100 point scale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with oil last night ah? 		(short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i="1" dirty="0"/>
              <a:t>t</a:t>
            </a:r>
            <a:r>
              <a:rPr lang="en-US" sz="2600" dirty="0"/>
              <a:t> with oil last night ah? 		(move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what with oil last night ah? 		(situ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and chicken last night ah? 	(short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i="1" dirty="0"/>
              <a:t>t </a:t>
            </a:r>
            <a:r>
              <a:rPr lang="en-US" sz="2600" dirty="0"/>
              <a:t>and chicken last night ah? 	(move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what and chicken last night ah? 		(situ | island)</a:t>
            </a:r>
          </a:p>
          <a:p>
            <a:r>
              <a:rPr lang="en-US" sz="2600" dirty="0"/>
              <a:t>18 test items (3 per condition), 36 filler items, 4 check items, n = 29,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38CD0-00AA-9D20-462E-1DA25E3E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5FE0-F3EF-9129-2F37-A8F8B67F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56E00-6CCE-63FC-A221-B96777E5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1: movement and in-situ of the first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796D5-F10B-CF8B-F1C2-78A67D508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with oil last night ah? 		(short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i="1" dirty="0"/>
              <a:t>t</a:t>
            </a:r>
            <a:r>
              <a:rPr lang="en-US" sz="2600" dirty="0"/>
              <a:t> with oil last night ah? 		(move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Sarah fry what with oil last night ah? 		(situ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and chicken last night ah? 	(short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i="1" dirty="0"/>
              <a:t>t </a:t>
            </a:r>
            <a:r>
              <a:rPr lang="en-US" sz="2600" dirty="0"/>
              <a:t>and chicken last night ah? 	(move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Sarah fry what and chicken last night ah? 		(situ | island)</a:t>
            </a:r>
          </a:p>
          <a:p>
            <a:r>
              <a:rPr lang="en-US" altLang="zh-CN" sz="2600" dirty="0"/>
              <a:t>Four</a:t>
            </a:r>
            <a:r>
              <a:rPr lang="zh-CN" altLang="en-US" sz="2600" dirty="0"/>
              <a:t> </a:t>
            </a:r>
            <a:r>
              <a:rPr lang="en-US" altLang="zh-CN" sz="2600" dirty="0"/>
              <a:t>conditions</a:t>
            </a:r>
            <a:r>
              <a:rPr lang="zh-CN" altLang="en-US" sz="2600" dirty="0"/>
              <a:t> </a:t>
            </a:r>
            <a:r>
              <a:rPr lang="en-US" altLang="zh-CN" sz="2600" dirty="0"/>
              <a:t>were</a:t>
            </a:r>
            <a:r>
              <a:rPr lang="zh-CN" altLang="en-US" sz="2600" dirty="0"/>
              <a:t> </a:t>
            </a:r>
            <a:r>
              <a:rPr lang="en-US" altLang="zh-CN" sz="2600" dirty="0"/>
              <a:t>analyzed</a:t>
            </a:r>
            <a:r>
              <a:rPr lang="zh-CN" altLang="en-US" sz="2600" dirty="0"/>
              <a:t> </a:t>
            </a:r>
            <a:r>
              <a:rPr lang="en-US" altLang="zh-CN" sz="2600" dirty="0"/>
              <a:t>to</a:t>
            </a:r>
            <a:r>
              <a:rPr lang="zh-CN" altLang="en-US" sz="2600" dirty="0"/>
              <a:t> </a:t>
            </a:r>
            <a:r>
              <a:rPr lang="en-US" altLang="zh-CN" sz="2600" dirty="0"/>
              <a:t>test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/>
              <a:t>wh-movement</a:t>
            </a: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FAD05-B7A7-0EA6-1F4D-E7D9BBF6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7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D52F7-621D-2FC5-4D4A-7D9AE720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1557-B313-5CC7-5583-67B2D26A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1: movement and in-situ of the first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9FAF-F9A0-9224-1A75-ADB65F33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with oil last night ah? 		(short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What Sarah fry </a:t>
            </a:r>
            <a:r>
              <a:rPr lang="en-US" sz="2600" i="1" dirty="0">
                <a:solidFill>
                  <a:schemeClr val="bg2"/>
                </a:solidFill>
              </a:rPr>
              <a:t>t</a:t>
            </a:r>
            <a:r>
              <a:rPr lang="en-US" sz="2600" dirty="0">
                <a:solidFill>
                  <a:schemeClr val="bg2"/>
                </a:solidFill>
              </a:rPr>
              <a:t> with oil last night ah? 		(move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what with oil last night ah? 		(situ | non-island)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and chicken last night ah? 	(short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What Sarah fry </a:t>
            </a:r>
            <a:r>
              <a:rPr lang="en-US" sz="2600" i="1" dirty="0">
                <a:solidFill>
                  <a:schemeClr val="bg2"/>
                </a:solidFill>
              </a:rPr>
              <a:t>t </a:t>
            </a:r>
            <a:r>
              <a:rPr lang="en-US" sz="2600" dirty="0">
                <a:solidFill>
                  <a:schemeClr val="bg2"/>
                </a:solidFill>
              </a:rPr>
              <a:t>and chicken last night ah? 	(move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what and chicken last night ah? 		(situ | island)</a:t>
            </a:r>
          </a:p>
          <a:p>
            <a:r>
              <a:rPr lang="en-US" altLang="zh-CN" sz="2600" dirty="0"/>
              <a:t>Four</a:t>
            </a:r>
            <a:r>
              <a:rPr lang="zh-CN" altLang="en-US" sz="2600" dirty="0"/>
              <a:t> </a:t>
            </a:r>
            <a:r>
              <a:rPr lang="en-US" altLang="zh-CN" sz="2600" dirty="0"/>
              <a:t>conditions</a:t>
            </a:r>
            <a:r>
              <a:rPr lang="zh-CN" altLang="en-US" sz="2600" dirty="0"/>
              <a:t> </a:t>
            </a:r>
            <a:r>
              <a:rPr lang="en-US" altLang="zh-CN" sz="2600" dirty="0"/>
              <a:t>were</a:t>
            </a:r>
            <a:r>
              <a:rPr lang="zh-CN" altLang="en-US" sz="2600" dirty="0"/>
              <a:t> </a:t>
            </a:r>
            <a:r>
              <a:rPr lang="en-US" altLang="zh-CN" sz="2600" dirty="0"/>
              <a:t>analyzed</a:t>
            </a:r>
            <a:r>
              <a:rPr lang="zh-CN" altLang="en-US" sz="2600" dirty="0"/>
              <a:t> </a:t>
            </a:r>
            <a:r>
              <a:rPr lang="en-US" altLang="zh-CN" sz="2600" dirty="0"/>
              <a:t>to</a:t>
            </a:r>
            <a:r>
              <a:rPr lang="zh-CN" altLang="en-US" sz="2600" dirty="0"/>
              <a:t> </a:t>
            </a:r>
            <a:r>
              <a:rPr lang="en-US" altLang="zh-CN" sz="2600" dirty="0"/>
              <a:t>test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-in-situ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3B5D4-130E-1C0D-F0CD-5DD3649F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28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F1BA-1ACD-B201-1043-19A7E552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B9A7-E460-63FE-0B75-A1F91A64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1: movement and in-situ of the first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4C967-8FC2-5C8F-DC4B-0050D406F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1875"/>
            <a:ext cx="52578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short vs. move (p &lt; .0001)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304D5-20EF-0A43-454B-5798155B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7E2603-18D6-4EE0-CE68-9272306BCE3D}"/>
              </a:ext>
            </a:extLst>
          </p:cNvPr>
          <p:cNvSpPr txBox="1">
            <a:spLocks/>
          </p:cNvSpPr>
          <p:nvPr/>
        </p:nvSpPr>
        <p:spPr>
          <a:xfrm>
            <a:off x="6199909" y="199187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 dirty="0"/>
              <a:t>s</a:t>
            </a:r>
            <a:r>
              <a:rPr lang="en-US" sz="2600" dirty="0"/>
              <a:t>hort vs. situ (p &lt; .0001)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5E3995-B881-3332-C9DC-14DA8B59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422166"/>
            <a:ext cx="4232566" cy="3703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3257AB-793C-B93A-51BE-7EF2F59BF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091" y="2422167"/>
            <a:ext cx="4232565" cy="370349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F2052D0-783B-30B2-E34A-52B24C1B9036}"/>
              </a:ext>
            </a:extLst>
          </p:cNvPr>
          <p:cNvSpPr txBox="1">
            <a:spLocks/>
          </p:cNvSpPr>
          <p:nvPr/>
        </p:nvSpPr>
        <p:spPr>
          <a:xfrm>
            <a:off x="838198" y="6176963"/>
            <a:ext cx="10515600" cy="569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 dirty="0"/>
              <a:t>Evidence</a:t>
            </a:r>
            <a:r>
              <a:rPr lang="zh-CN" altLang="en-US" sz="2600" dirty="0"/>
              <a:t> </a:t>
            </a:r>
            <a:r>
              <a:rPr lang="en-US" altLang="zh-CN" sz="2600" dirty="0"/>
              <a:t>for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in</a:t>
            </a:r>
            <a:r>
              <a:rPr lang="zh-CN" altLang="en-US" sz="2600" dirty="0"/>
              <a:t> </a:t>
            </a:r>
            <a:r>
              <a:rPr lang="en-US" altLang="zh-CN" sz="2600" dirty="0"/>
              <a:t>both</a:t>
            </a:r>
            <a:r>
              <a:rPr lang="zh-CN" altLang="en-US" sz="2600" dirty="0"/>
              <a:t> </a:t>
            </a:r>
            <a:r>
              <a:rPr lang="en-US" altLang="zh-CN" sz="2600" dirty="0"/>
              <a:t>wh-movement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-in-situ.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A7D39A-D5FA-7CEE-9D26-585D71CC4A21}"/>
              </a:ext>
            </a:extLst>
          </p:cNvPr>
          <p:cNvSpPr txBox="1"/>
          <p:nvPr/>
        </p:nvSpPr>
        <p:spPr>
          <a:xfrm>
            <a:off x="838198" y="1530210"/>
            <a:ext cx="458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What Sarah fry </a:t>
            </a:r>
            <a:r>
              <a:rPr lang="en-US" sz="2400" i="1" dirty="0">
                <a:solidFill>
                  <a:srgbClr val="FF0000"/>
                </a:solidFill>
              </a:rPr>
              <a:t>t </a:t>
            </a:r>
            <a:r>
              <a:rPr lang="en-US" sz="2400" dirty="0">
                <a:solidFill>
                  <a:srgbClr val="FF0000"/>
                </a:solidFill>
              </a:rPr>
              <a:t>and chicken </a:t>
            </a:r>
            <a:r>
              <a:rPr lang="en-US" altLang="zh-CN" sz="2400" dirty="0">
                <a:solidFill>
                  <a:srgbClr val="FF0000"/>
                </a:solidFill>
              </a:rPr>
              <a:t>ah?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82A5A-C6EF-7DFB-7C28-1773BD27615C}"/>
              </a:ext>
            </a:extLst>
          </p:cNvPr>
          <p:cNvSpPr txBox="1"/>
          <p:nvPr/>
        </p:nvSpPr>
        <p:spPr>
          <a:xfrm>
            <a:off x="6199909" y="1529829"/>
            <a:ext cx="41375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Sarah fry </a:t>
            </a:r>
            <a:r>
              <a:rPr lang="en-US" altLang="zh-CN" sz="2400" i="1" dirty="0">
                <a:solidFill>
                  <a:srgbClr val="FF0000"/>
                </a:solidFill>
              </a:rPr>
              <a:t>what</a:t>
            </a:r>
            <a:r>
              <a:rPr lang="zh-CN" alt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and chicken </a:t>
            </a:r>
            <a:r>
              <a:rPr lang="en-US" altLang="zh-CN" sz="2400" dirty="0">
                <a:solidFill>
                  <a:srgbClr val="FF0000"/>
                </a:solidFill>
              </a:rPr>
              <a:t>ah?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3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F045-7064-0F08-F6B4-D5C1FDC9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E90A-E594-B56C-721F-80730988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5181" cy="1325563"/>
          </a:xfrm>
        </p:spPr>
        <p:txBody>
          <a:bodyPr>
            <a:normAutofit/>
          </a:bodyPr>
          <a:lstStyle/>
          <a:p>
            <a:r>
              <a:rPr lang="en-US" sz="3400" dirty="0"/>
              <a:t>Experiment 2: movement and in-situ of the second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0BAA-3BAC-C697-2C49-91C5A3337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5182" cy="4351338"/>
          </a:xfrm>
        </p:spPr>
        <p:txBody>
          <a:bodyPr>
            <a:normAutofit/>
          </a:bodyPr>
          <a:lstStyle/>
          <a:p>
            <a:r>
              <a:rPr lang="en-US" sz="2600" dirty="0"/>
              <a:t>same procedure, n = 29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with oil last night ah? 		(short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dirty="0" err="1"/>
              <a:t>indomie</a:t>
            </a:r>
            <a:r>
              <a:rPr lang="en-US" sz="2600" dirty="0"/>
              <a:t> with </a:t>
            </a:r>
            <a:r>
              <a:rPr lang="en-US" sz="2600" i="1" dirty="0"/>
              <a:t>t </a:t>
            </a:r>
            <a:r>
              <a:rPr lang="en-US" sz="2600" dirty="0"/>
              <a:t>last night ah?	(move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</a:t>
            </a:r>
            <a:r>
              <a:rPr lang="en-US" sz="2600" dirty="0" err="1"/>
              <a:t>indomie</a:t>
            </a:r>
            <a:r>
              <a:rPr lang="en-US" sz="2600" dirty="0"/>
              <a:t> with what last night ah?	(situ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and chicken last night ah?	(short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dirty="0" err="1"/>
              <a:t>indomie</a:t>
            </a:r>
            <a:r>
              <a:rPr lang="en-US" sz="2600" dirty="0"/>
              <a:t> and </a:t>
            </a:r>
            <a:r>
              <a:rPr lang="en-US" sz="2600" i="1" dirty="0"/>
              <a:t>t </a:t>
            </a:r>
            <a:r>
              <a:rPr lang="en-US" sz="2600" dirty="0"/>
              <a:t>last night ah? 	(move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</a:t>
            </a:r>
            <a:r>
              <a:rPr lang="en-US" sz="2600" dirty="0" err="1"/>
              <a:t>indomie</a:t>
            </a:r>
            <a:r>
              <a:rPr lang="en-US" sz="2600" dirty="0"/>
              <a:t> and what last night ah? 	(situ | island)</a:t>
            </a:r>
          </a:p>
          <a:p>
            <a:pPr marL="514350" indent="-514350">
              <a:buFont typeface="+mj-lt"/>
              <a:buAutoNum type="arabicPeriod"/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60D72-3294-BAFA-B078-050DEADB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07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A298-CE75-A57F-2D9E-6CC1F20C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E445-6ED1-5A2C-60FB-2DD840FA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5181" cy="1325563"/>
          </a:xfrm>
        </p:spPr>
        <p:txBody>
          <a:bodyPr>
            <a:normAutofit/>
          </a:bodyPr>
          <a:lstStyle/>
          <a:p>
            <a:r>
              <a:rPr lang="en-US" sz="3400" dirty="0"/>
              <a:t>Experiment 2: movement and in-situ of the second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DC11B-E26A-5766-A667-D41E9E57F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5182" cy="4351338"/>
          </a:xfrm>
        </p:spPr>
        <p:txBody>
          <a:bodyPr>
            <a:normAutofit/>
          </a:bodyPr>
          <a:lstStyle/>
          <a:p>
            <a:r>
              <a:rPr lang="en-US" sz="2600" dirty="0"/>
              <a:t>same procedure, n = 29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with oil last night ah? 		(short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dirty="0" err="1"/>
              <a:t>indomie</a:t>
            </a:r>
            <a:r>
              <a:rPr lang="en-US" sz="2600" dirty="0"/>
              <a:t> with </a:t>
            </a:r>
            <a:r>
              <a:rPr lang="en-US" sz="2600" i="1" dirty="0"/>
              <a:t>t </a:t>
            </a:r>
            <a:r>
              <a:rPr lang="en-US" sz="2600" dirty="0"/>
              <a:t>last night ah?	(move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Sarah fry </a:t>
            </a:r>
            <a:r>
              <a:rPr lang="en-US" sz="2600" dirty="0" err="1">
                <a:solidFill>
                  <a:schemeClr val="bg2"/>
                </a:solidFill>
              </a:rPr>
              <a:t>indomie</a:t>
            </a:r>
            <a:r>
              <a:rPr lang="en-US" sz="2600" dirty="0">
                <a:solidFill>
                  <a:schemeClr val="bg2"/>
                </a:solidFill>
              </a:rPr>
              <a:t>  with what last night ah?	(situ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and chicken last night ah?	(short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What Sarah fry </a:t>
            </a:r>
            <a:r>
              <a:rPr lang="en-US" sz="2600" dirty="0" err="1"/>
              <a:t>indomie</a:t>
            </a:r>
            <a:r>
              <a:rPr lang="en-US" sz="2600" dirty="0"/>
              <a:t> and </a:t>
            </a:r>
            <a:r>
              <a:rPr lang="en-US" sz="2600" i="1" dirty="0"/>
              <a:t>t </a:t>
            </a:r>
            <a:r>
              <a:rPr lang="en-US" sz="2600" dirty="0"/>
              <a:t>last night ah? 	(move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Sarah fry </a:t>
            </a:r>
            <a:r>
              <a:rPr lang="en-US" sz="2600" dirty="0" err="1">
                <a:solidFill>
                  <a:schemeClr val="bg2"/>
                </a:solidFill>
              </a:rPr>
              <a:t>indomie</a:t>
            </a:r>
            <a:r>
              <a:rPr lang="en-US" sz="2600" dirty="0">
                <a:solidFill>
                  <a:schemeClr val="bg2"/>
                </a:solidFill>
              </a:rPr>
              <a:t> and what last night ah? 	(situ | island)</a:t>
            </a:r>
          </a:p>
          <a:p>
            <a:r>
              <a:rPr lang="en-US" sz="2600" dirty="0"/>
              <a:t>Four</a:t>
            </a:r>
            <a:r>
              <a:rPr lang="zh-CN" altLang="en-US" sz="2600" dirty="0"/>
              <a:t> </a:t>
            </a:r>
            <a:r>
              <a:rPr lang="en-US" altLang="zh-CN" sz="2600" dirty="0"/>
              <a:t>conditions</a:t>
            </a:r>
            <a:r>
              <a:rPr lang="zh-CN" altLang="en-US" sz="2600" dirty="0"/>
              <a:t> </a:t>
            </a:r>
            <a:r>
              <a:rPr lang="en-US" altLang="zh-CN" sz="2600" dirty="0"/>
              <a:t>were</a:t>
            </a:r>
            <a:r>
              <a:rPr lang="zh-CN" altLang="en-US" sz="2600" dirty="0"/>
              <a:t> </a:t>
            </a:r>
            <a:r>
              <a:rPr lang="en-US" altLang="zh-CN" sz="2600" dirty="0"/>
              <a:t>analyzed</a:t>
            </a:r>
            <a:r>
              <a:rPr lang="zh-CN" altLang="en-US" sz="2600" dirty="0"/>
              <a:t> </a:t>
            </a:r>
            <a:r>
              <a:rPr lang="en-US" altLang="zh-CN" sz="2600" dirty="0"/>
              <a:t>to</a:t>
            </a:r>
            <a:r>
              <a:rPr lang="zh-CN" altLang="en-US" sz="2600" dirty="0"/>
              <a:t> </a:t>
            </a:r>
            <a:r>
              <a:rPr lang="en-US" altLang="zh-CN" sz="2600" dirty="0"/>
              <a:t>test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/>
              <a:t>wh-movement</a:t>
            </a: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B0EBC-2007-0129-4FB2-02F22890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35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B629-2A31-96C5-EE9D-162BF1E3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3615-D1CC-ACC6-6F72-6BFCCDE8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5181" cy="1325563"/>
          </a:xfrm>
        </p:spPr>
        <p:txBody>
          <a:bodyPr>
            <a:normAutofit/>
          </a:bodyPr>
          <a:lstStyle/>
          <a:p>
            <a:r>
              <a:rPr lang="en-US" sz="3400" dirty="0"/>
              <a:t>Experiment 2: movement and in-situ of the second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19A72-BD1C-F7E2-3935-ECF6FFD0A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5182" cy="4351338"/>
          </a:xfrm>
        </p:spPr>
        <p:txBody>
          <a:bodyPr>
            <a:normAutofit/>
          </a:bodyPr>
          <a:lstStyle/>
          <a:p>
            <a:r>
              <a:rPr lang="en-US" sz="2600" dirty="0"/>
              <a:t>same procedure, n = 29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with oil last night ah? 		(short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What Sarah fry </a:t>
            </a:r>
            <a:r>
              <a:rPr lang="en-US" sz="2600" dirty="0" err="1">
                <a:solidFill>
                  <a:schemeClr val="bg2"/>
                </a:solidFill>
              </a:rPr>
              <a:t>indomie</a:t>
            </a:r>
            <a:r>
              <a:rPr lang="en-US" sz="2600" dirty="0">
                <a:solidFill>
                  <a:schemeClr val="bg2"/>
                </a:solidFill>
              </a:rPr>
              <a:t> with </a:t>
            </a:r>
            <a:r>
              <a:rPr lang="en-US" sz="2600" i="1" dirty="0">
                <a:solidFill>
                  <a:schemeClr val="bg2"/>
                </a:solidFill>
              </a:rPr>
              <a:t>t </a:t>
            </a:r>
            <a:r>
              <a:rPr lang="en-US" sz="2600" dirty="0">
                <a:solidFill>
                  <a:schemeClr val="bg2"/>
                </a:solidFill>
              </a:rPr>
              <a:t>last night ah?	(move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</a:t>
            </a:r>
            <a:r>
              <a:rPr lang="en-US" sz="2600" dirty="0" err="1"/>
              <a:t>indomie</a:t>
            </a:r>
            <a:r>
              <a:rPr lang="en-US" sz="2600" dirty="0"/>
              <a:t> with what last night ah?	(situ | no-island)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Who </a:t>
            </a:r>
            <a:r>
              <a:rPr lang="en-US" sz="2600" i="1" dirty="0"/>
              <a:t>t </a:t>
            </a:r>
            <a:r>
              <a:rPr lang="en-US" sz="2600" dirty="0"/>
              <a:t>fry </a:t>
            </a:r>
            <a:r>
              <a:rPr lang="en-US" sz="2600" dirty="0" err="1"/>
              <a:t>indomie</a:t>
            </a:r>
            <a:r>
              <a:rPr lang="en-US" sz="2600" dirty="0"/>
              <a:t> and chicken last night ah?	(short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chemeClr val="bg2"/>
                </a:solidFill>
              </a:rPr>
              <a:t>What Sarah fry </a:t>
            </a:r>
            <a:r>
              <a:rPr lang="en-US" sz="2600" dirty="0" err="1">
                <a:solidFill>
                  <a:schemeClr val="bg2"/>
                </a:solidFill>
              </a:rPr>
              <a:t>indomie</a:t>
            </a:r>
            <a:r>
              <a:rPr lang="en-US" sz="2600" dirty="0">
                <a:solidFill>
                  <a:schemeClr val="bg2"/>
                </a:solidFill>
              </a:rPr>
              <a:t> and </a:t>
            </a:r>
            <a:r>
              <a:rPr lang="en-US" sz="2600" i="1" dirty="0">
                <a:solidFill>
                  <a:schemeClr val="bg2"/>
                </a:solidFill>
              </a:rPr>
              <a:t>t </a:t>
            </a:r>
            <a:r>
              <a:rPr lang="en-US" sz="2600" dirty="0">
                <a:solidFill>
                  <a:schemeClr val="bg2"/>
                </a:solidFill>
              </a:rPr>
              <a:t>last night ah? 	(move | island)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Sarah fry </a:t>
            </a:r>
            <a:r>
              <a:rPr lang="en-US" sz="2600" dirty="0" err="1"/>
              <a:t>indomie</a:t>
            </a:r>
            <a:r>
              <a:rPr lang="en-US" sz="2600" dirty="0"/>
              <a:t> and what last night ah? 	(situ | island)</a:t>
            </a:r>
          </a:p>
          <a:p>
            <a:r>
              <a:rPr lang="en-US" sz="2600" dirty="0"/>
              <a:t>Four</a:t>
            </a:r>
            <a:r>
              <a:rPr lang="zh-CN" altLang="en-US" sz="2600" dirty="0"/>
              <a:t> </a:t>
            </a:r>
            <a:r>
              <a:rPr lang="en-US" altLang="zh-CN" sz="2600" dirty="0"/>
              <a:t>conditions</a:t>
            </a:r>
            <a:r>
              <a:rPr lang="zh-CN" altLang="en-US" sz="2600" dirty="0"/>
              <a:t> </a:t>
            </a:r>
            <a:r>
              <a:rPr lang="en-US" altLang="zh-CN" sz="2600" dirty="0"/>
              <a:t>were</a:t>
            </a:r>
            <a:r>
              <a:rPr lang="zh-CN" altLang="en-US" sz="2600" dirty="0"/>
              <a:t> </a:t>
            </a:r>
            <a:r>
              <a:rPr lang="en-US" altLang="zh-CN" sz="2600" dirty="0"/>
              <a:t>analyzed</a:t>
            </a:r>
            <a:r>
              <a:rPr lang="zh-CN" altLang="en-US" sz="2600" dirty="0"/>
              <a:t> </a:t>
            </a:r>
            <a:r>
              <a:rPr lang="en-US" altLang="zh-CN" sz="2600" dirty="0"/>
              <a:t>to</a:t>
            </a:r>
            <a:r>
              <a:rPr lang="zh-CN" altLang="en-US" sz="2600" dirty="0"/>
              <a:t> </a:t>
            </a:r>
            <a:r>
              <a:rPr lang="en-US" altLang="zh-CN" sz="2600" dirty="0"/>
              <a:t>test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-in-situ</a:t>
            </a: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BD501-CD6B-E8F9-655C-ED67DBB1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29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DAF16-507F-2E3B-A6FE-D0C9FEB0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4216-CB21-19D8-CEFB-C57BD4A3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04419" cy="1325563"/>
          </a:xfrm>
        </p:spPr>
        <p:txBody>
          <a:bodyPr>
            <a:normAutofit/>
          </a:bodyPr>
          <a:lstStyle/>
          <a:p>
            <a:r>
              <a:rPr lang="en-US" sz="3500" dirty="0"/>
              <a:t>Experiment 2: movement and in-situ of the second conjunct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1821-5B98-98D8-1D63-285C463B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2500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short vs. move (p &lt; .0001)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7DE73-A768-AB4D-4FE1-9CA5C3A3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D7764D-9B0E-17B9-0751-47D2F6B7E7BD}"/>
              </a:ext>
            </a:extLst>
          </p:cNvPr>
          <p:cNvSpPr txBox="1">
            <a:spLocks/>
          </p:cNvSpPr>
          <p:nvPr/>
        </p:nvSpPr>
        <p:spPr>
          <a:xfrm>
            <a:off x="6199909" y="193250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s</a:t>
            </a:r>
            <a:r>
              <a:rPr lang="en-US" sz="2400" dirty="0"/>
              <a:t>hort vs. situ (p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1</a:t>
            </a:r>
            <a:r>
              <a:rPr lang="en-US" sz="24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E4FC1-4F67-300E-C312-F329635E5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01094"/>
            <a:ext cx="4315691" cy="3776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3E562-39E3-5948-2CDE-5A7C4B3B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299502"/>
            <a:ext cx="4315691" cy="37762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62B059-DD7A-B086-336E-FFE83D597A47}"/>
              </a:ext>
            </a:extLst>
          </p:cNvPr>
          <p:cNvSpPr txBox="1">
            <a:spLocks/>
          </p:cNvSpPr>
          <p:nvPr/>
        </p:nvSpPr>
        <p:spPr>
          <a:xfrm>
            <a:off x="838198" y="6176963"/>
            <a:ext cx="10515600" cy="569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600" dirty="0"/>
              <a:t>Evidence</a:t>
            </a:r>
            <a:r>
              <a:rPr lang="zh-CN" altLang="en-US" sz="2600" dirty="0"/>
              <a:t> </a:t>
            </a:r>
            <a:r>
              <a:rPr lang="en-US" altLang="zh-CN" sz="2600" dirty="0"/>
              <a:t>for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in</a:t>
            </a:r>
            <a:r>
              <a:rPr lang="zh-CN" altLang="en-US" sz="2600" dirty="0"/>
              <a:t> </a:t>
            </a:r>
            <a:r>
              <a:rPr lang="en-US" altLang="zh-CN" sz="2600" dirty="0"/>
              <a:t>wh-movement</a:t>
            </a:r>
            <a:r>
              <a:rPr lang="zh-CN" altLang="en-US" sz="2600" dirty="0"/>
              <a:t> </a:t>
            </a:r>
            <a:r>
              <a:rPr lang="en-US" altLang="zh-CN" sz="2600" dirty="0">
                <a:solidFill>
                  <a:srgbClr val="FF0000"/>
                </a:solidFill>
              </a:rPr>
              <a:t>but</a:t>
            </a:r>
            <a:r>
              <a:rPr lang="zh-CN" altLang="en-US" sz="2600" dirty="0">
                <a:solidFill>
                  <a:srgbClr val="FF0000"/>
                </a:solidFill>
              </a:rPr>
              <a:t> </a:t>
            </a:r>
            <a:r>
              <a:rPr lang="en-US" altLang="zh-CN" sz="2600" dirty="0">
                <a:solidFill>
                  <a:srgbClr val="FF0000"/>
                </a:solidFill>
              </a:rPr>
              <a:t>not</a:t>
            </a:r>
            <a:r>
              <a:rPr lang="zh-CN" altLang="en-US" sz="2600" dirty="0">
                <a:solidFill>
                  <a:srgbClr val="FF0000"/>
                </a:solidFill>
              </a:rPr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-in-situ.</a:t>
            </a:r>
            <a:endParaRPr lang="en-US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EC45E-36EA-A045-33BC-B00DE4D053F5}"/>
              </a:ext>
            </a:extLst>
          </p:cNvPr>
          <p:cNvSpPr txBox="1"/>
          <p:nvPr/>
        </p:nvSpPr>
        <p:spPr>
          <a:xfrm>
            <a:off x="838198" y="1530210"/>
            <a:ext cx="458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What Sarah fry </a:t>
            </a:r>
            <a:r>
              <a:rPr lang="en-US" altLang="zh-CN" sz="2400" dirty="0" err="1">
                <a:solidFill>
                  <a:srgbClr val="FF0000"/>
                </a:solidFill>
              </a:rPr>
              <a:t>indomie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and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</a:rPr>
              <a:t>t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ah?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F2D59-830B-36A5-8B3F-5A6E1431432E}"/>
              </a:ext>
            </a:extLst>
          </p:cNvPr>
          <p:cNvSpPr txBox="1"/>
          <p:nvPr/>
        </p:nvSpPr>
        <p:spPr>
          <a:xfrm>
            <a:off x="6199909" y="1529829"/>
            <a:ext cx="41375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Sarah fry </a:t>
            </a:r>
            <a:r>
              <a:rPr lang="en-US" altLang="zh-CN" sz="24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indomie</a:t>
            </a:r>
            <a:r>
              <a:rPr lang="zh-CN" alt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and</a:t>
            </a:r>
            <a:r>
              <a:rPr lang="zh-CN" alt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4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ah?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1816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3B95-970B-B28F-0BF4-FB993D8CD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891-57DB-56C0-5BFB-13812EC2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</a:t>
            </a:r>
            <a:r>
              <a:rPr lang="zh-CN" altLang="en-US" sz="3600" dirty="0"/>
              <a:t> </a:t>
            </a:r>
            <a:r>
              <a:rPr lang="en-US" altLang="zh-CN" sz="3600" dirty="0"/>
              <a:t>experiments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BCFEA-4FD5-4049-F0A3-E5FDAC6F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dirty="0"/>
              <a:t>Results: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r>
              <a:rPr lang="en-US" altLang="zh-CN" sz="2600" dirty="0"/>
              <a:t>Wh-movement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/>
              <a:t>both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first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second</a:t>
            </a:r>
            <a:r>
              <a:rPr lang="zh-CN" altLang="en-US" sz="2600" dirty="0"/>
              <a:t> </a:t>
            </a:r>
            <a:r>
              <a:rPr lang="en-US" altLang="zh-CN" sz="2600" dirty="0"/>
              <a:t>conjunct</a:t>
            </a:r>
            <a:r>
              <a:rPr lang="zh-CN" altLang="en-US" sz="2600" dirty="0"/>
              <a:t> </a:t>
            </a:r>
            <a:r>
              <a:rPr lang="en-US" altLang="zh-CN" sz="2600" dirty="0"/>
              <a:t>show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effect.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r>
              <a:rPr lang="en-US" altLang="zh-CN" sz="2600" dirty="0" err="1"/>
              <a:t>Wh</a:t>
            </a:r>
            <a:r>
              <a:rPr lang="en-US" altLang="zh-CN" sz="2600" dirty="0"/>
              <a:t>-in-situ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first</a:t>
            </a:r>
            <a:r>
              <a:rPr lang="zh-CN" altLang="en-US" sz="2600" dirty="0"/>
              <a:t> </a:t>
            </a:r>
            <a:r>
              <a:rPr lang="en-US" altLang="zh-CN" sz="2600" dirty="0"/>
              <a:t>conjunct</a:t>
            </a:r>
            <a:r>
              <a:rPr lang="zh-CN" altLang="en-US" sz="2600" dirty="0"/>
              <a:t> </a:t>
            </a:r>
            <a:r>
              <a:rPr lang="en-US" altLang="zh-CN" sz="2600" dirty="0"/>
              <a:t>shows</a:t>
            </a:r>
            <a:r>
              <a:rPr lang="zh-CN" altLang="en-US" sz="2600" dirty="0"/>
              <a:t> </a:t>
            </a:r>
            <a:r>
              <a:rPr lang="en-US" altLang="zh-CN" sz="2600" dirty="0"/>
              <a:t>CSC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while</a:t>
            </a:r>
            <a:r>
              <a:rPr lang="zh-CN" altLang="en-US" sz="2600" dirty="0"/>
              <a:t> </a:t>
            </a:r>
            <a:r>
              <a:rPr lang="en-US" altLang="zh-CN" sz="2600" dirty="0" err="1"/>
              <a:t>wh</a:t>
            </a:r>
            <a:r>
              <a:rPr lang="en-US" altLang="zh-CN" sz="2600" dirty="0"/>
              <a:t>-in-situ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second</a:t>
            </a:r>
            <a:r>
              <a:rPr lang="zh-CN" altLang="en-US" sz="2600" dirty="0"/>
              <a:t> </a:t>
            </a:r>
            <a:r>
              <a:rPr lang="en-US" altLang="zh-CN" sz="2600" dirty="0"/>
              <a:t>conjunct</a:t>
            </a:r>
            <a:r>
              <a:rPr lang="zh-CN" altLang="en-US" sz="2600" dirty="0"/>
              <a:t> </a:t>
            </a:r>
            <a:r>
              <a:rPr lang="en-US" altLang="zh-CN" sz="2600" dirty="0"/>
              <a:t>does</a:t>
            </a:r>
            <a:r>
              <a:rPr lang="zh-CN" altLang="en-US" sz="2600" dirty="0"/>
              <a:t> </a:t>
            </a:r>
            <a:r>
              <a:rPr lang="en-US" altLang="zh-CN" sz="2600" dirty="0"/>
              <a:t>not.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pPr marL="514350" indent="-514350">
              <a:buFont typeface="+mj-lt"/>
              <a:buAutoNum type="arabicParenR" startAt="18"/>
            </a:pPr>
            <a:r>
              <a:rPr lang="zh-CN" altLang="en-US" sz="2600" dirty="0"/>
              <a:t>*</a:t>
            </a:r>
            <a:r>
              <a:rPr lang="en-US" sz="2600" dirty="0"/>
              <a:t>What Sarah fry</a:t>
            </a:r>
            <a:r>
              <a:rPr lang="en-US" sz="2600" i="1" dirty="0"/>
              <a:t> </a:t>
            </a:r>
            <a:r>
              <a:rPr lang="en-US" sz="2600" dirty="0"/>
              <a:t>and chicken </a:t>
            </a:r>
            <a:r>
              <a:rPr lang="en-US" altLang="zh-CN" sz="2600" dirty="0"/>
              <a:t>ah?	(*wh-movement of C1)</a:t>
            </a:r>
          </a:p>
          <a:p>
            <a:pPr marL="514350" indent="-514350">
              <a:buFont typeface="+mj-lt"/>
              <a:buAutoNum type="arabicParenR" startAt="18"/>
            </a:pPr>
            <a:r>
              <a:rPr lang="zh-CN" altLang="en-US" sz="2600" dirty="0"/>
              <a:t>*</a:t>
            </a:r>
            <a:r>
              <a:rPr lang="en-US" sz="2600" dirty="0"/>
              <a:t>What Sarah fry </a:t>
            </a:r>
            <a:r>
              <a:rPr lang="en-US" altLang="zh-CN" sz="2600" dirty="0" err="1"/>
              <a:t>indomie</a:t>
            </a:r>
            <a:r>
              <a:rPr lang="en-US" sz="2600" i="1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ah?	(*wh-movement of C2)</a:t>
            </a:r>
          </a:p>
          <a:p>
            <a:pPr marL="514350" indent="-514350">
              <a:buFont typeface="+mj-lt"/>
              <a:buAutoNum type="arabicParenR" startAt="18"/>
            </a:pPr>
            <a:r>
              <a:rPr lang="zh-CN" altLang="en-US" sz="2600" b="1" dirty="0"/>
              <a:t>*</a:t>
            </a:r>
            <a:r>
              <a:rPr lang="en-US" sz="2600" b="1" dirty="0"/>
              <a:t>Sarah fry </a:t>
            </a:r>
            <a:r>
              <a:rPr lang="en-US" altLang="zh-CN" sz="2600" b="1" i="1" dirty="0"/>
              <a:t>what</a:t>
            </a:r>
            <a:r>
              <a:rPr lang="zh-CN" altLang="en-US" sz="2600" b="1" i="1" dirty="0"/>
              <a:t> </a:t>
            </a:r>
            <a:r>
              <a:rPr lang="en-US" sz="2600" b="1" dirty="0"/>
              <a:t>and chicken </a:t>
            </a:r>
            <a:r>
              <a:rPr lang="en-US" altLang="zh-CN" sz="2600" b="1" dirty="0"/>
              <a:t>ah?	(*</a:t>
            </a:r>
            <a:r>
              <a:rPr lang="en-US" altLang="zh-CN" sz="2600" b="1" dirty="0" err="1"/>
              <a:t>wh</a:t>
            </a:r>
            <a:r>
              <a:rPr lang="en-US" altLang="zh-CN" sz="2600" b="1" dirty="0"/>
              <a:t>-in-situ of C1)</a:t>
            </a:r>
            <a:endParaRPr lang="en-US" sz="2600" b="1" dirty="0"/>
          </a:p>
          <a:p>
            <a:pPr marL="514350" indent="-514350">
              <a:buFont typeface="+mj-lt"/>
              <a:buAutoNum type="arabicParenR" startAt="18"/>
            </a:pPr>
            <a:r>
              <a:rPr lang="en-US" sz="2600" b="1" dirty="0"/>
              <a:t>Sarah fry </a:t>
            </a:r>
            <a:r>
              <a:rPr lang="en-US" altLang="zh-CN" sz="2600" b="1" dirty="0" err="1"/>
              <a:t>indomie</a:t>
            </a:r>
            <a:r>
              <a:rPr lang="zh-CN" altLang="en-US" sz="2600" b="1" dirty="0"/>
              <a:t> </a:t>
            </a:r>
            <a:r>
              <a:rPr lang="en-US" altLang="zh-CN" sz="2600" b="1" dirty="0"/>
              <a:t>and</a:t>
            </a:r>
            <a:r>
              <a:rPr lang="zh-CN" altLang="en-US" sz="2600" b="1" dirty="0"/>
              <a:t> </a:t>
            </a:r>
            <a:r>
              <a:rPr lang="en-US" altLang="zh-CN" sz="2600" b="1" i="1" dirty="0"/>
              <a:t>what</a:t>
            </a:r>
            <a:r>
              <a:rPr lang="en-US" sz="2600" b="1" dirty="0"/>
              <a:t> </a:t>
            </a:r>
            <a:r>
              <a:rPr lang="en-US" altLang="zh-CN" sz="2600" b="1" dirty="0"/>
              <a:t>ah?	(</a:t>
            </a:r>
            <a:r>
              <a:rPr lang="en-US" altLang="zh-CN" sz="2600" b="1" dirty="0" err="1"/>
              <a:t>wh</a:t>
            </a:r>
            <a:r>
              <a:rPr lang="en-US" altLang="zh-CN" sz="2600" b="1" dirty="0"/>
              <a:t>-in-situ of C2)</a:t>
            </a:r>
          </a:p>
          <a:p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12D25-9548-CA3B-85B6-E48F3EDB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12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451F-6383-A122-D110-1DD3AC76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F3C-7EF0-F83E-D7C4-893689BA2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predictions (repeated)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32C41-A246-64E7-3D5D-F0A026816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5878" cy="47783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Parallelism Requirement:</a:t>
            </a:r>
            <a:r>
              <a:rPr lang="zh-CN" altLang="en-US" dirty="0"/>
              <a:t> 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-element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[+</a:t>
            </a:r>
            <a:r>
              <a:rPr lang="en-US" altLang="zh-CN" dirty="0" err="1"/>
              <a:t>wh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either</a:t>
            </a:r>
            <a:r>
              <a:rPr lang="zh-CN" altLang="en-US" dirty="0"/>
              <a:t> </a:t>
            </a:r>
            <a:r>
              <a:rPr lang="en-US" altLang="zh-CN" dirty="0"/>
              <a:t>conjunct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ruled out:</a:t>
            </a:r>
            <a:r>
              <a:rPr lang="zh-CN" altLang="en-US" dirty="0"/>
              <a:t> 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sz="2400" dirty="0"/>
              <a:t>[-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+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[+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-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-element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[+</a:t>
            </a:r>
            <a:r>
              <a:rPr lang="en-US" altLang="zh-CN" dirty="0" err="1"/>
              <a:t>wh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OK:</a:t>
            </a:r>
            <a:r>
              <a:rPr lang="zh-CN" altLang="en-US" dirty="0"/>
              <a:t> </a:t>
            </a:r>
            <a:r>
              <a:rPr lang="en-US" altLang="zh-CN" dirty="0"/>
              <a:t>[-</a:t>
            </a:r>
            <a:r>
              <a:rPr lang="en-US" altLang="zh-CN" dirty="0" err="1"/>
              <a:t>wh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en-US" altLang="zh-CN" dirty="0" err="1"/>
              <a:t>wh</a:t>
            </a:r>
            <a:r>
              <a:rPr lang="en-US" altLang="zh-CN" dirty="0"/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Zhang 2010: 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covert</a:t>
            </a:r>
            <a:r>
              <a:rPr lang="zh-CN" altLang="en-US" dirty="0"/>
              <a:t> </a:t>
            </a:r>
            <a:r>
              <a:rPr lang="en-US" altLang="zh-CN" dirty="0"/>
              <a:t>movement: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first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bad (Category</a:t>
            </a:r>
            <a:r>
              <a:rPr lang="zh-CN" altLang="en-US" sz="2400" dirty="0"/>
              <a:t> </a:t>
            </a:r>
            <a:r>
              <a:rPr lang="en-US" altLang="zh-CN" sz="2400" dirty="0"/>
              <a:t>Transfer)</a:t>
            </a:r>
            <a:br>
              <a:rPr lang="en-US" altLang="zh-CN" sz="2400" dirty="0"/>
            </a:b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second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movement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unselective binding):</a:t>
            </a:r>
            <a:r>
              <a:rPr lang="zh-CN" altLang="en-US" dirty="0"/>
              <a:t> 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both</a:t>
            </a:r>
            <a:r>
              <a:rPr lang="zh-CN" altLang="en-US" sz="2400" dirty="0"/>
              <a:t> </a:t>
            </a:r>
            <a:r>
              <a:rPr lang="en-US" altLang="zh-CN" sz="2400" dirty="0"/>
              <a:t>conjuncts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42FC0-B455-CC6F-FAC2-22DFFDB8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03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3D6E-F7CE-AC94-777B-7D77E5EF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63FD-39E3-2463-7E21-C8CC8B3F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predictions (repeated)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3EC4F-884D-E52B-FE83-AED9103C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5878" cy="47783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Parallelism Requirement:</a:t>
            </a:r>
            <a:r>
              <a:rPr lang="zh-CN" altLang="en-US" dirty="0"/>
              <a:t> 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-element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[+</a:t>
            </a:r>
            <a:r>
              <a:rPr lang="en-US" altLang="zh-CN" dirty="0" err="1"/>
              <a:t>wh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either</a:t>
            </a:r>
            <a:r>
              <a:rPr lang="zh-CN" altLang="en-US" dirty="0"/>
              <a:t> </a:t>
            </a:r>
            <a:r>
              <a:rPr lang="en-US" altLang="zh-CN" dirty="0"/>
              <a:t>conjunct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ruled out:</a:t>
            </a:r>
            <a:r>
              <a:rPr lang="zh-CN" altLang="en-US" dirty="0"/>
              <a:t> 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(not supported)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/>
              <a:t>[-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+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[+</a:t>
            </a:r>
            <a:r>
              <a:rPr lang="en-US" altLang="zh-CN" sz="2400" dirty="0" err="1"/>
              <a:t>wh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-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-element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[+</a:t>
            </a:r>
            <a:r>
              <a:rPr lang="en-US" altLang="zh-CN" dirty="0" err="1"/>
              <a:t>wh</a:t>
            </a:r>
            <a:r>
              <a:rPr lang="en-US" altLang="zh-CN" dirty="0"/>
              <a:t>],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OK:</a:t>
            </a:r>
            <a:r>
              <a:rPr lang="zh-CN" altLang="en-US" dirty="0"/>
              <a:t> </a:t>
            </a:r>
            <a:r>
              <a:rPr lang="en-US" altLang="zh-CN" dirty="0"/>
              <a:t>[-</a:t>
            </a:r>
            <a:r>
              <a:rPr lang="en-US" altLang="zh-CN" dirty="0" err="1"/>
              <a:t>wh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en-US" altLang="zh-CN" dirty="0" err="1"/>
              <a:t>wh</a:t>
            </a:r>
            <a:r>
              <a:rPr lang="en-US" altLang="zh-CN" dirty="0"/>
              <a:t>]	</a:t>
            </a:r>
            <a:r>
              <a:rPr lang="en-US" altLang="zh-CN" dirty="0">
                <a:solidFill>
                  <a:srgbClr val="FF0000"/>
                </a:solidFill>
              </a:rPr>
              <a:t>(not supported)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Zhang 2010: 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covert</a:t>
            </a:r>
            <a:r>
              <a:rPr lang="zh-CN" altLang="en-US" dirty="0"/>
              <a:t> </a:t>
            </a:r>
            <a:r>
              <a:rPr lang="en-US" altLang="zh-CN" dirty="0"/>
              <a:t>movement: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first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bad (Category</a:t>
            </a:r>
            <a:r>
              <a:rPr lang="zh-CN" altLang="en-US" sz="2400" dirty="0"/>
              <a:t> </a:t>
            </a:r>
            <a:r>
              <a:rPr lang="en-US" altLang="zh-CN" sz="2400" dirty="0"/>
              <a:t>Transfer)	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(supported)</a:t>
            </a:r>
            <a:b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second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r>
              <a:rPr lang="en-US" altLang="zh-CN" sz="2400" dirty="0"/>
              <a:t>			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(supported)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movement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unselective binding):</a:t>
            </a:r>
            <a:r>
              <a:rPr lang="zh-CN" altLang="en-US" dirty="0"/>
              <a:t> 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both</a:t>
            </a:r>
            <a:r>
              <a:rPr lang="zh-CN" altLang="en-US" sz="2400" dirty="0"/>
              <a:t> </a:t>
            </a:r>
            <a:r>
              <a:rPr lang="en-US" altLang="zh-CN" sz="2400" dirty="0"/>
              <a:t>conjuncts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</a:t>
            </a:r>
            <a:r>
              <a:rPr lang="zh-CN" altLang="en-US" sz="2400" dirty="0"/>
              <a:t> </a:t>
            </a:r>
            <a:r>
              <a:rPr lang="en-US" altLang="zh-CN" sz="2400" dirty="0"/>
              <a:t>			</a:t>
            </a:r>
            <a:r>
              <a:rPr lang="en-US" altLang="zh-CN" sz="2400" dirty="0">
                <a:solidFill>
                  <a:srgbClr val="FF0000"/>
                </a:solidFill>
              </a:rPr>
              <a:t>(not supported)</a:t>
            </a:r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07F2A-F60E-C9DB-6C78-94D895EA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60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F5E0-325E-A0A5-05E0-2DC6AC4B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22DB-0C5F-B8E0-33BE-9842919C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predictions</a:t>
            </a:r>
            <a:r>
              <a:rPr lang="zh-CN" altLang="en-US" sz="3600" dirty="0"/>
              <a:t> </a:t>
            </a:r>
            <a:r>
              <a:rPr lang="en-US" altLang="zh-CN" sz="3600" dirty="0"/>
              <a:t>(repeated)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286B-C2D0-F936-337E-D9C507451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Zhang 2010: 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 err="1"/>
              <a:t>wh</a:t>
            </a:r>
            <a:r>
              <a:rPr lang="en-US" altLang="zh-CN" dirty="0"/>
              <a:t>-in-situ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covert</a:t>
            </a:r>
            <a:r>
              <a:rPr lang="zh-CN" altLang="en-US" dirty="0"/>
              <a:t> </a:t>
            </a:r>
            <a:r>
              <a:rPr lang="en-US" altLang="zh-CN" dirty="0"/>
              <a:t>movement: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first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bad 		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(supported)</a:t>
            </a:r>
            <a:br>
              <a:rPr lang="en-US" altLang="zh-CN" sz="2400" dirty="0"/>
            </a:b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second</a:t>
            </a:r>
            <a:r>
              <a:rPr lang="zh-CN" altLang="en-US" sz="2400" dirty="0"/>
              <a:t> </a:t>
            </a:r>
            <a:r>
              <a:rPr lang="en-US" altLang="zh-CN" sz="2400" dirty="0"/>
              <a:t>conjunct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OK	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(supported)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But</a:t>
            </a:r>
            <a:r>
              <a:rPr lang="zh-CN" altLang="en-US" sz="2400" dirty="0"/>
              <a:t> </a:t>
            </a:r>
            <a:r>
              <a:rPr lang="en-US" altLang="zh-CN" sz="2400" dirty="0"/>
              <a:t>I</a:t>
            </a:r>
            <a:r>
              <a:rPr lang="zh-CN" altLang="en-US" sz="2400" dirty="0"/>
              <a:t> </a:t>
            </a:r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spent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first</a:t>
            </a:r>
            <a:r>
              <a:rPr lang="zh-CN" altLang="en-US" sz="2400" dirty="0"/>
              <a:t> </a:t>
            </a:r>
            <a:r>
              <a:rPr lang="en-US" altLang="zh-CN" sz="2400" dirty="0"/>
              <a:t>part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talk</a:t>
            </a:r>
            <a:r>
              <a:rPr lang="zh-CN" altLang="en-US" sz="2400" dirty="0"/>
              <a:t> </a:t>
            </a:r>
            <a:r>
              <a:rPr lang="en-US" altLang="zh-CN" sz="2400" dirty="0"/>
              <a:t>arguing</a:t>
            </a:r>
            <a:r>
              <a:rPr lang="zh-CN" altLang="en-US" sz="2400" dirty="0"/>
              <a:t> </a:t>
            </a:r>
            <a:r>
              <a:rPr lang="en-US" altLang="zh-CN" sz="2400" dirty="0"/>
              <a:t>against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category</a:t>
            </a:r>
            <a:r>
              <a:rPr lang="zh-CN" altLang="en-US" sz="2400" dirty="0"/>
              <a:t> </a:t>
            </a:r>
            <a:r>
              <a:rPr lang="en-US" altLang="zh-CN" sz="2400" dirty="0"/>
              <a:t>transfer</a:t>
            </a:r>
            <a:r>
              <a:rPr lang="zh-CN" altLang="en-US" sz="2400" dirty="0"/>
              <a:t> </a:t>
            </a:r>
            <a:r>
              <a:rPr lang="en-US" altLang="zh-CN" sz="2400" dirty="0"/>
              <a:t>approach.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And I</a:t>
            </a:r>
            <a:r>
              <a:rPr lang="zh-CN" altLang="en-US" sz="2400" dirty="0"/>
              <a:t> </a:t>
            </a:r>
            <a:r>
              <a:rPr lang="en-US" altLang="zh-CN" sz="2400" dirty="0"/>
              <a:t>argued</a:t>
            </a:r>
            <a:r>
              <a:rPr lang="zh-CN" altLang="en-US" sz="2400" dirty="0"/>
              <a:t> </a:t>
            </a:r>
            <a:r>
              <a:rPr lang="en-US" altLang="zh-CN" sz="2400" dirty="0"/>
              <a:t>against</a:t>
            </a:r>
            <a:r>
              <a:rPr lang="zh-CN" altLang="en-US" sz="2400" dirty="0"/>
              <a:t> </a:t>
            </a:r>
            <a:r>
              <a:rPr lang="en-US" altLang="zh-CN" sz="2400" dirty="0"/>
              <a:t>covert</a:t>
            </a:r>
            <a:r>
              <a:rPr lang="zh-CN" altLang="en-US" sz="2400" dirty="0"/>
              <a:t> </a:t>
            </a:r>
            <a:r>
              <a:rPr lang="en-US" altLang="zh-CN" sz="2400" dirty="0"/>
              <a:t>movement</a:t>
            </a:r>
            <a:r>
              <a:rPr lang="zh-CN" altLang="en-US" sz="2400" dirty="0"/>
              <a:t> </a:t>
            </a:r>
            <a:r>
              <a:rPr lang="en-US" altLang="zh-CN" sz="2400" dirty="0"/>
              <a:t>approach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based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absence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(other)</a:t>
            </a:r>
            <a:r>
              <a:rPr lang="zh-CN" altLang="en-US" sz="2400" dirty="0"/>
              <a:t> </a:t>
            </a:r>
            <a:r>
              <a:rPr lang="en-US" altLang="zh-CN" sz="2400" dirty="0"/>
              <a:t>island</a:t>
            </a:r>
            <a:r>
              <a:rPr lang="zh-CN" altLang="en-US" sz="2400" dirty="0"/>
              <a:t> </a:t>
            </a:r>
            <a:r>
              <a:rPr lang="en-US" altLang="zh-CN" sz="2400" dirty="0"/>
              <a:t>effects</a:t>
            </a:r>
            <a:r>
              <a:rPr lang="zh-CN" altLang="en-US" sz="2400" dirty="0"/>
              <a:t> </a:t>
            </a:r>
            <a:r>
              <a:rPr lang="en-US" altLang="zh-CN" sz="2400" dirty="0"/>
              <a:t>(Shen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Huang</a:t>
            </a:r>
            <a:r>
              <a:rPr lang="zh-CN" altLang="en-US" sz="2400" dirty="0"/>
              <a:t> </a:t>
            </a:r>
            <a:r>
              <a:rPr lang="en-US" altLang="zh-CN" sz="2400" dirty="0"/>
              <a:t>2026, Shen and Chan 2025)…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421EB-9A82-A2A3-F321-A0E6EBEA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3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245F-031B-E2DB-ABC8-AD9B6171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DE50-E668-DC5A-861A-091EF065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very</a:t>
            </a:r>
            <a:r>
              <a:rPr lang="zh-CN" altLang="en-US" sz="3600" dirty="0"/>
              <a:t> </a:t>
            </a:r>
            <a:r>
              <a:rPr lang="en-US" altLang="zh-CN" sz="3600" dirty="0"/>
              <a:t>tentative</a:t>
            </a:r>
            <a:r>
              <a:rPr lang="zh-CN" altLang="en-US" sz="3600" dirty="0"/>
              <a:t> </a:t>
            </a:r>
            <a:r>
              <a:rPr lang="en-US" altLang="zh-CN" sz="3600" dirty="0"/>
              <a:t>suggestion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F897-BB6F-79FB-D7D8-9AF4B2FD3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there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way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account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results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theory</a:t>
            </a:r>
            <a:r>
              <a:rPr lang="zh-CN" altLang="en-US" sz="2400" dirty="0"/>
              <a:t> </a:t>
            </a:r>
            <a:r>
              <a:rPr lang="en-US" altLang="zh-CN" sz="2400" dirty="0"/>
              <a:t>where</a:t>
            </a:r>
            <a:r>
              <a:rPr lang="zh-CN" altLang="en-US" sz="2400" dirty="0"/>
              <a:t>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-in-situ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unselective</a:t>
            </a:r>
            <a:r>
              <a:rPr lang="zh-CN" altLang="en-US" sz="2400" dirty="0"/>
              <a:t> </a:t>
            </a:r>
            <a:r>
              <a:rPr lang="en-US" altLang="zh-CN" sz="2400" dirty="0"/>
              <a:t>binding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CSC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due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Parallelism</a:t>
            </a:r>
            <a:r>
              <a:rPr lang="zh-CN" altLang="en-US" sz="2400" dirty="0"/>
              <a:t> </a:t>
            </a:r>
            <a:r>
              <a:rPr lang="en-US" altLang="zh-CN" sz="2400" dirty="0"/>
              <a:t>Requirement? </a:t>
            </a:r>
            <a:r>
              <a:rPr lang="en-US" altLang="zh-C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Maybe.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CSC effects on wh-movement of both conjuncts are predicted by the Parallelism Requirement.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Absence of CSC effects on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-in-situ of the second conjunct is predicted if one assumes that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-elements in Singlish is not [+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] (given the indefinite use).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Puzzle</a:t>
            </a:r>
            <a:r>
              <a:rPr lang="en-US" altLang="zh-CN" sz="2400" dirty="0"/>
              <a:t>: CSC effects on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-in-situ of the first conjunct.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8EE7F-F86F-8954-0C77-CEB8B7AE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1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7AB6-7A1D-6329-442E-2A118A27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CB31-D1E0-8D46-9561-74404544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What</a:t>
            </a:r>
            <a:r>
              <a:rPr lang="zh-CN" altLang="en-US" sz="3600" dirty="0"/>
              <a:t> </a:t>
            </a:r>
            <a:r>
              <a:rPr lang="en-US" altLang="zh-CN" sz="3600" dirty="0"/>
              <a:t>about</a:t>
            </a:r>
            <a:r>
              <a:rPr lang="zh-CN" altLang="en-US" sz="3600" dirty="0"/>
              <a:t> </a:t>
            </a:r>
            <a:r>
              <a:rPr lang="en-US" altLang="zh-CN" sz="3600" dirty="0" err="1"/>
              <a:t>wh</a:t>
            </a:r>
            <a:r>
              <a:rPr lang="en-US" altLang="zh-CN" sz="3600" dirty="0"/>
              <a:t>-in-situ: very</a:t>
            </a:r>
            <a:r>
              <a:rPr lang="zh-CN" altLang="en-US" sz="3600" dirty="0"/>
              <a:t> </a:t>
            </a:r>
            <a:r>
              <a:rPr lang="en-US" altLang="zh-CN" sz="3600" dirty="0"/>
              <a:t>tentative</a:t>
            </a:r>
            <a:r>
              <a:rPr lang="zh-CN" altLang="en-US" sz="3600" dirty="0"/>
              <a:t> </a:t>
            </a:r>
            <a:r>
              <a:rPr lang="en-US" altLang="zh-CN" sz="3600" dirty="0"/>
              <a:t>suggestion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2E9E-AED2-67AC-AEFD-EAA7F62E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83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Puzzle</a:t>
            </a:r>
            <a:r>
              <a:rPr lang="en-US" altLang="zh-CN" sz="2400" dirty="0"/>
              <a:t>: CSC effects on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-in-situ of the first conjunct. 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Could this effect reflect a restriction on unselective binding in general? 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*</a:t>
            </a:r>
            <a:r>
              <a:rPr lang="en-US" altLang="zh-CN" dirty="0" err="1"/>
              <a:t>OP</a:t>
            </a:r>
            <a:r>
              <a:rPr lang="en-US" altLang="zh-CN" baseline="-25000" dirty="0" err="1"/>
              <a:t>i</a:t>
            </a:r>
            <a:r>
              <a:rPr lang="en-US" altLang="zh-CN" dirty="0"/>
              <a:t> … [C1</a:t>
            </a:r>
            <a:r>
              <a:rPr lang="en-US" altLang="zh-CN" baseline="-25000" dirty="0"/>
              <a:t>i</a:t>
            </a:r>
            <a:r>
              <a:rPr lang="en-US" altLang="zh-CN" dirty="0"/>
              <a:t> and C2]		</a:t>
            </a:r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OP</a:t>
            </a:r>
            <a:r>
              <a:rPr lang="en-US" altLang="zh-CN" baseline="-25000" dirty="0" err="1"/>
              <a:t>i</a:t>
            </a:r>
            <a:r>
              <a:rPr lang="en-US" altLang="zh-CN" dirty="0"/>
              <a:t> … [C1 and C2</a:t>
            </a:r>
            <a:r>
              <a:rPr lang="en-US" altLang="zh-CN" baseline="-25000" dirty="0"/>
              <a:t>i</a:t>
            </a:r>
            <a:r>
              <a:rPr lang="en-US" altLang="zh-CN" dirty="0"/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It’s unclear why this would</a:t>
            </a:r>
            <a:r>
              <a:rPr lang="zh-CN" altLang="en-US" sz="2400" dirty="0"/>
              <a:t> </a:t>
            </a:r>
            <a:r>
              <a:rPr lang="en-US" altLang="zh-CN" sz="2400" dirty="0"/>
              <a:t>be the case. </a:t>
            </a:r>
          </a:p>
          <a:p>
            <a:pPr>
              <a:lnSpc>
                <a:spcPct val="120000"/>
              </a:lnSpc>
            </a:pPr>
            <a:r>
              <a:rPr lang="en-US" altLang="zh-CN" sz="2400" dirty="0"/>
              <a:t>It</a:t>
            </a:r>
            <a:r>
              <a:rPr lang="zh-CN" altLang="en-US" sz="2400" dirty="0"/>
              <a:t> </a:t>
            </a:r>
            <a:r>
              <a:rPr lang="en-US" altLang="zh-CN" sz="2400" dirty="0"/>
              <a:t>would</a:t>
            </a:r>
            <a:r>
              <a:rPr lang="zh-CN" altLang="en-US" sz="2400" dirty="0"/>
              <a:t> </a:t>
            </a:r>
            <a:r>
              <a:rPr lang="en-US" altLang="zh-CN" sz="2400" dirty="0"/>
              <a:t>predict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 err="1"/>
              <a:t>wh</a:t>
            </a:r>
            <a:r>
              <a:rPr lang="en-US" altLang="zh-CN" sz="2400" dirty="0"/>
              <a:t>-indefinite</a:t>
            </a:r>
            <a:r>
              <a:rPr lang="zh-CN" altLang="en-US" sz="2400" dirty="0"/>
              <a:t> </a:t>
            </a:r>
            <a:r>
              <a:rPr lang="en-US" altLang="zh-CN" sz="2400" dirty="0"/>
              <a:t>shows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same</a:t>
            </a:r>
            <a:r>
              <a:rPr lang="zh-CN" altLang="en-US" sz="2400" dirty="0"/>
              <a:t> </a:t>
            </a:r>
            <a:r>
              <a:rPr lang="en-US" altLang="zh-CN" sz="2400" dirty="0"/>
              <a:t>pattern: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arenR" startAt="22"/>
            </a:pPr>
            <a:r>
              <a:rPr lang="ja-JP" altLang="en-US"/>
              <a:t>我還以為你買了一部小說和哪本傳記呢。</a:t>
            </a:r>
            <a:br>
              <a:rPr lang="en-US" altLang="ja-JP" dirty="0"/>
            </a:br>
            <a:r>
              <a:rPr lang="en-US" altLang="ja-JP" dirty="0"/>
              <a:t>I thought you bought a novel and which biography. </a:t>
            </a:r>
            <a:endParaRPr lang="en-US" altLang="zh-CN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arenR" startAt="22"/>
            </a:pPr>
            <a:r>
              <a:rPr lang="ja-JP" altLang="en-US"/>
              <a:t>我還以為你買了哪本傳記和一部小說呢。</a:t>
            </a:r>
            <a:br>
              <a:rPr lang="en-US" altLang="ja-JP" dirty="0"/>
            </a:br>
            <a:r>
              <a:rPr lang="en-US" altLang="ja-JP" dirty="0"/>
              <a:t>I thought you bought which biography and a novel. </a:t>
            </a:r>
            <a:br>
              <a:rPr lang="en-US" altLang="ja-JP" dirty="0"/>
            </a:br>
            <a:r>
              <a:rPr lang="en-US" altLang="ja-JP" dirty="0"/>
              <a:t>Intended: I thought you bought some biography and a novel.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06462-FCB5-88CD-616B-8032309B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2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66CB-983E-1C56-76E1-C4B1EB14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Summary (again)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BFA8-1C2D-965B-CF97-D35546F51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Experiments in Singlish show </a:t>
            </a:r>
            <a:r>
              <a:rPr lang="en-US" dirty="0" err="1"/>
              <a:t>wh</a:t>
            </a:r>
            <a:r>
              <a:rPr lang="en-US" dirty="0"/>
              <a:t>-in-situ of the first conjunct is bad while </a:t>
            </a:r>
            <a:r>
              <a:rPr lang="en-US" dirty="0" err="1"/>
              <a:t>wh</a:t>
            </a:r>
            <a:r>
              <a:rPr lang="en-US" dirty="0"/>
              <a:t>-in-situ of the second conjunct is OK. </a:t>
            </a:r>
          </a:p>
          <a:p>
            <a:r>
              <a:rPr lang="en-US" dirty="0"/>
              <a:t>This is not expected from the Parallelism Requirement analysis</a:t>
            </a:r>
          </a:p>
          <a:p>
            <a:r>
              <a:rPr lang="en-US" dirty="0"/>
              <a:t>The unacceptability of </a:t>
            </a:r>
            <a:r>
              <a:rPr lang="en-US" dirty="0" err="1"/>
              <a:t>wh</a:t>
            </a:r>
            <a:r>
              <a:rPr lang="en-US" dirty="0"/>
              <a:t>-in-situ of C1 could result from a general pattern with predictions for </a:t>
            </a:r>
            <a:r>
              <a:rPr lang="en-US" dirty="0" err="1"/>
              <a:t>wh</a:t>
            </a:r>
            <a:r>
              <a:rPr lang="en-US" dirty="0"/>
              <a:t>-indefinite.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465C-A374-EBD9-EA55-FC5A3CE0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60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4AB4-49A6-7DFD-AA37-DC10FED3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Selected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711DD-E4E1-D074-A700-0A074842F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509158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Arano, Akihiko. 2025. Expanding the Scope of Scrambling. UConn dissertation.</a:t>
            </a:r>
          </a:p>
          <a:p>
            <a:pPr>
              <a:lnSpc>
                <a:spcPct val="120000"/>
              </a:lnSpc>
            </a:pPr>
            <a:r>
              <a:rPr lang="en-US" dirty="0"/>
              <a:t>Arano, Akihiko, &amp; </a:t>
            </a:r>
            <a:r>
              <a:rPr lang="en-US" dirty="0" err="1"/>
              <a:t>Hiromune</a:t>
            </a:r>
            <a:r>
              <a:rPr lang="en-US" dirty="0"/>
              <a:t> Oda. 2019. The A-/A′-distinction in scrambling revisited. WCCFL 36.</a:t>
            </a:r>
          </a:p>
          <a:p>
            <a:pPr>
              <a:lnSpc>
                <a:spcPct val="120000"/>
              </a:lnSpc>
            </a:pPr>
            <a:r>
              <a:rPr lang="en-US" dirty="0"/>
              <a:t>Bošković, </a:t>
            </a:r>
            <a:r>
              <a:rPr lang="en-US" dirty="0" err="1"/>
              <a:t>Željko</a:t>
            </a:r>
            <a:r>
              <a:rPr lang="en-US" dirty="0"/>
              <a:t>. 2009. Unifying first and last conjunct agreement. Natural Language &amp; Linguistic Theory 27 (3): 455–496.</a:t>
            </a:r>
          </a:p>
          <a:p>
            <a:pPr>
              <a:lnSpc>
                <a:spcPct val="120000"/>
              </a:lnSpc>
            </a:pPr>
            <a:r>
              <a:rPr lang="en-US" dirty="0"/>
              <a:t>Fortuny, Jordi. 2024. Deducing the </a:t>
            </a:r>
            <a:r>
              <a:rPr lang="en-US" dirty="0" err="1"/>
              <a:t>coordinand</a:t>
            </a:r>
            <a:r>
              <a:rPr lang="en-US" dirty="0"/>
              <a:t> constraint. Linguistic Inquiry 55 (2): 219–253.</a:t>
            </a:r>
          </a:p>
          <a:p>
            <a:pPr>
              <a:lnSpc>
                <a:spcPct val="120000"/>
              </a:lnSpc>
            </a:pPr>
            <a:r>
              <a:rPr lang="en-US" dirty="0"/>
              <a:t>Grosu, Alexander. 1973. On the nonunitary nature of the Coordinate Structure Constraint. Linguistic Inquiry 4 (1): 88–92.</a:t>
            </a:r>
          </a:p>
          <a:p>
            <a:pPr>
              <a:lnSpc>
                <a:spcPct val="120000"/>
              </a:lnSpc>
            </a:pPr>
            <a:r>
              <a:rPr lang="en-US" dirty="0"/>
              <a:t>Oda, </a:t>
            </a:r>
            <a:r>
              <a:rPr lang="en-US" dirty="0" err="1"/>
              <a:t>Hiromune</a:t>
            </a:r>
            <a:r>
              <a:rPr lang="en-US" dirty="0"/>
              <a:t>. 2021. Decomposing and deducing the coordinate structure constraint. The Linguistic Review. </a:t>
            </a:r>
          </a:p>
          <a:p>
            <a:pPr>
              <a:lnSpc>
                <a:spcPct val="120000"/>
              </a:lnSpc>
            </a:pPr>
            <a:r>
              <a:rPr lang="en-US" dirty="0"/>
              <a:t>Shen, Zheng. 2023. Conjunction agreement and the coordinate structure constraint. Glossa: A journal of general linguistics 46 (1).</a:t>
            </a:r>
          </a:p>
          <a:p>
            <a:pPr>
              <a:lnSpc>
                <a:spcPct val="120000"/>
              </a:lnSpc>
            </a:pPr>
            <a:r>
              <a:rPr lang="en-US" dirty="0"/>
              <a:t>Zhang, Niina Ning. 2008. Relativized parallelism in mandarin </a:t>
            </a:r>
            <a:r>
              <a:rPr lang="en-US" dirty="0" err="1"/>
              <a:t>chinese</a:t>
            </a:r>
            <a:r>
              <a:rPr lang="en-US" dirty="0"/>
              <a:t> natural coordination. Language Research 44 (1): 121–163.</a:t>
            </a:r>
          </a:p>
          <a:p>
            <a:pPr>
              <a:lnSpc>
                <a:spcPct val="120000"/>
              </a:lnSpc>
            </a:pPr>
            <a:r>
              <a:rPr lang="en-US" dirty="0"/>
              <a:t>Zhang, Niina Ning. 2010. Explaining the immobility of conjuncts. Studia </a:t>
            </a:r>
            <a:r>
              <a:rPr lang="en-US" dirty="0" err="1"/>
              <a:t>Linguistica</a:t>
            </a:r>
            <a:r>
              <a:rPr lang="en-US" dirty="0"/>
              <a:t> 64 (2): 190–238.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329B4-EAC4-6D01-B346-0574F06D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895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6A101-1D63-2C8B-90CD-2C837927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9449-C95B-0A5E-70CD-7F037D13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234F-1B2D-26F5-D1B8-E9A215FE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12260</TotalTime>
  <Words>4491</Words>
  <Application>Microsoft Macintosh PowerPoint</Application>
  <PresentationFormat>Widescreen</PresentationFormat>
  <Paragraphs>367</Paragraphs>
  <Slides>49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Aptos</vt:lpstr>
      <vt:lpstr>Aptos Display</vt:lpstr>
      <vt:lpstr>Arial</vt:lpstr>
      <vt:lpstr>Office Theme</vt:lpstr>
      <vt:lpstr>Evaluating analyses of the Conjunct Constraint  with its violations</vt:lpstr>
      <vt:lpstr>Coordinate Structure Constraint and Conjunct Constraint</vt:lpstr>
      <vt:lpstr>The Category Transfer analysis (Zhang  2010)</vt:lpstr>
      <vt:lpstr>The Category Transfer analysis (Zhang  2010)</vt:lpstr>
      <vt:lpstr>The Category Transfer analysis (Zhang  2010)</vt:lpstr>
      <vt:lpstr>The Parallelism Requirement</vt:lpstr>
      <vt:lpstr>The Parallelism Requirement</vt:lpstr>
      <vt:lpstr>Predictions</vt:lpstr>
      <vt:lpstr>CC-violating movement in BCMS</vt:lpstr>
      <vt:lpstr>CC-violating movement in BCMS</vt:lpstr>
      <vt:lpstr>Implications for the Category Transfer analysis</vt:lpstr>
      <vt:lpstr>Implications for the Category Transfer analysis</vt:lpstr>
      <vt:lpstr>Implications for the Parallelism Requirement analysis</vt:lpstr>
      <vt:lpstr>Further evidence for the wh/scrambling contrast</vt:lpstr>
      <vt:lpstr>Back to CC-violating movement in Mandarin</vt:lpstr>
      <vt:lpstr>Back to CC-violating movement in Mandarin</vt:lpstr>
      <vt:lpstr>Back to CC-violating movement in Mandarin</vt:lpstr>
      <vt:lpstr>Interim Summary</vt:lpstr>
      <vt:lpstr>A problem for Fortuny’s Parallelism Requirement</vt:lpstr>
      <vt:lpstr>A modified Parallelism Requirement</vt:lpstr>
      <vt:lpstr>Evidence</vt:lpstr>
      <vt:lpstr>Evidence</vt:lpstr>
      <vt:lpstr>Challenges from cross-linguistic data?</vt:lpstr>
      <vt:lpstr>Challenges from cross-linguistic data?</vt:lpstr>
      <vt:lpstr>Arano and Oda 2019: Japanese</vt:lpstr>
      <vt:lpstr>Arano and Oda 2019: Japanese</vt:lpstr>
      <vt:lpstr>Summary</vt:lpstr>
      <vt:lpstr>What about wh-in-situ?</vt:lpstr>
      <vt:lpstr>What about wh-in-situ: predictions</vt:lpstr>
      <vt:lpstr>What about wh-in-situ: intuitions</vt:lpstr>
      <vt:lpstr>What about wh-in-situ: intuitions</vt:lpstr>
      <vt:lpstr>What about wh-in-situ: experiments in Singlish</vt:lpstr>
      <vt:lpstr>Experiment 1: movement and in-situ of the first conjunct</vt:lpstr>
      <vt:lpstr>Experiment 1: movement and in-situ of the first conjunct</vt:lpstr>
      <vt:lpstr>Experiment 1: movement and in-situ of the first conjunct</vt:lpstr>
      <vt:lpstr>Experiment 1: movement and in-situ of the first conjunct</vt:lpstr>
      <vt:lpstr>Experiment 2: movement and in-situ of the second conjunct</vt:lpstr>
      <vt:lpstr>Experiment 2: movement and in-situ of the second conjunct</vt:lpstr>
      <vt:lpstr>Experiment 2: movement and in-situ of the second conjunct</vt:lpstr>
      <vt:lpstr>Experiment 2: movement and in-situ of the second conjunct</vt:lpstr>
      <vt:lpstr>What about wh-in-situ: experiments</vt:lpstr>
      <vt:lpstr>What about wh-in-situ: predictions (repeated)</vt:lpstr>
      <vt:lpstr>What about wh-in-situ: predictions (repeated)</vt:lpstr>
      <vt:lpstr>What about wh-in-situ: predictions (repeated)</vt:lpstr>
      <vt:lpstr>What about wh-in-situ: very tentative suggestion</vt:lpstr>
      <vt:lpstr>What about wh-in-situ: very tentative suggestion</vt:lpstr>
      <vt:lpstr>Summary (again)</vt:lpstr>
      <vt:lpstr>Selected 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Shen</dc:creator>
  <cp:lastModifiedBy>Zheng Shen</cp:lastModifiedBy>
  <cp:revision>323</cp:revision>
  <dcterms:created xsi:type="dcterms:W3CDTF">2026-05-28T07:26:55Z</dcterms:created>
  <dcterms:modified xsi:type="dcterms:W3CDTF">2026-07-15T15:03:29Z</dcterms:modified>
</cp:coreProperties>
</file>